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79"/>
    <p:restoredTop sz="94688"/>
  </p:normalViewPr>
  <p:slideViewPr>
    <p:cSldViewPr snapToGrid="0">
      <p:cViewPr varScale="1">
        <p:scale>
          <a:sx n="98" d="100"/>
          <a:sy n="98" d="100"/>
        </p:scale>
        <p:origin x="208" y="7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items transmitted</c:v>
                </c:pt>
              </c:strCache>
            </c:strRef>
          </c:tx>
          <c:spPr>
            <a:solidFill>
              <a:srgbClr val="C3BCAC"/>
            </a:solidFill>
            <a:effectLst/>
          </c:spPr>
          <c:invertIfNegative val="0"/>
          <c:dPt>
            <c:idx val="0"/>
            <c:invertIfNegative val="0"/>
            <c:bubble3D val="0"/>
            <c:extLst>
              <c:ext xmlns:c16="http://schemas.microsoft.com/office/drawing/2014/chart" uri="{C3380CC4-5D6E-409C-BE32-E72D297353CC}">
                <c16:uniqueId val="{00000001-BCEB-2F4A-B91B-FFFD09806EA6}"/>
              </c:ext>
            </c:extLst>
          </c:dPt>
          <c:dPt>
            <c:idx val="1"/>
            <c:invertIfNegative val="0"/>
            <c:bubble3D val="0"/>
            <c:spPr>
              <a:solidFill>
                <a:srgbClr val="B08A3E"/>
              </a:solidFill>
              <a:effectLst/>
            </c:spPr>
            <c:extLst>
              <c:ext xmlns:c16="http://schemas.microsoft.com/office/drawing/2014/chart" uri="{C3380CC4-5D6E-409C-BE32-E72D297353CC}">
                <c16:uniqueId val="{00000003-BCEB-2F4A-B91B-FFFD09806EA6}"/>
              </c:ext>
            </c:extLst>
          </c:dPt>
          <c:dLbls>
            <c:numFmt formatCode="#,##0" sourceLinked="0"/>
            <c:spPr>
              <a:noFill/>
              <a:ln>
                <a:noFill/>
              </a:ln>
              <a:effectLst/>
            </c:spPr>
            <c:txPr>
              <a:bodyPr/>
              <a:lstStyle/>
              <a:p>
                <a:pPr>
                  <a:defRPr sz="1600" b="0" i="0" u="none" strike="noStrike">
                    <a:solidFill>
                      <a:srgbClr val="162034"/>
                    </a:solidFill>
                    <a:latin typeface="IBM Plex Mono"/>
                  </a:defRPr>
                </a:pPr>
                <a:endParaRPr lang="en-BD"/>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Register copied today</c:v>
                </c:pt>
                <c:pt idx="1">
                  <c:v>Breadcrumbs proof</c:v>
                </c:pt>
              </c:strCache>
            </c:strRef>
          </c:cat>
          <c:val>
            <c:numRef>
              <c:f>Sheet1!$B$2:$B$3</c:f>
              <c:numCache>
                <c:formatCode>General</c:formatCode>
                <c:ptCount val="2"/>
                <c:pt idx="0">
                  <c:v>1847</c:v>
                </c:pt>
                <c:pt idx="1">
                  <c:v>12</c:v>
                </c:pt>
              </c:numCache>
            </c:numRef>
          </c:val>
          <c:extLst>
            <c:ext xmlns:c16="http://schemas.microsoft.com/office/drawing/2014/chart" uri="{C3380CC4-5D6E-409C-BE32-E72D297353CC}">
              <c16:uniqueId val="{00000004-BCEB-2F4A-B91B-FFFD09806EA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162034"/>
                </a:solidFill>
                <a:latin typeface="Inter"/>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EDEAE0"/>
        </a:solidFill>
        <a:ln>
          <a:noFill/>
        </a:ln>
        <a:effectLst/>
      </c:spPr>
    </c:plotArea>
    <c:plotVisOnly val="1"/>
    <c:dispBlanksAs val="span"/>
    <c:showDLblsOverMax val="1"/>
  </c:chart>
  <c:spPr>
    <a:solidFill>
      <a:srgbClr val="EDEAE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Breadcrumbs is a permissioned ledger that lets a factory prove one line of a payroll record is authentic without handing over the file. It is built for garment factories, their buyers and their auditors. Do not read the title aloud; start with slide two.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Bangladesh's ready-made-garment sector is roughly 84 percent of national exports. When a buyer asks whether one worker was paid legally, the factory currently hands over the entire register, or a PDF nobody can check. Both are bad answers: one over-discloses, the other proves nothing.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Wuest and Gervais test: multiple writers, mutual distrust, and no trusted third party available. All three conditions hold here, which is what justifies a blockchain, and what most proposals in this category cannot honestly claim.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append-only ledger and a right to erasure cannot both hold for the same bytes. So the bytes that must be erasable never touch the ledger. This is also the answer to "why not just a database": the chain holds commitments and decisions, which is exactly what a database cannot make credible between distrusting parties.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recomputes the root from the one disclosed row plus the sibling hashes on its path, then compares it to the root already committed on the ledger. The other 1,846 rows are never transmitted and cannot be recovered from the proof. Each row is salted, so guessing a neighbouring value does not work either.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today the factory hands over 1,847 rows to answer one question. A Breadcrumbs proof is one row plus eleven sibling hashes: twelve items, a few hundred bytes, and nothing else is recoverable from it. The comparison is what a buyer's legal team cares about, because over-disclosure is itself a liability.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left to right. The root is committed before any dispute exists, which is what makes it evidence rather than an assertion. The buyer never receives the file; it receives one row and the sibling hashes, recomputes the root itself, and compares. The access grant is written to the ledger too, so who asked for what is auditable afterwards.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Forgetting does not make an update look bad. On the data a reviewing committee is looking at — the newest task — it looks excellent. That is exactly why committee validation and ordinary MLOps gates miss it: they are all looking forward. Every number on this slide comes from a simulation on invented data, not from any factory.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Forgetting does not make an update look bad. On the data a reviewing committee is looking at, the newest task, it looks excellent. That is exactly why committee validation and ordinary MLOps gates miss it: they are all looking forward. Every number on this slide comes from a simulation on invented data, not from any factory.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A candidate is promoted only if it improves on the new task and has not lost more than an agreed tolerance on every earlier one — each measured against a benchmark whose hash was committed before the round began. The gate is enforced by chaincode, so no single participant, including whoever ran the training, can overrule it. Rejections are recorded as permanently as promotions.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loop in one picture. Note where the ledger sits: not around the learning, but at the end of it, deciding what the learning is allowed to publish. Steps two and three are the privacy and robustness story; steps four and five are the honesty story. Whichever way the decision goes, it is signed by several organisations and committed permanently.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permissioned ledger with X.509 identities, endorsement policies that count organisations rather than signatures, Raft-style ordering, MVCC validation and hash-chained blocks — plus the same three contracts ported to real Hyperledger Fabric. Tamper with any committed block and the chain fails verification; there is a button in the product that checks.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fixed, known benchmark is a target: a participant that wants its model promoted can simply train on it. So the benchmark is contributed by a rotating subset, committed by hash before the round opens, and revealed only after the decision. The limitation, plainly: this does not eliminate the risk. It converts something one member could do quietly into something that requires collusion.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permissioned ledger with X.509 identities, endorsement policies that count organisations rather than signatures, Raft-style ordering, MVCC validation and hash-chained blocks, plus the same three contracts ported to real Hyperledger Fabric. Tamper with any committed block and the chain fails verification; there is a button in the product that checks.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what we do not beat. Notarisation already makes documents tamper-evident. LiFeChain already puts federated lifelong learning on a chain. IBM holds a patent on on-chain threshold checks against a withheld test set, and any team building this would need advice on it. Our claim is narrow: a promotion rule that is backward-looking over pre-committed per-task benchmarks and enforced collectively.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BGMEA signed two blockchain traceability agreements: DigiProd Pass in May 2025 and AWARE in May 2026. That is the strongest evidence in our submission that the demand is real, and it means competing with them would be unwise. Those systems answer where the cotton came from. They say nothing about whether the factory's own wage register is authentic. A passport asserting legal wages is only as good as the record behind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out loud: we removed one of our own mechanisms after measuring that it cost 3.9 points of accuracy. Do not apologise for this slide and do not rush it. Every other team will claim their system works perfectly. The panel will believe whoever shows they looked for the holes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Infrastructure is roughly sixty to a hundred and twenty dollars per peer per month at published list prices, not a measured operating cost. On our own assumptions the audit saving does not fully cover a subscription, and the model depends on buyers accepting cryptographic evidence, which none has yet agreed to 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then stop talking and take questions.
Rehearsed answers:
"Why not just a database?" Slides 3 and 4. Four parties, mutual distrust, no candidate custodian. And we keep almost everything off the chain: it holds commitments and decisions, not data.
"Your chain records a lie perfectly. So what?" Correct, and named on slide 13. What changes is that the lie becomes attributable, timestamped, and impossible to revise quietly afterwards. That is a smaller claim than "we stop fraud", and it is one we can defend.
"Isn't this federated learning with a ledger bolted on?" No. The ledger decides what the learning is allowed to publish. Remove the chain and the Continuity Gate becomes a promise from whoever runs the server, which is exactly the thing it exists to replace.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618125"/>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4"/>
        </a:solidFill>
        <a:effectLst/>
      </p:bgPr>
    </p:bg>
    <p:spTree>
      <p:nvGrpSpPr>
        <p:cNvPr id="1" name=""/>
        <p:cNvGrpSpPr/>
        <p:nvPr/>
      </p:nvGrpSpPr>
      <p:grpSpPr>
        <a:xfrm>
          <a:off x="0" y="0"/>
          <a:ext cx="0" cy="0"/>
          <a:chOff x="0" y="0"/>
          <a:chExt cx="0" cy="0"/>
        </a:xfrm>
      </p:grpSpPr>
      <p:pic>
        <p:nvPicPr>
          <p:cNvPr id="3" name="Image 0" descr="Macro of dark woven textile whose threads dissolve into a fine brass grid of characters"/>
          <p:cNvPicPr>
            <a:picLocks noChangeAspect="1"/>
          </p:cNvPicPr>
          <p:nvPr/>
        </p:nvPicPr>
        <p:blipFill>
          <a:blip r:embed="rId3"/>
          <a:srcRect t="25" b="25"/>
          <a:stretch/>
        </p:blipFill>
        <p:spPr>
          <a:xfrm>
            <a:off x="0" y="0"/>
            <a:ext cx="12191695" cy="6858000"/>
          </a:xfrm>
          <a:prstGeom prst="rect">
            <a:avLst/>
          </a:prstGeom>
        </p:spPr>
      </p:pic>
      <p:sp>
        <p:nvSpPr>
          <p:cNvPr id="4" name="scrim">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1E2A44">
              <a:alpha val="44000"/>
            </a:srgbClr>
          </a:solidFill>
          <a:ln/>
        </p:spPr>
        <p:txBody>
          <a:bodyPr/>
          <a:lstStyle/>
          <a:p>
            <a:endParaRPr lang="en-BD"/>
          </a:p>
        </p:txBody>
      </p:sp>
      <p:sp>
        <p:nvSpPr>
          <p:cNvPr id="5" name="scrim band">
            <a:extLst>
              <a:ext uri="{C183D7F6-B498-43B3-948B-1728B52AA6E4}">
                <adec:decorative xmlns:adec="http://schemas.microsoft.com/office/drawing/2017/decorative" val="1"/>
              </a:ext>
            </a:extLst>
          </p:cNvPr>
          <p:cNvSpPr/>
          <p:nvPr/>
        </p:nvSpPr>
        <p:spPr>
          <a:xfrm>
            <a:off x="6035040" y="0"/>
            <a:ext cx="320040" cy="6858000"/>
          </a:xfrm>
          <a:prstGeom prst="rect">
            <a:avLst/>
          </a:prstGeom>
          <a:solidFill>
            <a:srgbClr val="1E2A44">
              <a:alpha val="78000"/>
            </a:srgbClr>
          </a:solidFill>
          <a:ln/>
        </p:spPr>
        <p:txBody>
          <a:bodyPr/>
          <a:lstStyle/>
          <a:p>
            <a:endParaRPr lang="en-BD"/>
          </a:p>
        </p:txBody>
      </p:sp>
      <p:sp>
        <p:nvSpPr>
          <p:cNvPr id="6" name="scrim band">
            <a:extLst>
              <a:ext uri="{C183D7F6-B498-43B3-948B-1728B52AA6E4}">
                <adec:decorative xmlns:adec="http://schemas.microsoft.com/office/drawing/2017/decorative" val="1"/>
              </a:ext>
            </a:extLst>
          </p:cNvPr>
          <p:cNvSpPr/>
          <p:nvPr/>
        </p:nvSpPr>
        <p:spPr>
          <a:xfrm>
            <a:off x="6345936" y="0"/>
            <a:ext cx="320040" cy="6858000"/>
          </a:xfrm>
          <a:prstGeom prst="rect">
            <a:avLst/>
          </a:prstGeom>
          <a:solidFill>
            <a:srgbClr val="1E2A44">
              <a:alpha val="70500"/>
            </a:srgbClr>
          </a:solidFill>
          <a:ln/>
        </p:spPr>
        <p:txBody>
          <a:bodyPr/>
          <a:lstStyle/>
          <a:p>
            <a:endParaRPr lang="en-BD"/>
          </a:p>
        </p:txBody>
      </p:sp>
      <p:sp>
        <p:nvSpPr>
          <p:cNvPr id="7" name="scrim band">
            <a:extLst>
              <a:ext uri="{C183D7F6-B498-43B3-948B-1728B52AA6E4}">
                <adec:decorative xmlns:adec="http://schemas.microsoft.com/office/drawing/2017/decorative" val="1"/>
              </a:ext>
            </a:extLst>
          </p:cNvPr>
          <p:cNvSpPr/>
          <p:nvPr/>
        </p:nvSpPr>
        <p:spPr>
          <a:xfrm>
            <a:off x="6656832" y="0"/>
            <a:ext cx="320040" cy="6858000"/>
          </a:xfrm>
          <a:prstGeom prst="rect">
            <a:avLst/>
          </a:prstGeom>
          <a:solidFill>
            <a:srgbClr val="1E2A44">
              <a:alpha val="63000"/>
            </a:srgbClr>
          </a:solidFill>
          <a:ln/>
        </p:spPr>
        <p:txBody>
          <a:bodyPr/>
          <a:lstStyle/>
          <a:p>
            <a:endParaRPr lang="en-BD"/>
          </a:p>
        </p:txBody>
      </p:sp>
      <p:sp>
        <p:nvSpPr>
          <p:cNvPr id="8" name="scrim band">
            <a:extLst>
              <a:ext uri="{C183D7F6-B498-43B3-948B-1728B52AA6E4}">
                <adec:decorative xmlns:adec="http://schemas.microsoft.com/office/drawing/2017/decorative" val="1"/>
              </a:ext>
            </a:extLst>
          </p:cNvPr>
          <p:cNvSpPr/>
          <p:nvPr/>
        </p:nvSpPr>
        <p:spPr>
          <a:xfrm>
            <a:off x="6967728" y="0"/>
            <a:ext cx="320040" cy="6858000"/>
          </a:xfrm>
          <a:prstGeom prst="rect">
            <a:avLst/>
          </a:prstGeom>
          <a:solidFill>
            <a:srgbClr val="1E2A44">
              <a:alpha val="55500"/>
            </a:srgbClr>
          </a:solidFill>
          <a:ln/>
        </p:spPr>
        <p:txBody>
          <a:bodyPr/>
          <a:lstStyle/>
          <a:p>
            <a:endParaRPr lang="en-BD"/>
          </a:p>
        </p:txBody>
      </p:sp>
      <p:sp>
        <p:nvSpPr>
          <p:cNvPr id="9" name="scrim band">
            <a:extLst>
              <a:ext uri="{C183D7F6-B498-43B3-948B-1728B52AA6E4}">
                <adec:decorative xmlns:adec="http://schemas.microsoft.com/office/drawing/2017/decorative" val="1"/>
              </a:ext>
            </a:extLst>
          </p:cNvPr>
          <p:cNvSpPr/>
          <p:nvPr/>
        </p:nvSpPr>
        <p:spPr>
          <a:xfrm>
            <a:off x="7278624" y="0"/>
            <a:ext cx="320040" cy="6858000"/>
          </a:xfrm>
          <a:prstGeom prst="rect">
            <a:avLst/>
          </a:prstGeom>
          <a:solidFill>
            <a:srgbClr val="1E2A44">
              <a:alpha val="48000"/>
            </a:srgbClr>
          </a:solidFill>
          <a:ln/>
        </p:spPr>
        <p:txBody>
          <a:bodyPr/>
          <a:lstStyle/>
          <a:p>
            <a:endParaRPr lang="en-BD"/>
          </a:p>
        </p:txBody>
      </p:sp>
      <p:sp>
        <p:nvSpPr>
          <p:cNvPr id="10" name="scrim band">
            <a:extLst>
              <a:ext uri="{C183D7F6-B498-43B3-948B-1728B52AA6E4}">
                <adec:decorative xmlns:adec="http://schemas.microsoft.com/office/drawing/2017/decorative" val="1"/>
              </a:ext>
            </a:extLst>
          </p:cNvPr>
          <p:cNvSpPr/>
          <p:nvPr/>
        </p:nvSpPr>
        <p:spPr>
          <a:xfrm>
            <a:off x="7589520" y="0"/>
            <a:ext cx="320040" cy="6858000"/>
          </a:xfrm>
          <a:prstGeom prst="rect">
            <a:avLst/>
          </a:prstGeom>
          <a:solidFill>
            <a:srgbClr val="1E2A44">
              <a:alpha val="40500"/>
            </a:srgbClr>
          </a:solidFill>
          <a:ln/>
        </p:spPr>
        <p:txBody>
          <a:bodyPr/>
          <a:lstStyle/>
          <a:p>
            <a:endParaRPr lang="en-BD"/>
          </a:p>
        </p:txBody>
      </p:sp>
      <p:sp>
        <p:nvSpPr>
          <p:cNvPr id="11" name="scrim band">
            <a:extLst>
              <a:ext uri="{C183D7F6-B498-43B3-948B-1728B52AA6E4}">
                <adec:decorative xmlns:adec="http://schemas.microsoft.com/office/drawing/2017/decorative" val="1"/>
              </a:ext>
            </a:extLst>
          </p:cNvPr>
          <p:cNvSpPr/>
          <p:nvPr/>
        </p:nvSpPr>
        <p:spPr>
          <a:xfrm>
            <a:off x="7900416" y="0"/>
            <a:ext cx="320040" cy="6858000"/>
          </a:xfrm>
          <a:prstGeom prst="rect">
            <a:avLst/>
          </a:prstGeom>
          <a:solidFill>
            <a:srgbClr val="1E2A44">
              <a:alpha val="33000"/>
            </a:srgbClr>
          </a:solidFill>
          <a:ln/>
        </p:spPr>
        <p:txBody>
          <a:bodyPr/>
          <a:lstStyle/>
          <a:p>
            <a:endParaRPr lang="en-BD"/>
          </a:p>
        </p:txBody>
      </p:sp>
      <p:sp>
        <p:nvSpPr>
          <p:cNvPr id="12" name="scrim band">
            <a:extLst>
              <a:ext uri="{C183D7F6-B498-43B3-948B-1728B52AA6E4}">
                <adec:decorative xmlns:adec="http://schemas.microsoft.com/office/drawing/2017/decorative" val="1"/>
              </a:ext>
            </a:extLst>
          </p:cNvPr>
          <p:cNvSpPr/>
          <p:nvPr/>
        </p:nvSpPr>
        <p:spPr>
          <a:xfrm>
            <a:off x="8211312" y="0"/>
            <a:ext cx="320040" cy="6858000"/>
          </a:xfrm>
          <a:prstGeom prst="rect">
            <a:avLst/>
          </a:prstGeom>
          <a:solidFill>
            <a:srgbClr val="1E2A44">
              <a:alpha val="25500"/>
            </a:srgbClr>
          </a:solidFill>
          <a:ln/>
        </p:spPr>
        <p:txBody>
          <a:bodyPr/>
          <a:lstStyle/>
          <a:p>
            <a:endParaRPr lang="en-BD"/>
          </a:p>
        </p:txBody>
      </p:sp>
      <p:sp>
        <p:nvSpPr>
          <p:cNvPr id="13" name="scrim band">
            <a:extLst>
              <a:ext uri="{C183D7F6-B498-43B3-948B-1728B52AA6E4}">
                <adec:decorative xmlns:adec="http://schemas.microsoft.com/office/drawing/2017/decorative" val="1"/>
              </a:ext>
            </a:extLst>
          </p:cNvPr>
          <p:cNvSpPr/>
          <p:nvPr/>
        </p:nvSpPr>
        <p:spPr>
          <a:xfrm>
            <a:off x="8522208" y="0"/>
            <a:ext cx="320040" cy="6858000"/>
          </a:xfrm>
          <a:prstGeom prst="rect">
            <a:avLst/>
          </a:prstGeom>
          <a:solidFill>
            <a:srgbClr val="1E2A44">
              <a:alpha val="18000"/>
            </a:srgbClr>
          </a:solidFill>
          <a:ln/>
        </p:spPr>
        <p:txBody>
          <a:bodyPr/>
          <a:lstStyle/>
          <a:p>
            <a:endParaRPr lang="en-BD"/>
          </a:p>
        </p:txBody>
      </p:sp>
      <p:sp>
        <p:nvSpPr>
          <p:cNvPr id="14" name="scrim band">
            <a:extLst>
              <a:ext uri="{C183D7F6-B498-43B3-948B-1728B52AA6E4}">
                <adec:decorative xmlns:adec="http://schemas.microsoft.com/office/drawing/2017/decorative" val="1"/>
              </a:ext>
            </a:extLst>
          </p:cNvPr>
          <p:cNvSpPr/>
          <p:nvPr/>
        </p:nvSpPr>
        <p:spPr>
          <a:xfrm>
            <a:off x="8833104" y="0"/>
            <a:ext cx="320040" cy="6858000"/>
          </a:xfrm>
          <a:prstGeom prst="rect">
            <a:avLst/>
          </a:prstGeom>
          <a:solidFill>
            <a:srgbClr val="1E2A44">
              <a:alpha val="10500"/>
            </a:srgbClr>
          </a:solidFill>
          <a:ln/>
        </p:spPr>
        <p:txBody>
          <a:bodyPr/>
          <a:lstStyle/>
          <a:p>
            <a:endParaRPr lang="en-BD"/>
          </a:p>
        </p:txBody>
      </p:sp>
      <p:sp>
        <p:nvSpPr>
          <p:cNvPr id="15" name="accent rule">
            <a:extLst>
              <a:ext uri="{C183D7F6-B498-43B3-948B-1728B52AA6E4}">
                <adec:decorative xmlns:adec="http://schemas.microsoft.com/office/drawing/2017/decorative" val="1"/>
              </a:ext>
            </a:extLst>
          </p:cNvPr>
          <p:cNvSpPr/>
          <p:nvPr/>
        </p:nvSpPr>
        <p:spPr>
          <a:xfrm>
            <a:off x="822960" y="1874520"/>
            <a:ext cx="1188720" cy="50292"/>
          </a:xfrm>
          <a:prstGeom prst="rect">
            <a:avLst/>
          </a:prstGeom>
          <a:solidFill>
            <a:srgbClr val="B08A3E"/>
          </a:solidFill>
          <a:ln/>
        </p:spPr>
        <p:txBody>
          <a:bodyPr/>
          <a:lstStyle/>
          <a:p>
            <a:endParaRPr lang="en-BD"/>
          </a:p>
        </p:txBody>
      </p:sp>
      <p:sp>
        <p:nvSpPr>
          <p:cNvPr id="16" name="Text 12"/>
          <p:cNvSpPr/>
          <p:nvPr/>
        </p:nvSpPr>
        <p:spPr>
          <a:xfrm>
            <a:off x="777240" y="2240280"/>
            <a:ext cx="5120640" cy="1097280"/>
          </a:xfrm>
          <a:prstGeom prst="rect">
            <a:avLst/>
          </a:prstGeom>
          <a:noFill/>
          <a:ln/>
        </p:spPr>
        <p:txBody>
          <a:bodyPr wrap="square" lIns="0" tIns="0" rIns="0" bIns="0" rtlCol="0" anchor="ctr"/>
          <a:lstStyle/>
          <a:p>
            <a:pPr marL="0" indent="0">
              <a:buNone/>
            </a:pPr>
            <a:r>
              <a:rPr lang="en-US" sz="5400" b="1" dirty="0">
                <a:solidFill>
                  <a:srgbClr val="EDEAE0"/>
                </a:solidFill>
                <a:latin typeface="Fraunces" pitchFamily="34" charset="0"/>
                <a:ea typeface="Fraunces" pitchFamily="34" charset="-122"/>
                <a:cs typeface="Fraunces" pitchFamily="34" charset="-120"/>
              </a:rPr>
              <a:t>Breadcrumbs</a:t>
            </a:r>
            <a:endParaRPr lang="en-US" sz="5400" dirty="0"/>
          </a:p>
        </p:txBody>
      </p:sp>
      <p:sp>
        <p:nvSpPr>
          <p:cNvPr id="17" name="Text 13"/>
          <p:cNvSpPr/>
          <p:nvPr/>
        </p:nvSpPr>
        <p:spPr>
          <a:xfrm>
            <a:off x="777240" y="3383280"/>
            <a:ext cx="5120640" cy="914400"/>
          </a:xfrm>
          <a:prstGeom prst="rect">
            <a:avLst/>
          </a:prstGeom>
          <a:noFill/>
          <a:ln/>
        </p:spPr>
        <p:txBody>
          <a:bodyPr wrap="square" lIns="0" tIns="0" rIns="0" bIns="0" rtlCol="0" anchor="ctr"/>
          <a:lstStyle/>
          <a:p>
            <a:pPr marL="0" indent="0">
              <a:buNone/>
            </a:pPr>
            <a:r>
              <a:rPr lang="en-US" sz="2400" dirty="0">
                <a:solidFill>
                  <a:srgbClr val="C6CCDA"/>
                </a:solidFill>
                <a:latin typeface="Inter" pitchFamily="34" charset="0"/>
                <a:ea typeface="Inter" pitchFamily="34" charset="-122"/>
                <a:cs typeface="Inter" pitchFamily="34" charset="-120"/>
              </a:rPr>
              <a:t>Prove one line. Reveal nothing else.</a:t>
            </a:r>
            <a:endParaRPr lang="en-US" sz="2400" dirty="0"/>
          </a:p>
        </p:txBody>
      </p:sp>
      <p:sp>
        <p:nvSpPr>
          <p:cNvPr id="18" name="Text 14"/>
          <p:cNvSpPr/>
          <p:nvPr/>
        </p:nvSpPr>
        <p:spPr>
          <a:xfrm>
            <a:off x="777240" y="5349240"/>
            <a:ext cx="5120640" cy="1097280"/>
          </a:xfrm>
          <a:prstGeom prst="rect">
            <a:avLst/>
          </a:prstGeom>
          <a:noFill/>
          <a:ln/>
        </p:spPr>
        <p:txBody>
          <a:bodyPr wrap="square" lIns="0" tIns="0" rIns="0" bIns="0" rtlCol="0" anchor="ctr"/>
          <a:lstStyle/>
          <a:p>
            <a:pPr marL="0" indent="0">
              <a:buNone/>
            </a:pPr>
            <a:r>
              <a:rPr lang="en-US" sz="1800" dirty="0">
                <a:solidFill>
                  <a:srgbClr val="C6CCDA"/>
                </a:solidFill>
                <a:latin typeface="Inter" pitchFamily="34" charset="0"/>
                <a:ea typeface="Inter" pitchFamily="34" charset="-122"/>
                <a:cs typeface="Inter" pitchFamily="34" charset="-120"/>
              </a:rPr>
              <a:t>Team CookieMonsters  ·  United International University  ·  Blockchain Olympiad 2026 Finals</a:t>
            </a:r>
            <a:endParaRPr lang="en-US" sz="18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44"/>
        </a:solidFill>
        <a:effectLst/>
      </p:bgPr>
    </p:bg>
    <p:spTree>
      <p:nvGrpSpPr>
        <p:cNvPr id="1" name=""/>
        <p:cNvGrpSpPr/>
        <p:nvPr/>
      </p:nvGrpSpPr>
      <p:grpSpPr>
        <a:xfrm>
          <a:off x="0" y="0"/>
          <a:ext cx="0" cy="0"/>
          <a:chOff x="0" y="0"/>
          <a:chExt cx="0" cy="0"/>
        </a:xfrm>
      </p:grpSpPr>
      <p:pic>
        <p:nvPicPr>
          <p:cNvPr id="3" name="Image 0" descr="Towering low-angle stack of printed payroll registers in shadow, one sheet lit brass"/>
          <p:cNvPicPr>
            <a:picLocks noChangeAspect="1"/>
          </p:cNvPicPr>
          <p:nvPr/>
        </p:nvPicPr>
        <p:blipFill>
          <a:blip r:embed="rId3"/>
          <a:srcRect l="24738" r="24738"/>
          <a:stretch/>
        </p:blipFill>
        <p:spPr>
          <a:xfrm>
            <a:off x="6035040" y="0"/>
            <a:ext cx="6156655" cy="6858000"/>
          </a:xfrm>
          <a:prstGeom prst="rect">
            <a:avLst/>
          </a:prstGeom>
        </p:spPr>
      </p:pic>
      <p:sp>
        <p:nvSpPr>
          <p:cNvPr id="4" name="scrim 0">
            <a:extLst>
              <a:ext uri="{C183D7F6-B498-43B3-948B-1728B52AA6E4}">
                <adec:decorative xmlns:adec="http://schemas.microsoft.com/office/drawing/2017/decorative" val="1"/>
              </a:ext>
            </a:extLst>
          </p:cNvPr>
          <p:cNvSpPr/>
          <p:nvPr/>
        </p:nvSpPr>
        <p:spPr>
          <a:xfrm>
            <a:off x="5724144" y="0"/>
            <a:ext cx="155448" cy="6858000"/>
          </a:xfrm>
          <a:prstGeom prst="rect">
            <a:avLst/>
          </a:prstGeom>
          <a:solidFill>
            <a:srgbClr val="1E2A44">
              <a:alpha val="78000"/>
            </a:srgbClr>
          </a:solidFill>
          <a:ln/>
        </p:spPr>
        <p:txBody>
          <a:bodyPr/>
          <a:lstStyle/>
          <a:p>
            <a:endParaRPr lang="en-BD"/>
          </a:p>
        </p:txBody>
      </p:sp>
      <p:sp>
        <p:nvSpPr>
          <p:cNvPr id="5" name="scrim 1">
            <a:extLst>
              <a:ext uri="{C183D7F6-B498-43B3-948B-1728B52AA6E4}">
                <adec:decorative xmlns:adec="http://schemas.microsoft.com/office/drawing/2017/decorative" val="1"/>
              </a:ext>
            </a:extLst>
          </p:cNvPr>
          <p:cNvSpPr/>
          <p:nvPr/>
        </p:nvSpPr>
        <p:spPr>
          <a:xfrm>
            <a:off x="5879592" y="0"/>
            <a:ext cx="155448" cy="6858000"/>
          </a:xfrm>
          <a:prstGeom prst="rect">
            <a:avLst/>
          </a:prstGeom>
          <a:solidFill>
            <a:srgbClr val="1E2A44">
              <a:alpha val="42000"/>
            </a:srgbClr>
          </a:solidFill>
          <a:ln/>
        </p:spPr>
        <p:txBody>
          <a:bodyPr/>
          <a:lstStyle/>
          <a:p>
            <a:endParaRPr lang="en-BD"/>
          </a:p>
        </p:txBody>
      </p:sp>
      <p:sp>
        <p:nvSpPr>
          <p:cNvPr id="6" name="Text 2"/>
          <p:cNvSpPr/>
          <p:nvPr/>
        </p:nvSpPr>
        <p:spPr>
          <a:xfrm>
            <a:off x="777240" y="914400"/>
            <a:ext cx="4754880" cy="2286000"/>
          </a:xfrm>
          <a:prstGeom prst="rect">
            <a:avLst/>
          </a:prstGeom>
          <a:noFill/>
          <a:ln/>
        </p:spPr>
        <p:txBody>
          <a:bodyPr wrap="square" lIns="0" tIns="0" rIns="0" bIns="0" rtlCol="0" anchor="t"/>
          <a:lstStyle/>
          <a:p>
            <a:pPr marL="0" indent="0" algn="l">
              <a:lnSpc>
                <a:spcPct val="105000"/>
              </a:lnSpc>
              <a:buNone/>
            </a:pPr>
            <a:r>
              <a:rPr lang="en-US" sz="4000" b="1" dirty="0">
                <a:solidFill>
                  <a:srgbClr val="EDEAE0"/>
                </a:solidFill>
                <a:latin typeface="Fraunces" pitchFamily="34" charset="0"/>
                <a:ea typeface="Fraunces" pitchFamily="34" charset="-122"/>
                <a:cs typeface="Fraunces" pitchFamily="34" charset="-120"/>
              </a:rPr>
              <a:t>An audit copies the whole file to prove one line.</a:t>
            </a:r>
            <a:endParaRPr lang="en-US" sz="4000" dirty="0"/>
          </a:p>
        </p:txBody>
      </p:sp>
      <p:sp>
        <p:nvSpPr>
          <p:cNvPr id="7" name="accent rule">
            <a:extLst>
              <a:ext uri="{C183D7F6-B498-43B3-948B-1728B52AA6E4}">
                <adec:decorative xmlns:adec="http://schemas.microsoft.com/office/drawing/2017/decorative" val="1"/>
              </a:ext>
            </a:extLst>
          </p:cNvPr>
          <p:cNvSpPr/>
          <p:nvPr/>
        </p:nvSpPr>
        <p:spPr>
          <a:xfrm>
            <a:off x="822960" y="3246120"/>
            <a:ext cx="1005840" cy="50292"/>
          </a:xfrm>
          <a:prstGeom prst="rect">
            <a:avLst/>
          </a:prstGeom>
          <a:solidFill>
            <a:srgbClr val="B08A3E"/>
          </a:solidFill>
          <a:ln/>
        </p:spPr>
        <p:txBody>
          <a:bodyPr/>
          <a:lstStyle/>
          <a:p>
            <a:endParaRPr lang="en-BD"/>
          </a:p>
        </p:txBody>
      </p:sp>
      <p:sp>
        <p:nvSpPr>
          <p:cNvPr id="8" name="Text 4"/>
          <p:cNvSpPr/>
          <p:nvPr/>
        </p:nvSpPr>
        <p:spPr>
          <a:xfrm>
            <a:off x="777240" y="3611880"/>
            <a:ext cx="4572000" cy="1234440"/>
          </a:xfrm>
          <a:prstGeom prst="rect">
            <a:avLst/>
          </a:prstGeom>
          <a:noFill/>
          <a:ln/>
        </p:spPr>
        <p:txBody>
          <a:bodyPr wrap="square" lIns="0" tIns="0" rIns="0" bIns="0" rtlCol="0" anchor="ctr"/>
          <a:lstStyle/>
          <a:p>
            <a:pPr marL="0" indent="0">
              <a:buNone/>
            </a:pPr>
            <a:r>
              <a:rPr lang="en-US" sz="8600" b="1" dirty="0">
                <a:solidFill>
                  <a:srgbClr val="B08A3E"/>
                </a:solidFill>
                <a:latin typeface="IBM Plex Mono" pitchFamily="34" charset="0"/>
                <a:ea typeface="IBM Plex Mono" pitchFamily="34" charset="-122"/>
                <a:cs typeface="IBM Plex Mono" pitchFamily="34" charset="-120"/>
              </a:rPr>
              <a:t>1,847</a:t>
            </a:r>
            <a:endParaRPr lang="en-US" sz="8600" dirty="0"/>
          </a:p>
        </p:txBody>
      </p:sp>
      <p:sp>
        <p:nvSpPr>
          <p:cNvPr id="9" name="Text 5"/>
          <p:cNvSpPr/>
          <p:nvPr/>
        </p:nvSpPr>
        <p:spPr>
          <a:xfrm>
            <a:off x="777240" y="4892040"/>
            <a:ext cx="4572000" cy="457200"/>
          </a:xfrm>
          <a:prstGeom prst="rect">
            <a:avLst/>
          </a:prstGeom>
          <a:noFill/>
          <a:ln/>
        </p:spPr>
        <p:txBody>
          <a:bodyPr wrap="square" lIns="0" tIns="0" rIns="0" bIns="0" rtlCol="0" anchor="ctr"/>
          <a:lstStyle/>
          <a:p>
            <a:pPr marL="0" indent="0">
              <a:buNone/>
            </a:pPr>
            <a:r>
              <a:rPr lang="en-US" sz="2000" dirty="0">
                <a:solidFill>
                  <a:srgbClr val="C6CCDA"/>
                </a:solidFill>
                <a:latin typeface="Inter" pitchFamily="34" charset="0"/>
                <a:ea typeface="Inter" pitchFamily="34" charset="-122"/>
                <a:cs typeface="Inter" pitchFamily="34" charset="-120"/>
              </a:rPr>
              <a:t>rows handed over to verify one</a:t>
            </a:r>
            <a:endParaRPr lang="en-US" sz="2000" dirty="0"/>
          </a:p>
        </p:txBody>
      </p:sp>
      <p:sp>
        <p:nvSpPr>
          <p:cNvPr id="10" name="Text 6"/>
          <p:cNvSpPr/>
          <p:nvPr/>
        </p:nvSpPr>
        <p:spPr>
          <a:xfrm>
            <a:off x="777240" y="5623560"/>
            <a:ext cx="4754880" cy="457200"/>
          </a:xfrm>
          <a:prstGeom prst="rect">
            <a:avLst/>
          </a:prstGeom>
          <a:noFill/>
          <a:ln/>
        </p:spPr>
        <p:txBody>
          <a:bodyPr wrap="square" lIns="0" tIns="0" rIns="0" bIns="0" rtlCol="0" anchor="ctr"/>
          <a:lstStyle/>
          <a:p>
            <a:pPr marL="0" indent="0">
              <a:buNone/>
            </a:pPr>
            <a:r>
              <a:rPr lang="en-US" sz="1500" dirty="0">
                <a:solidFill>
                  <a:srgbClr val="8FA0C0"/>
                </a:solidFill>
                <a:latin typeface="IBM Plex Mono" pitchFamily="34" charset="0"/>
                <a:ea typeface="IBM Plex Mono" pitchFamily="34" charset="-122"/>
                <a:cs typeface="IBM Plex Mono" pitchFamily="34" charset="-120"/>
              </a:rPr>
              <a:t>Garments are ~84% of Bangladesh's exports.</a:t>
            </a:r>
            <a:endParaRPr lang="en-US" sz="15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1325880"/>
            <a:ext cx="4572000" cy="1417320"/>
          </a:xfrm>
          <a:prstGeom prst="rect">
            <a:avLst/>
          </a:prstGeom>
          <a:noFill/>
          <a:ln/>
        </p:spPr>
        <p:txBody>
          <a:bodyPr wrap="square" lIns="0" tIns="0" rIns="0" bIns="0" rtlCol="0" anchor="t"/>
          <a:lstStyle/>
          <a:p>
            <a:pPr marL="0" indent="0" algn="l">
              <a:lnSpc>
                <a:spcPct val="105000"/>
              </a:lnSpc>
              <a:buNone/>
            </a:pPr>
            <a:r>
              <a:rPr lang="en-US" sz="3800" b="1" dirty="0">
                <a:solidFill>
                  <a:srgbClr val="162034"/>
                </a:solidFill>
                <a:latin typeface="Fraunces" pitchFamily="34" charset="0"/>
                <a:ea typeface="Fraunces" pitchFamily="34" charset="-122"/>
                <a:cs typeface="Fraunces" pitchFamily="34" charset="-120"/>
              </a:rPr>
              <a:t>Nobody here can</a:t>
            </a:r>
            <a:endParaRPr lang="en-US" sz="3800" dirty="0"/>
          </a:p>
          <a:p>
            <a:pPr marL="0" indent="0" algn="l">
              <a:lnSpc>
                <a:spcPct val="105000"/>
              </a:lnSpc>
              <a:buNone/>
            </a:pPr>
            <a:r>
              <a:rPr lang="en-US" sz="3800" b="1" dirty="0">
                <a:solidFill>
                  <a:srgbClr val="162034"/>
                </a:solidFill>
                <a:latin typeface="Fraunces" pitchFamily="34" charset="0"/>
                <a:ea typeface="Fraunces" pitchFamily="34" charset="-122"/>
                <a:cs typeface="Fraunces" pitchFamily="34" charset="-120"/>
              </a:rPr>
              <a:t>be the custodian.</a:t>
            </a:r>
            <a:endParaRPr lang="en-US" sz="3800" dirty="0"/>
          </a:p>
        </p:txBody>
      </p:sp>
      <p:sp>
        <p:nvSpPr>
          <p:cNvPr id="4" name="accent rule">
            <a:extLst>
              <a:ext uri="{C183D7F6-B498-43B3-948B-1728B52AA6E4}">
                <adec:decorative xmlns:adec="http://schemas.microsoft.com/office/drawing/2017/decorative" val="1"/>
              </a:ext>
            </a:extLst>
          </p:cNvPr>
          <p:cNvSpPr/>
          <p:nvPr/>
        </p:nvSpPr>
        <p:spPr>
          <a:xfrm>
            <a:off x="777240" y="1005840"/>
            <a:ext cx="1005840" cy="50292"/>
          </a:xfrm>
          <a:prstGeom prst="rect">
            <a:avLst/>
          </a:prstGeom>
          <a:solidFill>
            <a:srgbClr val="B08A3E"/>
          </a:solidFill>
          <a:ln/>
        </p:spPr>
        <p:txBody>
          <a:bodyPr/>
          <a:lstStyle/>
          <a:p>
            <a:endParaRPr lang="en-BD"/>
          </a:p>
        </p:txBody>
      </p:sp>
      <p:sp>
        <p:nvSpPr>
          <p:cNvPr id="5" name="Text 2">
            <a:extLst>
              <a:ext uri="{C183D7F6-B498-43B3-948B-1728B52AA6E4}">
                <adec:decorative xmlns:adec="http://schemas.microsoft.com/office/drawing/2017/decorative" val="0"/>
              </a:ext>
            </a:extLst>
          </p:cNvPr>
          <p:cNvSpPr/>
          <p:nvPr/>
        </p:nvSpPr>
        <p:spPr>
          <a:xfrm>
            <a:off x="777240" y="3246120"/>
            <a:ext cx="4297680" cy="1005840"/>
          </a:xfrm>
          <a:prstGeom prst="rect">
            <a:avLst/>
          </a:prstGeom>
          <a:noFill/>
          <a:ln/>
        </p:spPr>
        <p:txBody>
          <a:bodyPr wrap="square" lIns="0" tIns="0" rIns="0" bIns="0" rtlCol="0" anchor="ctr"/>
          <a:lstStyle/>
          <a:p>
            <a:pPr marL="0" indent="0">
              <a:lnSpc>
                <a:spcPct val="120000"/>
              </a:lnSpc>
              <a:buNone/>
            </a:pPr>
            <a:r>
              <a:rPr lang="en-US" sz="2000" dirty="0">
                <a:solidFill>
                  <a:srgbClr val="5A6377"/>
                </a:solidFill>
                <a:latin typeface="Inter" pitchFamily="34" charset="0"/>
                <a:ea typeface="Inter" pitchFamily="34" charset="-122"/>
                <a:cs typeface="Inter" pitchFamily="34" charset="-120"/>
              </a:rPr>
              <a:t>Multiple writers. Mutual distrust. No candidate custodian.</a:t>
            </a:r>
            <a:endParaRPr lang="en-US" sz="2000" dirty="0"/>
          </a:p>
        </p:txBody>
      </p:sp>
      <p:sp>
        <p:nvSpPr>
          <p:cNvPr id="6" name="Text 3">
            <a:extLst>
              <a:ext uri="{C183D7F6-B498-43B3-948B-1728B52AA6E4}">
                <adec:decorative xmlns:adec="http://schemas.microsoft.com/office/drawing/2017/decorative" val="0"/>
              </a:ext>
            </a:extLst>
          </p:cNvPr>
          <p:cNvSpPr/>
          <p:nvPr/>
        </p:nvSpPr>
        <p:spPr>
          <a:xfrm>
            <a:off x="777240" y="4434840"/>
            <a:ext cx="4297680" cy="411480"/>
          </a:xfrm>
          <a:prstGeom prst="rect">
            <a:avLst/>
          </a:prstGeom>
          <a:noFill/>
          <a:ln/>
        </p:spPr>
        <p:txBody>
          <a:bodyPr wrap="square" lIns="0" tIns="0" rIns="0" bIns="0" rtlCol="0" anchor="ctr"/>
          <a:lstStyle/>
          <a:p>
            <a:pPr marL="0" indent="0">
              <a:buNone/>
            </a:pPr>
            <a:r>
              <a:rPr lang="en-US" sz="1400" dirty="0">
                <a:solidFill>
                  <a:srgbClr val="162034"/>
                </a:solidFill>
                <a:latin typeface="IBM Plex Mono" pitchFamily="34" charset="0"/>
                <a:ea typeface="IBM Plex Mono" pitchFamily="34" charset="-122"/>
                <a:cs typeface="IBM Plex Mono" pitchFamily="34" charset="-120"/>
              </a:rPr>
              <a:t>Wüst and Gervais test  ·  all three conditions hold</a:t>
            </a:r>
            <a:endParaRPr lang="en-US" sz="1400" dirty="0"/>
          </a:p>
        </p:txBody>
      </p:sp>
      <p:sp>
        <p:nvSpPr>
          <p:cNvPr id="7" name="card">
            <a:extLst>
              <a:ext uri="{C183D7F6-B498-43B3-948B-1728B52AA6E4}">
                <adec:decorative xmlns:adec="http://schemas.microsoft.com/office/drawing/2017/decorative" val="1"/>
              </a:ext>
            </a:extLst>
          </p:cNvPr>
          <p:cNvSpPr/>
          <p:nvPr/>
        </p:nvSpPr>
        <p:spPr>
          <a:xfrm>
            <a:off x="5486400" y="1051560"/>
            <a:ext cx="3063240" cy="1234440"/>
          </a:xfrm>
          <a:prstGeom prst="rect">
            <a:avLst/>
          </a:prstGeom>
          <a:solidFill>
            <a:srgbClr val="FFFFFF"/>
          </a:solidFill>
          <a:ln w="12700">
            <a:solidFill>
              <a:srgbClr val="D6D0C2"/>
            </a:solidFill>
            <a:prstDash val="solid"/>
          </a:ln>
        </p:spPr>
        <p:txBody>
          <a:bodyPr/>
          <a:lstStyle/>
          <a:p>
            <a:endParaRPr lang="en-BD"/>
          </a:p>
        </p:txBody>
      </p:sp>
      <p:sp>
        <p:nvSpPr>
          <p:cNvPr id="8" name="card edge">
            <a:extLst>
              <a:ext uri="{C183D7F6-B498-43B3-948B-1728B52AA6E4}">
                <adec:decorative xmlns:adec="http://schemas.microsoft.com/office/drawing/2017/decorative" val="1"/>
              </a:ext>
            </a:extLst>
          </p:cNvPr>
          <p:cNvSpPr/>
          <p:nvPr/>
        </p:nvSpPr>
        <p:spPr>
          <a:xfrm>
            <a:off x="5486400" y="1051560"/>
            <a:ext cx="54864" cy="1234440"/>
          </a:xfrm>
          <a:prstGeom prst="rect">
            <a:avLst/>
          </a:prstGeom>
          <a:solidFill>
            <a:srgbClr val="1E2A44"/>
          </a:solidFill>
          <a:ln/>
        </p:spPr>
        <p:txBody>
          <a:bodyPr/>
          <a:lstStyle/>
          <a:p>
            <a:endParaRPr lang="en-BD"/>
          </a:p>
        </p:txBody>
      </p:sp>
      <p:sp>
        <p:nvSpPr>
          <p:cNvPr id="9" name="Text 6">
            <a:extLst>
              <a:ext uri="{C183D7F6-B498-43B3-948B-1728B52AA6E4}">
                <adec:decorative xmlns:adec="http://schemas.microsoft.com/office/drawing/2017/decorative" val="0"/>
              </a:ext>
            </a:extLst>
          </p:cNvPr>
          <p:cNvSpPr/>
          <p:nvPr/>
        </p:nvSpPr>
        <p:spPr>
          <a:xfrm>
            <a:off x="5742432" y="1216152"/>
            <a:ext cx="2743200" cy="384048"/>
          </a:xfrm>
          <a:prstGeom prst="rect">
            <a:avLst/>
          </a:prstGeom>
          <a:noFill/>
          <a:ln/>
        </p:spPr>
        <p:txBody>
          <a:bodyPr wrap="square" lIns="0" tIns="0" rIns="0" bIns="0" rtlCol="0" anchor="ctr"/>
          <a:lstStyle/>
          <a:p>
            <a:pPr marL="0" indent="0">
              <a:buNone/>
            </a:pPr>
            <a:r>
              <a:rPr lang="en-US" sz="2000" b="1" dirty="0">
                <a:solidFill>
                  <a:srgbClr val="162034"/>
                </a:solidFill>
                <a:latin typeface="Inter" pitchFamily="34" charset="0"/>
                <a:ea typeface="Inter" pitchFamily="34" charset="-122"/>
                <a:cs typeface="Inter" pitchFamily="34" charset="-120"/>
              </a:rPr>
              <a:t>Factory</a:t>
            </a:r>
            <a:endParaRPr lang="en-US" sz="2000" dirty="0"/>
          </a:p>
        </p:txBody>
      </p:sp>
      <p:sp>
        <p:nvSpPr>
          <p:cNvPr id="10" name="Text 7">
            <a:extLst>
              <a:ext uri="{C183D7F6-B498-43B3-948B-1728B52AA6E4}">
                <adec:decorative xmlns:adec="http://schemas.microsoft.com/office/drawing/2017/decorative" val="0"/>
              </a:ext>
            </a:extLst>
          </p:cNvPr>
          <p:cNvSpPr/>
          <p:nvPr/>
        </p:nvSpPr>
        <p:spPr>
          <a:xfrm>
            <a:off x="5742432" y="1627632"/>
            <a:ext cx="2697480" cy="548640"/>
          </a:xfrm>
          <a:prstGeom prst="rect">
            <a:avLst/>
          </a:prstGeom>
          <a:noFill/>
          <a:ln/>
        </p:spPr>
        <p:txBody>
          <a:bodyPr wrap="square" lIns="0" tIns="0" rIns="0" bIns="0" rtlCol="0" anchor="ctr"/>
          <a:lstStyle/>
          <a:p>
            <a:pPr marL="0" indent="0">
              <a:buNone/>
            </a:pPr>
            <a:r>
              <a:rPr lang="en-US" sz="1400" dirty="0">
                <a:solidFill>
                  <a:srgbClr val="5A6377"/>
                </a:solidFill>
                <a:latin typeface="Inter" pitchFamily="34" charset="0"/>
                <a:ea typeface="Inter" pitchFamily="34" charset="-122"/>
                <a:cs typeface="Inter" pitchFamily="34" charset="-120"/>
              </a:rPr>
              <a:t>presents its own records</a:t>
            </a:r>
            <a:endParaRPr lang="en-US" sz="1400" dirty="0"/>
          </a:p>
        </p:txBody>
      </p:sp>
      <p:sp>
        <p:nvSpPr>
          <p:cNvPr id="11" name="connector">
            <a:extLst>
              <a:ext uri="{C183D7F6-B498-43B3-948B-1728B52AA6E4}">
                <adec:decorative xmlns:adec="http://schemas.microsoft.com/office/drawing/2017/decorative" val="1"/>
              </a:ext>
            </a:extLst>
          </p:cNvPr>
          <p:cNvSpPr/>
          <p:nvPr/>
        </p:nvSpPr>
        <p:spPr>
          <a:xfrm flipH="1">
            <a:off x="8092440" y="2286000"/>
            <a:ext cx="457200" cy="530352"/>
          </a:xfrm>
          <a:prstGeom prst="line">
            <a:avLst/>
          </a:prstGeom>
          <a:noFill/>
          <a:ln w="15875">
            <a:solidFill>
              <a:srgbClr val="C3BCAC"/>
            </a:solidFill>
            <a:prstDash val="solid"/>
          </a:ln>
        </p:spPr>
        <p:txBody>
          <a:bodyPr/>
          <a:lstStyle/>
          <a:p>
            <a:endParaRPr lang="en-BD"/>
          </a:p>
        </p:txBody>
      </p:sp>
      <p:sp>
        <p:nvSpPr>
          <p:cNvPr id="12" name="card">
            <a:extLst>
              <a:ext uri="{C183D7F6-B498-43B3-948B-1728B52AA6E4}">
                <adec:decorative xmlns:adec="http://schemas.microsoft.com/office/drawing/2017/decorative" val="1"/>
              </a:ext>
            </a:extLst>
          </p:cNvPr>
          <p:cNvSpPr/>
          <p:nvPr/>
        </p:nvSpPr>
        <p:spPr>
          <a:xfrm>
            <a:off x="8915400" y="1051560"/>
            <a:ext cx="3063240" cy="1234440"/>
          </a:xfrm>
          <a:prstGeom prst="rect">
            <a:avLst/>
          </a:prstGeom>
          <a:solidFill>
            <a:srgbClr val="FFFFFF"/>
          </a:solidFill>
          <a:ln w="12700">
            <a:solidFill>
              <a:srgbClr val="D6D0C2"/>
            </a:solidFill>
            <a:prstDash val="solid"/>
          </a:ln>
        </p:spPr>
        <p:txBody>
          <a:bodyPr/>
          <a:lstStyle/>
          <a:p>
            <a:endParaRPr lang="en-BD"/>
          </a:p>
        </p:txBody>
      </p:sp>
      <p:sp>
        <p:nvSpPr>
          <p:cNvPr id="13" name="card edge">
            <a:extLst>
              <a:ext uri="{C183D7F6-B498-43B3-948B-1728B52AA6E4}">
                <adec:decorative xmlns:adec="http://schemas.microsoft.com/office/drawing/2017/decorative" val="1"/>
              </a:ext>
            </a:extLst>
          </p:cNvPr>
          <p:cNvSpPr/>
          <p:nvPr/>
        </p:nvSpPr>
        <p:spPr>
          <a:xfrm>
            <a:off x="8915400" y="1051560"/>
            <a:ext cx="54864" cy="1234440"/>
          </a:xfrm>
          <a:prstGeom prst="rect">
            <a:avLst/>
          </a:prstGeom>
          <a:solidFill>
            <a:srgbClr val="1E2A44"/>
          </a:solidFill>
          <a:ln/>
        </p:spPr>
        <p:txBody>
          <a:bodyPr/>
          <a:lstStyle/>
          <a:p>
            <a:endParaRPr lang="en-BD"/>
          </a:p>
        </p:txBody>
      </p:sp>
      <p:sp>
        <p:nvSpPr>
          <p:cNvPr id="14" name="Text 11">
            <a:extLst>
              <a:ext uri="{C183D7F6-B498-43B3-948B-1728B52AA6E4}">
                <adec:decorative xmlns:adec="http://schemas.microsoft.com/office/drawing/2017/decorative" val="0"/>
              </a:ext>
            </a:extLst>
          </p:cNvPr>
          <p:cNvSpPr/>
          <p:nvPr/>
        </p:nvSpPr>
        <p:spPr>
          <a:xfrm>
            <a:off x="9171432" y="1216152"/>
            <a:ext cx="2743200" cy="384048"/>
          </a:xfrm>
          <a:prstGeom prst="rect">
            <a:avLst/>
          </a:prstGeom>
          <a:noFill/>
          <a:ln/>
        </p:spPr>
        <p:txBody>
          <a:bodyPr wrap="square" lIns="0" tIns="0" rIns="0" bIns="0" rtlCol="0" anchor="ctr"/>
          <a:lstStyle/>
          <a:p>
            <a:pPr marL="0" indent="0">
              <a:buNone/>
            </a:pPr>
            <a:r>
              <a:rPr lang="en-US" sz="2000" b="1" dirty="0">
                <a:solidFill>
                  <a:srgbClr val="162034"/>
                </a:solidFill>
                <a:latin typeface="Inter" pitchFamily="34" charset="0"/>
                <a:ea typeface="Inter" pitchFamily="34" charset="-122"/>
                <a:cs typeface="Inter" pitchFamily="34" charset="-120"/>
              </a:rPr>
              <a:t>Buyer</a:t>
            </a:r>
            <a:endParaRPr lang="en-US" sz="2000" dirty="0"/>
          </a:p>
        </p:txBody>
      </p:sp>
      <p:sp>
        <p:nvSpPr>
          <p:cNvPr id="15" name="Text 12">
            <a:extLst>
              <a:ext uri="{C183D7F6-B498-43B3-948B-1728B52AA6E4}">
                <adec:decorative xmlns:adec="http://schemas.microsoft.com/office/drawing/2017/decorative" val="0"/>
              </a:ext>
            </a:extLst>
          </p:cNvPr>
          <p:cNvSpPr/>
          <p:nvPr/>
        </p:nvSpPr>
        <p:spPr>
          <a:xfrm>
            <a:off x="9171432" y="1627632"/>
            <a:ext cx="2697480" cy="548640"/>
          </a:xfrm>
          <a:prstGeom prst="rect">
            <a:avLst/>
          </a:prstGeom>
          <a:noFill/>
          <a:ln/>
        </p:spPr>
        <p:txBody>
          <a:bodyPr wrap="square" lIns="0" tIns="0" rIns="0" bIns="0" rtlCol="0" anchor="ctr"/>
          <a:lstStyle/>
          <a:p>
            <a:pPr marL="0" indent="0">
              <a:buNone/>
            </a:pPr>
            <a:r>
              <a:rPr lang="en-US" sz="1400" dirty="0">
                <a:solidFill>
                  <a:srgbClr val="5A6377"/>
                </a:solidFill>
                <a:latin typeface="Inter" pitchFamily="34" charset="0"/>
                <a:ea typeface="Inter" pitchFamily="34" charset="-122"/>
                <a:cs typeface="Inter" pitchFamily="34" charset="-120"/>
              </a:rPr>
              <a:t>shifts liability, controls orders</a:t>
            </a:r>
            <a:endParaRPr lang="en-US" sz="1400" dirty="0"/>
          </a:p>
        </p:txBody>
      </p:sp>
      <p:sp>
        <p:nvSpPr>
          <p:cNvPr id="16" name="connector">
            <a:extLst>
              <a:ext uri="{C183D7F6-B498-43B3-948B-1728B52AA6E4}">
                <adec:decorative xmlns:adec="http://schemas.microsoft.com/office/drawing/2017/decorative" val="1"/>
              </a:ext>
            </a:extLst>
          </p:cNvPr>
          <p:cNvSpPr/>
          <p:nvPr/>
        </p:nvSpPr>
        <p:spPr>
          <a:xfrm>
            <a:off x="8915400" y="2286000"/>
            <a:ext cx="658368" cy="530352"/>
          </a:xfrm>
          <a:prstGeom prst="line">
            <a:avLst/>
          </a:prstGeom>
          <a:noFill/>
          <a:ln w="15875">
            <a:solidFill>
              <a:srgbClr val="C3BCAC"/>
            </a:solidFill>
            <a:prstDash val="solid"/>
          </a:ln>
        </p:spPr>
        <p:txBody>
          <a:bodyPr/>
          <a:lstStyle/>
          <a:p>
            <a:endParaRPr lang="en-BD"/>
          </a:p>
        </p:txBody>
      </p:sp>
      <p:sp>
        <p:nvSpPr>
          <p:cNvPr id="17" name="card">
            <a:extLst>
              <a:ext uri="{C183D7F6-B498-43B3-948B-1728B52AA6E4}">
                <adec:decorative xmlns:adec="http://schemas.microsoft.com/office/drawing/2017/decorative" val="1"/>
              </a:ext>
            </a:extLst>
          </p:cNvPr>
          <p:cNvSpPr/>
          <p:nvPr/>
        </p:nvSpPr>
        <p:spPr>
          <a:xfrm>
            <a:off x="5486400" y="4892040"/>
            <a:ext cx="3063240" cy="1234440"/>
          </a:xfrm>
          <a:prstGeom prst="rect">
            <a:avLst/>
          </a:prstGeom>
          <a:solidFill>
            <a:srgbClr val="FFFFFF"/>
          </a:solidFill>
          <a:ln w="12700">
            <a:solidFill>
              <a:srgbClr val="D6D0C2"/>
            </a:solidFill>
            <a:prstDash val="solid"/>
          </a:ln>
        </p:spPr>
        <p:txBody>
          <a:bodyPr/>
          <a:lstStyle/>
          <a:p>
            <a:endParaRPr lang="en-BD"/>
          </a:p>
        </p:txBody>
      </p:sp>
      <p:sp>
        <p:nvSpPr>
          <p:cNvPr id="18" name="card edge">
            <a:extLst>
              <a:ext uri="{C183D7F6-B498-43B3-948B-1728B52AA6E4}">
                <adec:decorative xmlns:adec="http://schemas.microsoft.com/office/drawing/2017/decorative" val="1"/>
              </a:ext>
            </a:extLst>
          </p:cNvPr>
          <p:cNvSpPr/>
          <p:nvPr/>
        </p:nvSpPr>
        <p:spPr>
          <a:xfrm>
            <a:off x="5486400" y="4892040"/>
            <a:ext cx="54864" cy="1234440"/>
          </a:xfrm>
          <a:prstGeom prst="rect">
            <a:avLst/>
          </a:prstGeom>
          <a:solidFill>
            <a:srgbClr val="1E2A44"/>
          </a:solidFill>
          <a:ln/>
        </p:spPr>
        <p:txBody>
          <a:bodyPr/>
          <a:lstStyle/>
          <a:p>
            <a:endParaRPr lang="en-BD"/>
          </a:p>
        </p:txBody>
      </p:sp>
      <p:sp>
        <p:nvSpPr>
          <p:cNvPr id="19" name="Text 16">
            <a:extLst>
              <a:ext uri="{C183D7F6-B498-43B3-948B-1728B52AA6E4}">
                <adec:decorative xmlns:adec="http://schemas.microsoft.com/office/drawing/2017/decorative" val="0"/>
              </a:ext>
            </a:extLst>
          </p:cNvPr>
          <p:cNvSpPr/>
          <p:nvPr/>
        </p:nvSpPr>
        <p:spPr>
          <a:xfrm>
            <a:off x="5742432" y="5056632"/>
            <a:ext cx="2743200" cy="384048"/>
          </a:xfrm>
          <a:prstGeom prst="rect">
            <a:avLst/>
          </a:prstGeom>
          <a:noFill/>
          <a:ln/>
        </p:spPr>
        <p:txBody>
          <a:bodyPr wrap="square" lIns="0" tIns="0" rIns="0" bIns="0" rtlCol="0" anchor="ctr"/>
          <a:lstStyle/>
          <a:p>
            <a:pPr marL="0" indent="0">
              <a:buNone/>
            </a:pPr>
            <a:r>
              <a:rPr lang="en-US" sz="2000" b="1" dirty="0">
                <a:solidFill>
                  <a:srgbClr val="162034"/>
                </a:solidFill>
                <a:latin typeface="Inter" pitchFamily="34" charset="0"/>
                <a:ea typeface="Inter" pitchFamily="34" charset="-122"/>
                <a:cs typeface="Inter" pitchFamily="34" charset="-120"/>
              </a:rPr>
              <a:t>Auditor</a:t>
            </a:r>
            <a:endParaRPr lang="en-US" sz="2000" dirty="0"/>
          </a:p>
        </p:txBody>
      </p:sp>
      <p:sp>
        <p:nvSpPr>
          <p:cNvPr id="20" name="Text 17">
            <a:extLst>
              <a:ext uri="{C183D7F6-B498-43B3-948B-1728B52AA6E4}">
                <adec:decorative xmlns:adec="http://schemas.microsoft.com/office/drawing/2017/decorative" val="0"/>
              </a:ext>
            </a:extLst>
          </p:cNvPr>
          <p:cNvSpPr/>
          <p:nvPr/>
        </p:nvSpPr>
        <p:spPr>
          <a:xfrm>
            <a:off x="5742432" y="5468112"/>
            <a:ext cx="2697480" cy="548640"/>
          </a:xfrm>
          <a:prstGeom prst="rect">
            <a:avLst/>
          </a:prstGeom>
          <a:noFill/>
          <a:ln/>
        </p:spPr>
        <p:txBody>
          <a:bodyPr wrap="square" lIns="0" tIns="0" rIns="0" bIns="0" rtlCol="0" anchor="ctr"/>
          <a:lstStyle/>
          <a:p>
            <a:pPr marL="0" indent="0">
              <a:buNone/>
            </a:pPr>
            <a:r>
              <a:rPr lang="en-US" sz="1400" dirty="0">
                <a:solidFill>
                  <a:srgbClr val="5A6377"/>
                </a:solidFill>
                <a:latin typeface="Inter" pitchFamily="34" charset="0"/>
                <a:ea typeface="Inter" pitchFamily="34" charset="-122"/>
                <a:cs typeface="Inter" pitchFamily="34" charset="-120"/>
              </a:rPr>
              <a:t>paid by the inspected</a:t>
            </a:r>
            <a:endParaRPr lang="en-US" sz="1400" dirty="0"/>
          </a:p>
        </p:txBody>
      </p:sp>
      <p:sp>
        <p:nvSpPr>
          <p:cNvPr id="21" name="connector">
            <a:extLst>
              <a:ext uri="{C183D7F6-B498-43B3-948B-1728B52AA6E4}">
                <adec:decorative xmlns:adec="http://schemas.microsoft.com/office/drawing/2017/decorative" val="1"/>
              </a:ext>
            </a:extLst>
          </p:cNvPr>
          <p:cNvSpPr/>
          <p:nvPr/>
        </p:nvSpPr>
        <p:spPr>
          <a:xfrm flipH="1">
            <a:off x="8092440" y="4041648"/>
            <a:ext cx="457200" cy="850392"/>
          </a:xfrm>
          <a:prstGeom prst="line">
            <a:avLst/>
          </a:prstGeom>
          <a:noFill/>
          <a:ln w="15875">
            <a:solidFill>
              <a:srgbClr val="C3BCAC"/>
            </a:solidFill>
            <a:prstDash val="solid"/>
          </a:ln>
        </p:spPr>
        <p:txBody>
          <a:bodyPr/>
          <a:lstStyle/>
          <a:p>
            <a:endParaRPr lang="en-BD"/>
          </a:p>
        </p:txBody>
      </p:sp>
      <p:sp>
        <p:nvSpPr>
          <p:cNvPr id="22" name="card">
            <a:extLst>
              <a:ext uri="{C183D7F6-B498-43B3-948B-1728B52AA6E4}">
                <adec:decorative xmlns:adec="http://schemas.microsoft.com/office/drawing/2017/decorative" val="1"/>
              </a:ext>
            </a:extLst>
          </p:cNvPr>
          <p:cNvSpPr/>
          <p:nvPr/>
        </p:nvSpPr>
        <p:spPr>
          <a:xfrm>
            <a:off x="8915400" y="4892040"/>
            <a:ext cx="3063240" cy="1234440"/>
          </a:xfrm>
          <a:prstGeom prst="rect">
            <a:avLst/>
          </a:prstGeom>
          <a:solidFill>
            <a:srgbClr val="FFFFFF"/>
          </a:solidFill>
          <a:ln w="12700">
            <a:solidFill>
              <a:srgbClr val="D6D0C2"/>
            </a:solidFill>
            <a:prstDash val="solid"/>
          </a:ln>
        </p:spPr>
        <p:txBody>
          <a:bodyPr/>
          <a:lstStyle/>
          <a:p>
            <a:endParaRPr lang="en-BD"/>
          </a:p>
        </p:txBody>
      </p:sp>
      <p:sp>
        <p:nvSpPr>
          <p:cNvPr id="23" name="card edge">
            <a:extLst>
              <a:ext uri="{C183D7F6-B498-43B3-948B-1728B52AA6E4}">
                <adec:decorative xmlns:adec="http://schemas.microsoft.com/office/drawing/2017/decorative" val="1"/>
              </a:ext>
            </a:extLst>
          </p:cNvPr>
          <p:cNvSpPr/>
          <p:nvPr/>
        </p:nvSpPr>
        <p:spPr>
          <a:xfrm>
            <a:off x="8915400" y="4892040"/>
            <a:ext cx="54864" cy="1234440"/>
          </a:xfrm>
          <a:prstGeom prst="rect">
            <a:avLst/>
          </a:prstGeom>
          <a:solidFill>
            <a:srgbClr val="1E2A44"/>
          </a:solidFill>
          <a:ln/>
        </p:spPr>
        <p:txBody>
          <a:bodyPr/>
          <a:lstStyle/>
          <a:p>
            <a:endParaRPr lang="en-BD"/>
          </a:p>
        </p:txBody>
      </p:sp>
      <p:sp>
        <p:nvSpPr>
          <p:cNvPr id="24" name="Text 21">
            <a:extLst>
              <a:ext uri="{C183D7F6-B498-43B3-948B-1728B52AA6E4}">
                <adec:decorative xmlns:adec="http://schemas.microsoft.com/office/drawing/2017/decorative" val="0"/>
              </a:ext>
            </a:extLst>
          </p:cNvPr>
          <p:cNvSpPr/>
          <p:nvPr/>
        </p:nvSpPr>
        <p:spPr>
          <a:xfrm>
            <a:off x="9171432" y="5056632"/>
            <a:ext cx="2743200" cy="384048"/>
          </a:xfrm>
          <a:prstGeom prst="rect">
            <a:avLst/>
          </a:prstGeom>
          <a:noFill/>
          <a:ln/>
        </p:spPr>
        <p:txBody>
          <a:bodyPr wrap="square" lIns="0" tIns="0" rIns="0" bIns="0" rtlCol="0" anchor="ctr"/>
          <a:lstStyle/>
          <a:p>
            <a:pPr marL="0" indent="0">
              <a:buNone/>
            </a:pPr>
            <a:r>
              <a:rPr lang="en-US" sz="2000" b="1" dirty="0">
                <a:solidFill>
                  <a:srgbClr val="162034"/>
                </a:solidFill>
                <a:latin typeface="Inter" pitchFamily="34" charset="0"/>
                <a:ea typeface="Inter" pitchFamily="34" charset="-122"/>
                <a:cs typeface="Inter" pitchFamily="34" charset="-120"/>
              </a:rPr>
              <a:t>Regulator</a:t>
            </a:r>
            <a:endParaRPr lang="en-US" sz="2000" dirty="0"/>
          </a:p>
        </p:txBody>
      </p:sp>
      <p:sp>
        <p:nvSpPr>
          <p:cNvPr id="25" name="Text 22">
            <a:extLst>
              <a:ext uri="{C183D7F6-B498-43B3-948B-1728B52AA6E4}">
                <adec:decorative xmlns:adec="http://schemas.microsoft.com/office/drawing/2017/decorative" val="0"/>
              </a:ext>
            </a:extLst>
          </p:cNvPr>
          <p:cNvSpPr/>
          <p:nvPr/>
        </p:nvSpPr>
        <p:spPr>
          <a:xfrm>
            <a:off x="9171432" y="5468112"/>
            <a:ext cx="2697480" cy="548640"/>
          </a:xfrm>
          <a:prstGeom prst="rect">
            <a:avLst/>
          </a:prstGeom>
          <a:noFill/>
          <a:ln/>
        </p:spPr>
        <p:txBody>
          <a:bodyPr wrap="square" lIns="0" tIns="0" rIns="0" bIns="0" rtlCol="0" anchor="ctr"/>
          <a:lstStyle/>
          <a:p>
            <a:pPr marL="0" indent="0">
              <a:buNone/>
            </a:pPr>
            <a:r>
              <a:rPr lang="en-US" sz="1400" dirty="0">
                <a:solidFill>
                  <a:srgbClr val="5A6377"/>
                </a:solidFill>
                <a:latin typeface="Inter" pitchFamily="34" charset="0"/>
                <a:ea typeface="Inter" pitchFamily="34" charset="-122"/>
                <a:cs typeface="Inter" pitchFamily="34" charset="-120"/>
              </a:rPr>
              <a:t>arrives afterwards</a:t>
            </a:r>
            <a:endParaRPr lang="en-US" sz="1400" dirty="0"/>
          </a:p>
        </p:txBody>
      </p:sp>
      <p:sp>
        <p:nvSpPr>
          <p:cNvPr id="26" name="connector">
            <a:extLst>
              <a:ext uri="{C183D7F6-B498-43B3-948B-1728B52AA6E4}">
                <adec:decorative xmlns:adec="http://schemas.microsoft.com/office/drawing/2017/decorative" val="1"/>
              </a:ext>
            </a:extLst>
          </p:cNvPr>
          <p:cNvSpPr/>
          <p:nvPr/>
        </p:nvSpPr>
        <p:spPr>
          <a:xfrm>
            <a:off x="8915400" y="4041648"/>
            <a:ext cx="658368" cy="850392"/>
          </a:xfrm>
          <a:prstGeom prst="line">
            <a:avLst/>
          </a:prstGeom>
          <a:noFill/>
          <a:ln w="15875">
            <a:solidFill>
              <a:srgbClr val="C3BCAC"/>
            </a:solidFill>
            <a:prstDash val="solid"/>
          </a:ln>
        </p:spPr>
        <p:txBody>
          <a:bodyPr/>
          <a:lstStyle/>
          <a:p>
            <a:endParaRPr lang="en-BD"/>
          </a:p>
        </p:txBody>
      </p:sp>
      <p:sp>
        <p:nvSpPr>
          <p:cNvPr id="27" name="empty custodian slot">
            <a:extLst>
              <a:ext uri="{C183D7F6-B498-43B3-948B-1728B52AA6E4}">
                <adec:decorative xmlns:adec="http://schemas.microsoft.com/office/drawing/2017/decorative" val="1"/>
              </a:ext>
            </a:extLst>
          </p:cNvPr>
          <p:cNvSpPr/>
          <p:nvPr/>
        </p:nvSpPr>
        <p:spPr>
          <a:xfrm>
            <a:off x="7781544" y="2560320"/>
            <a:ext cx="2103120" cy="1737360"/>
          </a:xfrm>
          <a:prstGeom prst="ellipse">
            <a:avLst/>
          </a:prstGeom>
          <a:solidFill>
            <a:srgbClr val="EDEAE0"/>
          </a:solidFill>
          <a:ln w="28575">
            <a:solidFill>
              <a:srgbClr val="B08A3E"/>
            </a:solidFill>
            <a:prstDash val="dash"/>
          </a:ln>
        </p:spPr>
        <p:txBody>
          <a:bodyPr/>
          <a:lstStyle/>
          <a:p>
            <a:endParaRPr lang="en-BD"/>
          </a:p>
        </p:txBody>
      </p:sp>
      <p:sp>
        <p:nvSpPr>
          <p:cNvPr id="28" name="Text 25"/>
          <p:cNvSpPr/>
          <p:nvPr/>
        </p:nvSpPr>
        <p:spPr>
          <a:xfrm>
            <a:off x="7827264" y="3172968"/>
            <a:ext cx="2011680" cy="548640"/>
          </a:xfrm>
          <a:prstGeom prst="rect">
            <a:avLst/>
          </a:prstGeom>
          <a:noFill/>
          <a:ln/>
        </p:spPr>
        <p:txBody>
          <a:bodyPr wrap="square" lIns="0" tIns="0" rIns="0" bIns="0" rtlCol="0" anchor="ctr"/>
          <a:lstStyle/>
          <a:p>
            <a:pPr marL="0" indent="0" algn="ctr">
              <a:buNone/>
            </a:pPr>
            <a:r>
              <a:rPr lang="en-US" sz="1600" b="1" dirty="0">
                <a:solidFill>
                  <a:srgbClr val="162034"/>
                </a:solidFill>
                <a:latin typeface="Inter" pitchFamily="34" charset="0"/>
                <a:ea typeface="Inter" pitchFamily="34" charset="-122"/>
                <a:cs typeface="Inter" pitchFamily="34" charset="-120"/>
              </a:rPr>
              <a:t>no neutral party</a:t>
            </a:r>
            <a:endParaRPr lang="en-US" sz="16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44"/>
        </a:solidFill>
        <a:effectLst/>
      </p:bgPr>
    </p:bg>
    <p:spTree>
      <p:nvGrpSpPr>
        <p:cNvPr id="1" name=""/>
        <p:cNvGrpSpPr/>
        <p:nvPr/>
      </p:nvGrpSpPr>
      <p:grpSpPr>
        <a:xfrm>
          <a:off x="0" y="0"/>
          <a:ext cx="0" cy="0"/>
          <a:chOff x="0" y="0"/>
          <a:chExt cx="0" cy="0"/>
        </a:xfrm>
      </p:grpSpPr>
      <p:pic>
        <p:nvPicPr>
          <p:cNvPr id="3" name="Image 0" descr="Extruded ledger block with brass bevelled edges beside a document shielded behind a wall"/>
          <p:cNvPicPr>
            <a:picLocks noChangeAspect="1"/>
          </p:cNvPicPr>
          <p:nvPr/>
        </p:nvPicPr>
        <p:blipFill>
          <a:blip r:embed="rId3"/>
          <a:srcRect l="31491" r="31491"/>
          <a:stretch/>
        </p:blipFill>
        <p:spPr>
          <a:xfrm>
            <a:off x="7680960" y="0"/>
            <a:ext cx="4510735" cy="6858000"/>
          </a:xfrm>
          <a:prstGeom prst="rect">
            <a:avLst/>
          </a:prstGeom>
        </p:spPr>
      </p:pic>
      <p:sp>
        <p:nvSpPr>
          <p:cNvPr id="4" name="scrim">
            <a:extLst>
              <a:ext uri="{C183D7F6-B498-43B3-948B-1728B52AA6E4}">
                <adec:decorative xmlns:adec="http://schemas.microsoft.com/office/drawing/2017/decorative" val="1"/>
              </a:ext>
            </a:extLst>
          </p:cNvPr>
          <p:cNvSpPr/>
          <p:nvPr/>
        </p:nvSpPr>
        <p:spPr>
          <a:xfrm>
            <a:off x="0" y="0"/>
            <a:ext cx="7680960" cy="6858000"/>
          </a:xfrm>
          <a:prstGeom prst="rect">
            <a:avLst/>
          </a:prstGeom>
          <a:solidFill>
            <a:srgbClr val="1E2A44">
              <a:alpha val="94000"/>
            </a:srgbClr>
          </a:solidFill>
          <a:ln/>
        </p:spPr>
        <p:txBody>
          <a:bodyPr/>
          <a:lstStyle/>
          <a:p>
            <a:endParaRPr lang="en-BD"/>
          </a:p>
        </p:txBody>
      </p:sp>
      <p:sp>
        <p:nvSpPr>
          <p:cNvPr id="5" name="Text 1"/>
          <p:cNvSpPr/>
          <p:nvPr/>
        </p:nvSpPr>
        <p:spPr>
          <a:xfrm>
            <a:off x="777240" y="777240"/>
            <a:ext cx="5852160" cy="2194560"/>
          </a:xfrm>
          <a:prstGeom prst="rect">
            <a:avLst/>
          </a:prstGeom>
          <a:noFill/>
          <a:ln/>
        </p:spPr>
        <p:txBody>
          <a:bodyPr wrap="square" lIns="0" tIns="0" rIns="0" bIns="0" rtlCol="0" anchor="t"/>
          <a:lstStyle/>
          <a:p>
            <a:pPr marL="0" indent="0" algn="l">
              <a:lnSpc>
                <a:spcPct val="105000"/>
              </a:lnSpc>
              <a:buNone/>
            </a:pPr>
            <a:r>
              <a:rPr lang="en-US" sz="4000" b="1" dirty="0">
                <a:solidFill>
                  <a:srgbClr val="EDEAE0"/>
                </a:solidFill>
                <a:latin typeface="Fraunces" pitchFamily="34" charset="0"/>
                <a:ea typeface="Fraunces" pitchFamily="34" charset="-122"/>
                <a:cs typeface="Fraunces" pitchFamily="34" charset="-120"/>
              </a:rPr>
              <a:t>What goes on the chain, and what never does.</a:t>
            </a:r>
            <a:endParaRPr lang="en-US" sz="4000" dirty="0"/>
          </a:p>
        </p:txBody>
      </p:sp>
      <p:sp>
        <p:nvSpPr>
          <p:cNvPr id="6" name="accent rule">
            <a:extLst>
              <a:ext uri="{C183D7F6-B498-43B3-948B-1728B52AA6E4}">
                <adec:decorative xmlns:adec="http://schemas.microsoft.com/office/drawing/2017/decorative" val="1"/>
              </a:ext>
            </a:extLst>
          </p:cNvPr>
          <p:cNvSpPr/>
          <p:nvPr/>
        </p:nvSpPr>
        <p:spPr>
          <a:xfrm>
            <a:off x="822960" y="2697480"/>
            <a:ext cx="1005840" cy="50292"/>
          </a:xfrm>
          <a:prstGeom prst="rect">
            <a:avLst/>
          </a:prstGeom>
          <a:solidFill>
            <a:srgbClr val="B08A3E"/>
          </a:solidFill>
          <a:ln/>
        </p:spPr>
        <p:txBody>
          <a:bodyPr/>
          <a:lstStyle/>
          <a:p>
            <a:endParaRPr lang="en-BD"/>
          </a:p>
        </p:txBody>
      </p:sp>
      <p:sp>
        <p:nvSpPr>
          <p:cNvPr id="7" name="Text 3"/>
          <p:cNvSpPr/>
          <p:nvPr/>
        </p:nvSpPr>
        <p:spPr>
          <a:xfrm>
            <a:off x="777240" y="3063240"/>
            <a:ext cx="2834640" cy="365760"/>
          </a:xfrm>
          <a:prstGeom prst="rect">
            <a:avLst/>
          </a:prstGeom>
          <a:noFill/>
          <a:ln/>
        </p:spPr>
        <p:txBody>
          <a:bodyPr wrap="square" lIns="0" tIns="0" rIns="0" bIns="0" rtlCol="0" anchor="ctr"/>
          <a:lstStyle/>
          <a:p>
            <a:pPr marL="0" indent="0">
              <a:buNone/>
            </a:pPr>
            <a:r>
              <a:rPr lang="en-US" sz="1500" b="1" kern="0" spc="200" dirty="0">
                <a:solidFill>
                  <a:srgbClr val="B08A3E"/>
                </a:solidFill>
                <a:latin typeface="IBM Plex Mono" pitchFamily="34" charset="0"/>
                <a:ea typeface="IBM Plex Mono" pitchFamily="34" charset="-122"/>
                <a:cs typeface="IBM Plex Mono" pitchFamily="34" charset="-120"/>
              </a:rPr>
              <a:t>ON-CHAIN</a:t>
            </a:r>
            <a:endParaRPr lang="en-US" sz="1500" dirty="0"/>
          </a:p>
        </p:txBody>
      </p:sp>
      <p:sp>
        <p:nvSpPr>
          <p:cNvPr id="8" name="Text 4"/>
          <p:cNvSpPr/>
          <p:nvPr/>
        </p:nvSpPr>
        <p:spPr>
          <a:xfrm>
            <a:off x="777240" y="3474720"/>
            <a:ext cx="3017520" cy="1097280"/>
          </a:xfrm>
          <a:prstGeom prst="rect">
            <a:avLst/>
          </a:prstGeom>
          <a:noFill/>
          <a:ln/>
        </p:spPr>
        <p:txBody>
          <a:bodyPr wrap="square" lIns="0" tIns="0" rIns="0" bIns="0" rtlCol="0" anchor="ctr"/>
          <a:lstStyle/>
          <a:p>
            <a:pPr marL="0" indent="0">
              <a:lnSpc>
                <a:spcPct val="125000"/>
              </a:lnSpc>
              <a:buNone/>
            </a:pPr>
            <a:r>
              <a:rPr lang="en-US" sz="1900" dirty="0">
                <a:solidFill>
                  <a:srgbClr val="EDEAE0"/>
                </a:solidFill>
                <a:latin typeface="Inter" pitchFamily="34" charset="0"/>
                <a:ea typeface="Inter" pitchFamily="34" charset="-122"/>
                <a:cs typeface="Inter" pitchFamily="34" charset="-120"/>
              </a:rPr>
              <a:t>Root hashes.  Metadata.</a:t>
            </a:r>
            <a:endParaRPr lang="en-US" sz="1900" dirty="0"/>
          </a:p>
          <a:p>
            <a:pPr marL="0" indent="0">
              <a:lnSpc>
                <a:spcPct val="125000"/>
              </a:lnSpc>
              <a:buNone/>
            </a:pPr>
            <a:r>
              <a:rPr lang="en-US" sz="1900" dirty="0">
                <a:solidFill>
                  <a:srgbClr val="EDEAE0"/>
                </a:solidFill>
                <a:latin typeface="Inter" pitchFamily="34" charset="0"/>
                <a:ea typeface="Inter" pitchFamily="34" charset="-122"/>
                <a:cs typeface="Inter" pitchFamily="34" charset="-120"/>
              </a:rPr>
              <a:t>Access grants.  Model decisions.</a:t>
            </a:r>
            <a:endParaRPr lang="en-US" sz="1900" dirty="0"/>
          </a:p>
        </p:txBody>
      </p:sp>
      <p:sp>
        <p:nvSpPr>
          <p:cNvPr id="9" name="divider">
            <a:extLst>
              <a:ext uri="{C183D7F6-B498-43B3-948B-1728B52AA6E4}">
                <adec:decorative xmlns:adec="http://schemas.microsoft.com/office/drawing/2017/decorative" val="1"/>
              </a:ext>
            </a:extLst>
          </p:cNvPr>
          <p:cNvSpPr/>
          <p:nvPr/>
        </p:nvSpPr>
        <p:spPr>
          <a:xfrm>
            <a:off x="4069080" y="3063240"/>
            <a:ext cx="32004" cy="2194560"/>
          </a:xfrm>
          <a:prstGeom prst="rect">
            <a:avLst/>
          </a:prstGeom>
          <a:solidFill>
            <a:srgbClr val="51607E"/>
          </a:solidFill>
          <a:ln/>
        </p:spPr>
        <p:txBody>
          <a:bodyPr/>
          <a:lstStyle/>
          <a:p>
            <a:endParaRPr lang="en-BD"/>
          </a:p>
        </p:txBody>
      </p:sp>
      <p:sp>
        <p:nvSpPr>
          <p:cNvPr id="10" name="Text 6"/>
          <p:cNvSpPr/>
          <p:nvPr/>
        </p:nvSpPr>
        <p:spPr>
          <a:xfrm>
            <a:off x="4389120" y="3063240"/>
            <a:ext cx="3108960" cy="365760"/>
          </a:xfrm>
          <a:prstGeom prst="rect">
            <a:avLst/>
          </a:prstGeom>
          <a:noFill/>
          <a:ln/>
        </p:spPr>
        <p:txBody>
          <a:bodyPr wrap="square" lIns="0" tIns="0" rIns="0" bIns="0" rtlCol="0" anchor="ctr"/>
          <a:lstStyle/>
          <a:p>
            <a:pPr marL="0" indent="0">
              <a:buNone/>
            </a:pPr>
            <a:r>
              <a:rPr lang="en-US" sz="1500" b="1" kern="0" spc="200" dirty="0">
                <a:solidFill>
                  <a:srgbClr val="C6CCDA"/>
                </a:solidFill>
                <a:latin typeface="IBM Plex Mono" pitchFamily="34" charset="0"/>
                <a:ea typeface="IBM Plex Mono" pitchFamily="34" charset="-122"/>
                <a:cs typeface="IBM Plex Mono" pitchFamily="34" charset="-120"/>
              </a:rPr>
              <a:t>NEVER ON-CHAIN</a:t>
            </a:r>
            <a:endParaRPr lang="en-US" sz="1500" dirty="0"/>
          </a:p>
        </p:txBody>
      </p:sp>
      <p:sp>
        <p:nvSpPr>
          <p:cNvPr id="11" name="Text 7"/>
          <p:cNvSpPr/>
          <p:nvPr/>
        </p:nvSpPr>
        <p:spPr>
          <a:xfrm>
            <a:off x="4389120" y="3474720"/>
            <a:ext cx="2926080" cy="1097280"/>
          </a:xfrm>
          <a:prstGeom prst="rect">
            <a:avLst/>
          </a:prstGeom>
          <a:noFill/>
          <a:ln/>
        </p:spPr>
        <p:txBody>
          <a:bodyPr wrap="square" lIns="0" tIns="0" rIns="0" bIns="0" rtlCol="0" anchor="ctr"/>
          <a:lstStyle/>
          <a:p>
            <a:pPr marL="0" indent="0">
              <a:lnSpc>
                <a:spcPct val="125000"/>
              </a:lnSpc>
              <a:buNone/>
            </a:pPr>
            <a:r>
              <a:rPr lang="en-US" sz="1900" dirty="0">
                <a:solidFill>
                  <a:srgbClr val="EDEAE0"/>
                </a:solidFill>
                <a:latin typeface="Inter" pitchFamily="34" charset="0"/>
                <a:ea typeface="Inter" pitchFamily="34" charset="-122"/>
                <a:cs typeface="Inter" pitchFamily="34" charset="-120"/>
              </a:rPr>
              <a:t>The document.  Worker names.</a:t>
            </a:r>
            <a:endParaRPr lang="en-US" sz="1900" dirty="0"/>
          </a:p>
          <a:p>
            <a:pPr marL="0" indent="0">
              <a:lnSpc>
                <a:spcPct val="125000"/>
              </a:lnSpc>
              <a:buNone/>
            </a:pPr>
            <a:r>
              <a:rPr lang="en-US" sz="1900" dirty="0">
                <a:solidFill>
                  <a:srgbClr val="EDEAE0"/>
                </a:solidFill>
                <a:latin typeface="Inter" pitchFamily="34" charset="0"/>
                <a:ea typeface="Inter" pitchFamily="34" charset="-122"/>
                <a:cs typeface="Inter" pitchFamily="34" charset="-120"/>
              </a:rPr>
              <a:t>Wages.  National IDs.  Model weights.</a:t>
            </a:r>
            <a:endParaRPr lang="en-US" sz="1900" dirty="0"/>
          </a:p>
        </p:txBody>
      </p:sp>
      <p:sp>
        <p:nvSpPr>
          <p:cNvPr id="12" name="status chip">
            <a:extLst>
              <a:ext uri="{C183D7F6-B498-43B3-948B-1728B52AA6E4}">
                <adec:decorative xmlns:adec="http://schemas.microsoft.com/office/drawing/2017/decorative" val="1"/>
              </a:ext>
            </a:extLst>
          </p:cNvPr>
          <p:cNvSpPr/>
          <p:nvPr/>
        </p:nvSpPr>
        <p:spPr>
          <a:xfrm>
            <a:off x="4389120" y="5029200"/>
            <a:ext cx="2834640" cy="457200"/>
          </a:xfrm>
          <a:prstGeom prst="rect">
            <a:avLst/>
          </a:prstGeom>
          <a:solidFill>
            <a:srgbClr val="2E6B5E"/>
          </a:solidFill>
          <a:ln/>
        </p:spPr>
        <p:txBody>
          <a:bodyPr/>
          <a:lstStyle/>
          <a:p>
            <a:endParaRPr lang="en-BD"/>
          </a:p>
        </p:txBody>
      </p:sp>
      <p:sp>
        <p:nvSpPr>
          <p:cNvPr id="13" name="Text 9"/>
          <p:cNvSpPr/>
          <p:nvPr/>
        </p:nvSpPr>
        <p:spPr>
          <a:xfrm>
            <a:off x="777240" y="5715000"/>
            <a:ext cx="6583680" cy="457200"/>
          </a:xfrm>
          <a:prstGeom prst="rect">
            <a:avLst/>
          </a:prstGeom>
          <a:noFill/>
          <a:ln/>
        </p:spPr>
        <p:txBody>
          <a:bodyPr wrap="square" lIns="0" tIns="0" rIns="0" bIns="0" rtlCol="0" anchor="ctr"/>
          <a:lstStyle/>
          <a:p>
            <a:pPr marL="0" indent="0">
              <a:buNone/>
            </a:pPr>
            <a:r>
              <a:rPr lang="en-US" sz="1500" dirty="0">
                <a:solidFill>
                  <a:srgbClr val="8FA0C0"/>
                </a:solidFill>
                <a:latin typeface="IBM Plex Mono" pitchFamily="34" charset="0"/>
                <a:ea typeface="IBM Plex Mono" pitchFamily="34" charset="-122"/>
                <a:cs typeface="IBM Plex Mono" pitchFamily="34" charset="-120"/>
              </a:rPr>
              <a:t>Why not a database: the chain holds commitments, not data.</a:t>
            </a:r>
            <a:endParaRPr lang="en-US" sz="1500" dirty="0"/>
          </a:p>
        </p:txBody>
      </p:sp>
      <p:sp>
        <p:nvSpPr>
          <p:cNvPr id="14" name="Text 10"/>
          <p:cNvSpPr/>
          <p:nvPr/>
        </p:nvSpPr>
        <p:spPr>
          <a:xfrm>
            <a:off x="4434840" y="5074920"/>
            <a:ext cx="274320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stays here, stays deletable</a:t>
            </a:r>
            <a:endParaRPr lang="en-US" sz="14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640080"/>
            <a:ext cx="7863840" cy="1234440"/>
          </a:xfrm>
          <a:prstGeom prst="rect">
            <a:avLst/>
          </a:prstGeom>
          <a:noFill/>
          <a:ln/>
        </p:spPr>
        <p:txBody>
          <a:bodyPr wrap="square" lIns="0" tIns="0" rIns="0" bIns="0" rtlCol="0" anchor="t"/>
          <a:lstStyle/>
          <a:p>
            <a:pPr marL="0" indent="0" algn="l">
              <a:lnSpc>
                <a:spcPct val="105000"/>
              </a:lnSpc>
              <a:buNone/>
            </a:pPr>
            <a:r>
              <a:rPr lang="en-US" sz="4000" b="1" dirty="0">
                <a:solidFill>
                  <a:srgbClr val="162034"/>
                </a:solidFill>
                <a:latin typeface="Fraunces" pitchFamily="34" charset="0"/>
                <a:ea typeface="Fraunces" pitchFamily="34" charset="-122"/>
                <a:cs typeface="Fraunces" pitchFamily="34" charset="-120"/>
              </a:rPr>
              <a:t>One row. Eleven hashes.</a:t>
            </a:r>
            <a:endParaRPr lang="en-US" sz="4000" dirty="0"/>
          </a:p>
          <a:p>
            <a:pPr marL="0" indent="0" algn="l">
              <a:lnSpc>
                <a:spcPct val="105000"/>
              </a:lnSpc>
              <a:buNone/>
            </a:pPr>
            <a:r>
              <a:rPr lang="en-US" sz="4000" b="1" dirty="0">
                <a:solidFill>
                  <a:srgbClr val="162034"/>
                </a:solidFill>
                <a:latin typeface="Fraunces" pitchFamily="34" charset="0"/>
                <a:ea typeface="Fraunces" pitchFamily="34" charset="-122"/>
                <a:cs typeface="Fraunces" pitchFamily="34" charset="-120"/>
              </a:rPr>
              <a:t>Nothing else moves.</a:t>
            </a:r>
            <a:endParaRPr lang="en-US" sz="4000" dirty="0"/>
          </a:p>
        </p:txBody>
      </p:sp>
      <p:sp>
        <p:nvSpPr>
          <p:cNvPr id="4" name="accent rule">
            <a:extLst>
              <a:ext uri="{C183D7F6-B498-43B3-948B-1728B52AA6E4}">
                <adec:decorative xmlns:adec="http://schemas.microsoft.com/office/drawing/2017/decorative" val="1"/>
              </a:ext>
            </a:extLst>
          </p:cNvPr>
          <p:cNvSpPr/>
          <p:nvPr/>
        </p:nvSpPr>
        <p:spPr>
          <a:xfrm>
            <a:off x="777240" y="384048"/>
            <a:ext cx="1005840" cy="50292"/>
          </a:xfrm>
          <a:prstGeom prst="rect">
            <a:avLst/>
          </a:prstGeom>
          <a:solidFill>
            <a:srgbClr val="B08A3E"/>
          </a:solidFill>
          <a:ln/>
        </p:spPr>
        <p:txBody>
          <a:bodyPr/>
          <a:lstStyle/>
          <a:p>
            <a:endParaRPr lang="en-BD"/>
          </a:p>
        </p:txBody>
      </p:sp>
      <p:sp>
        <p:nvSpPr>
          <p:cNvPr id="5" name="connector">
            <a:extLst>
              <a:ext uri="{C183D7F6-B498-43B3-948B-1728B52AA6E4}">
                <adec:decorative xmlns:adec="http://schemas.microsoft.com/office/drawing/2017/decorative" val="1"/>
              </a:ext>
            </a:extLst>
          </p:cNvPr>
          <p:cNvSpPr/>
          <p:nvPr/>
        </p:nvSpPr>
        <p:spPr>
          <a:xfrm flipH="1">
            <a:off x="1106424" y="4480560"/>
            <a:ext cx="461772" cy="594360"/>
          </a:xfrm>
          <a:prstGeom prst="line">
            <a:avLst/>
          </a:prstGeom>
          <a:noFill/>
          <a:ln w="13970">
            <a:solidFill>
              <a:srgbClr val="CFC8B8"/>
            </a:solidFill>
            <a:prstDash val="solid"/>
          </a:ln>
        </p:spPr>
        <p:txBody>
          <a:bodyPr/>
          <a:lstStyle/>
          <a:p>
            <a:endParaRPr lang="en-BD"/>
          </a:p>
        </p:txBody>
      </p:sp>
      <p:sp>
        <p:nvSpPr>
          <p:cNvPr id="6" name="connector">
            <a:extLst>
              <a:ext uri="{C183D7F6-B498-43B3-948B-1728B52AA6E4}">
                <adec:decorative xmlns:adec="http://schemas.microsoft.com/office/drawing/2017/decorative" val="1"/>
              </a:ext>
            </a:extLst>
          </p:cNvPr>
          <p:cNvSpPr/>
          <p:nvPr/>
        </p:nvSpPr>
        <p:spPr>
          <a:xfrm>
            <a:off x="2555748" y="4544568"/>
            <a:ext cx="219456" cy="493776"/>
          </a:xfrm>
          <a:prstGeom prst="line">
            <a:avLst/>
          </a:prstGeom>
          <a:noFill/>
          <a:ln w="13970">
            <a:solidFill>
              <a:srgbClr val="CFC8B8"/>
            </a:solidFill>
            <a:prstDash val="solid"/>
          </a:ln>
        </p:spPr>
        <p:txBody>
          <a:bodyPr/>
          <a:lstStyle/>
          <a:p>
            <a:endParaRPr lang="en-BD"/>
          </a:p>
        </p:txBody>
      </p:sp>
      <p:sp>
        <p:nvSpPr>
          <p:cNvPr id="7" name="connector">
            <a:extLst>
              <a:ext uri="{C183D7F6-B498-43B3-948B-1728B52AA6E4}">
                <adec:decorative xmlns:adec="http://schemas.microsoft.com/office/drawing/2017/decorative" val="1"/>
              </a:ext>
            </a:extLst>
          </p:cNvPr>
          <p:cNvSpPr/>
          <p:nvPr/>
        </p:nvSpPr>
        <p:spPr>
          <a:xfrm flipH="1">
            <a:off x="3982212" y="4498848"/>
            <a:ext cx="242316" cy="612648"/>
          </a:xfrm>
          <a:prstGeom prst="line">
            <a:avLst/>
          </a:prstGeom>
          <a:noFill/>
          <a:ln w="13970">
            <a:solidFill>
              <a:srgbClr val="CFC8B8"/>
            </a:solidFill>
            <a:prstDash val="solid"/>
          </a:ln>
        </p:spPr>
        <p:txBody>
          <a:bodyPr/>
          <a:lstStyle/>
          <a:p>
            <a:endParaRPr lang="en-BD"/>
          </a:p>
        </p:txBody>
      </p:sp>
      <p:sp>
        <p:nvSpPr>
          <p:cNvPr id="8" name="connector">
            <a:extLst>
              <a:ext uri="{C183D7F6-B498-43B3-948B-1728B52AA6E4}">
                <adec:decorative xmlns:adec="http://schemas.microsoft.com/office/drawing/2017/decorative" val="1"/>
              </a:ext>
            </a:extLst>
          </p:cNvPr>
          <p:cNvSpPr/>
          <p:nvPr/>
        </p:nvSpPr>
        <p:spPr>
          <a:xfrm>
            <a:off x="5079492" y="4498848"/>
            <a:ext cx="109728" cy="566928"/>
          </a:xfrm>
          <a:prstGeom prst="line">
            <a:avLst/>
          </a:prstGeom>
          <a:noFill/>
          <a:ln w="31750">
            <a:solidFill>
              <a:srgbClr val="B08A3E"/>
            </a:solidFill>
            <a:prstDash val="solid"/>
          </a:ln>
        </p:spPr>
        <p:txBody>
          <a:bodyPr/>
          <a:lstStyle/>
          <a:p>
            <a:endParaRPr lang="en-BD"/>
          </a:p>
        </p:txBody>
      </p:sp>
      <p:sp>
        <p:nvSpPr>
          <p:cNvPr id="9" name="connector">
            <a:extLst>
              <a:ext uri="{C183D7F6-B498-43B3-948B-1728B52AA6E4}">
                <adec:decorative xmlns:adec="http://schemas.microsoft.com/office/drawing/2017/decorative" val="1"/>
              </a:ext>
            </a:extLst>
          </p:cNvPr>
          <p:cNvSpPr/>
          <p:nvPr/>
        </p:nvSpPr>
        <p:spPr>
          <a:xfrm flipH="1">
            <a:off x="6615684" y="4571998"/>
            <a:ext cx="438912" cy="530352"/>
          </a:xfrm>
          <a:prstGeom prst="line">
            <a:avLst/>
          </a:prstGeom>
          <a:noFill/>
          <a:ln w="13970">
            <a:solidFill>
              <a:srgbClr val="CFC8B8"/>
            </a:solidFill>
            <a:prstDash val="solid"/>
          </a:ln>
        </p:spPr>
        <p:txBody>
          <a:bodyPr/>
          <a:lstStyle/>
          <a:p>
            <a:endParaRPr lang="en-BD"/>
          </a:p>
        </p:txBody>
      </p:sp>
      <p:sp>
        <p:nvSpPr>
          <p:cNvPr id="10" name="connector">
            <a:extLst>
              <a:ext uri="{C183D7F6-B498-43B3-948B-1728B52AA6E4}">
                <adec:decorative xmlns:adec="http://schemas.microsoft.com/office/drawing/2017/decorative" val="1"/>
              </a:ext>
            </a:extLst>
          </p:cNvPr>
          <p:cNvSpPr/>
          <p:nvPr/>
        </p:nvSpPr>
        <p:spPr>
          <a:xfrm>
            <a:off x="7603236" y="4544568"/>
            <a:ext cx="352044" cy="521208"/>
          </a:xfrm>
          <a:prstGeom prst="line">
            <a:avLst/>
          </a:prstGeom>
          <a:noFill/>
          <a:ln w="13970">
            <a:solidFill>
              <a:srgbClr val="CFC8B8"/>
            </a:solidFill>
            <a:prstDash val="solid"/>
          </a:ln>
        </p:spPr>
        <p:txBody>
          <a:bodyPr/>
          <a:lstStyle/>
          <a:p>
            <a:endParaRPr lang="en-BD"/>
          </a:p>
        </p:txBody>
      </p:sp>
      <p:sp>
        <p:nvSpPr>
          <p:cNvPr id="11" name="connector">
            <a:extLst>
              <a:ext uri="{C183D7F6-B498-43B3-948B-1728B52AA6E4}">
                <adec:decorative xmlns:adec="http://schemas.microsoft.com/office/drawing/2017/decorative" val="1"/>
              </a:ext>
            </a:extLst>
          </p:cNvPr>
          <p:cNvSpPr/>
          <p:nvPr/>
        </p:nvSpPr>
        <p:spPr>
          <a:xfrm flipV="1">
            <a:off x="9139428" y="4480560"/>
            <a:ext cx="790956" cy="630936"/>
          </a:xfrm>
          <a:prstGeom prst="line">
            <a:avLst/>
          </a:prstGeom>
          <a:noFill/>
          <a:ln w="13970">
            <a:solidFill>
              <a:srgbClr val="CFC8B8"/>
            </a:solidFill>
            <a:prstDash val="solid"/>
          </a:ln>
        </p:spPr>
        <p:txBody>
          <a:bodyPr/>
          <a:lstStyle/>
          <a:p>
            <a:endParaRPr lang="en-BD"/>
          </a:p>
        </p:txBody>
      </p:sp>
      <p:sp>
        <p:nvSpPr>
          <p:cNvPr id="12" name="connector">
            <a:extLst>
              <a:ext uri="{C183D7F6-B498-43B3-948B-1728B52AA6E4}">
                <adec:decorative xmlns:adec="http://schemas.microsoft.com/office/drawing/2017/decorative" val="1"/>
              </a:ext>
            </a:extLst>
          </p:cNvPr>
          <p:cNvSpPr/>
          <p:nvPr/>
        </p:nvSpPr>
        <p:spPr>
          <a:xfrm>
            <a:off x="9965436" y="4560243"/>
            <a:ext cx="600456" cy="505533"/>
          </a:xfrm>
          <a:prstGeom prst="line">
            <a:avLst/>
          </a:prstGeom>
          <a:noFill/>
          <a:ln w="13970">
            <a:solidFill>
              <a:srgbClr val="CFC8B8"/>
            </a:solidFill>
            <a:prstDash val="solid"/>
          </a:ln>
        </p:spPr>
        <p:txBody>
          <a:bodyPr/>
          <a:lstStyle/>
          <a:p>
            <a:endParaRPr lang="en-BD"/>
          </a:p>
        </p:txBody>
      </p:sp>
      <p:sp>
        <p:nvSpPr>
          <p:cNvPr id="13" name="connector">
            <a:extLst>
              <a:ext uri="{C183D7F6-B498-43B3-948B-1728B52AA6E4}">
                <adec:decorative xmlns:adec="http://schemas.microsoft.com/office/drawing/2017/decorative" val="1"/>
              </a:ext>
            </a:extLst>
          </p:cNvPr>
          <p:cNvSpPr/>
          <p:nvPr/>
        </p:nvSpPr>
        <p:spPr>
          <a:xfrm flipV="1">
            <a:off x="2139696" y="3630168"/>
            <a:ext cx="694944" cy="530352"/>
          </a:xfrm>
          <a:prstGeom prst="line">
            <a:avLst/>
          </a:prstGeom>
          <a:noFill/>
          <a:ln w="13970">
            <a:solidFill>
              <a:srgbClr val="CFC8B8"/>
            </a:solidFill>
            <a:prstDash val="solid"/>
          </a:ln>
        </p:spPr>
        <p:txBody>
          <a:bodyPr/>
          <a:lstStyle/>
          <a:p>
            <a:endParaRPr lang="en-BD"/>
          </a:p>
        </p:txBody>
      </p:sp>
      <p:sp>
        <p:nvSpPr>
          <p:cNvPr id="14" name="connector">
            <a:extLst>
              <a:ext uri="{C183D7F6-B498-43B3-948B-1728B52AA6E4}">
                <adec:decorative xmlns:adec="http://schemas.microsoft.com/office/drawing/2017/decorative" val="1"/>
              </a:ext>
            </a:extLst>
          </p:cNvPr>
          <p:cNvSpPr/>
          <p:nvPr/>
        </p:nvSpPr>
        <p:spPr>
          <a:xfrm flipH="1" flipV="1">
            <a:off x="3858768" y="3566160"/>
            <a:ext cx="539496" cy="548639"/>
          </a:xfrm>
          <a:prstGeom prst="line">
            <a:avLst/>
          </a:prstGeom>
          <a:noFill/>
          <a:ln w="31750">
            <a:solidFill>
              <a:srgbClr val="B08A3E"/>
            </a:solidFill>
            <a:prstDash val="solid"/>
          </a:ln>
        </p:spPr>
        <p:txBody>
          <a:bodyPr/>
          <a:lstStyle/>
          <a:p>
            <a:endParaRPr lang="en-BD"/>
          </a:p>
        </p:txBody>
      </p:sp>
      <p:sp>
        <p:nvSpPr>
          <p:cNvPr id="15" name="connector">
            <a:extLst>
              <a:ext uri="{C183D7F6-B498-43B3-948B-1728B52AA6E4}">
                <adec:decorative xmlns:adec="http://schemas.microsoft.com/office/drawing/2017/decorative" val="1"/>
              </a:ext>
            </a:extLst>
          </p:cNvPr>
          <p:cNvSpPr/>
          <p:nvPr/>
        </p:nvSpPr>
        <p:spPr>
          <a:xfrm flipV="1">
            <a:off x="7296912" y="3685034"/>
            <a:ext cx="1097280" cy="484632"/>
          </a:xfrm>
          <a:prstGeom prst="line">
            <a:avLst/>
          </a:prstGeom>
          <a:noFill/>
          <a:ln w="13970">
            <a:solidFill>
              <a:srgbClr val="CFC8B8"/>
            </a:solidFill>
            <a:prstDash val="solid"/>
          </a:ln>
        </p:spPr>
        <p:txBody>
          <a:bodyPr/>
          <a:lstStyle/>
          <a:p>
            <a:endParaRPr lang="en-BD"/>
          </a:p>
        </p:txBody>
      </p:sp>
      <p:sp>
        <p:nvSpPr>
          <p:cNvPr id="16" name="connector">
            <a:extLst>
              <a:ext uri="{C183D7F6-B498-43B3-948B-1728B52AA6E4}">
                <adec:decorative xmlns:adec="http://schemas.microsoft.com/office/drawing/2017/decorative" val="1"/>
              </a:ext>
            </a:extLst>
          </p:cNvPr>
          <p:cNvSpPr/>
          <p:nvPr/>
        </p:nvSpPr>
        <p:spPr>
          <a:xfrm flipH="1" flipV="1">
            <a:off x="8723376" y="3675888"/>
            <a:ext cx="1097280" cy="493778"/>
          </a:xfrm>
          <a:prstGeom prst="line">
            <a:avLst/>
          </a:prstGeom>
          <a:noFill/>
          <a:ln w="13970">
            <a:solidFill>
              <a:srgbClr val="CFC8B8"/>
            </a:solidFill>
            <a:prstDash val="solid"/>
          </a:ln>
        </p:spPr>
        <p:txBody>
          <a:bodyPr/>
          <a:lstStyle/>
          <a:p>
            <a:endParaRPr lang="en-BD"/>
          </a:p>
        </p:txBody>
      </p:sp>
      <p:sp>
        <p:nvSpPr>
          <p:cNvPr id="17" name="connector">
            <a:extLst>
              <a:ext uri="{C183D7F6-B498-43B3-948B-1728B52AA6E4}">
                <adec:decorative xmlns:adec="http://schemas.microsoft.com/office/drawing/2017/decorative" val="1"/>
              </a:ext>
            </a:extLst>
          </p:cNvPr>
          <p:cNvSpPr/>
          <p:nvPr/>
        </p:nvSpPr>
        <p:spPr>
          <a:xfrm flipV="1">
            <a:off x="3346704" y="2907791"/>
            <a:ext cx="2286000" cy="411480"/>
          </a:xfrm>
          <a:prstGeom prst="line">
            <a:avLst/>
          </a:prstGeom>
          <a:noFill/>
          <a:ln w="31750">
            <a:solidFill>
              <a:srgbClr val="B08A3E"/>
            </a:solidFill>
            <a:prstDash val="solid"/>
          </a:ln>
        </p:spPr>
        <p:txBody>
          <a:bodyPr/>
          <a:lstStyle/>
          <a:p>
            <a:endParaRPr lang="en-BD"/>
          </a:p>
        </p:txBody>
      </p:sp>
      <p:sp>
        <p:nvSpPr>
          <p:cNvPr id="18" name="connector">
            <a:extLst>
              <a:ext uri="{C183D7F6-B498-43B3-948B-1728B52AA6E4}">
                <adec:decorative xmlns:adec="http://schemas.microsoft.com/office/drawing/2017/decorative" val="1"/>
              </a:ext>
            </a:extLst>
          </p:cNvPr>
          <p:cNvSpPr/>
          <p:nvPr/>
        </p:nvSpPr>
        <p:spPr>
          <a:xfrm flipH="1" flipV="1">
            <a:off x="6089904" y="2880359"/>
            <a:ext cx="1997964" cy="438911"/>
          </a:xfrm>
          <a:prstGeom prst="line">
            <a:avLst/>
          </a:prstGeom>
          <a:noFill/>
          <a:ln w="13970">
            <a:solidFill>
              <a:srgbClr val="CFC8B8"/>
            </a:solidFill>
            <a:prstDash val="solid"/>
          </a:ln>
        </p:spPr>
        <p:txBody>
          <a:bodyPr/>
          <a:lstStyle/>
          <a:p>
            <a:endParaRPr lang="en-BD"/>
          </a:p>
        </p:txBody>
      </p:sp>
      <p:sp>
        <p:nvSpPr>
          <p:cNvPr id="19" name="merkle node">
            <a:extLst>
              <a:ext uri="{C183D7F6-B498-43B3-948B-1728B52AA6E4}">
                <adec:decorative xmlns:adec="http://schemas.microsoft.com/office/drawing/2017/decorative" val="1"/>
              </a:ext>
            </a:extLst>
          </p:cNvPr>
          <p:cNvSpPr/>
          <p:nvPr/>
        </p:nvSpPr>
        <p:spPr>
          <a:xfrm>
            <a:off x="5111496" y="2468880"/>
            <a:ext cx="1737360" cy="457200"/>
          </a:xfrm>
          <a:prstGeom prst="rect">
            <a:avLst/>
          </a:prstGeom>
          <a:solidFill>
            <a:srgbClr val="1E2A44"/>
          </a:solidFill>
          <a:ln/>
        </p:spPr>
        <p:txBody>
          <a:bodyPr/>
          <a:lstStyle/>
          <a:p>
            <a:endParaRPr lang="en-BD"/>
          </a:p>
        </p:txBody>
      </p:sp>
      <p:sp>
        <p:nvSpPr>
          <p:cNvPr id="20" name="merkle node">
            <a:extLst>
              <a:ext uri="{C183D7F6-B498-43B3-948B-1728B52AA6E4}">
                <adec:decorative xmlns:adec="http://schemas.microsoft.com/office/drawing/2017/decorative" val="1"/>
              </a:ext>
            </a:extLst>
          </p:cNvPr>
          <p:cNvSpPr/>
          <p:nvPr/>
        </p:nvSpPr>
        <p:spPr>
          <a:xfrm>
            <a:off x="2820924" y="3291840"/>
            <a:ext cx="1051560" cy="384048"/>
          </a:xfrm>
          <a:prstGeom prst="rect">
            <a:avLst/>
          </a:prstGeom>
          <a:solidFill>
            <a:srgbClr val="B08A3E"/>
          </a:solidFill>
          <a:ln/>
        </p:spPr>
        <p:txBody>
          <a:bodyPr/>
          <a:lstStyle/>
          <a:p>
            <a:endParaRPr lang="en-BD"/>
          </a:p>
        </p:txBody>
      </p:sp>
      <p:sp>
        <p:nvSpPr>
          <p:cNvPr id="21" name="Text 18">
            <a:extLst>
              <a:ext uri="{C183D7F6-B498-43B3-948B-1728B52AA6E4}">
                <adec:decorative xmlns:adec="http://schemas.microsoft.com/office/drawing/2017/decorative" val="0"/>
              </a:ext>
            </a:extLst>
          </p:cNvPr>
          <p:cNvSpPr/>
          <p:nvPr/>
        </p:nvSpPr>
        <p:spPr>
          <a:xfrm>
            <a:off x="2820924" y="3374136"/>
            <a:ext cx="1051560" cy="256032"/>
          </a:xfrm>
          <a:prstGeom prst="rect">
            <a:avLst/>
          </a:prstGeom>
          <a:noFill/>
          <a:ln/>
        </p:spPr>
        <p:txBody>
          <a:bodyPr wrap="square" lIns="0" tIns="0" rIns="0" bIns="0" rtlCol="0" anchor="ctr"/>
          <a:lstStyle/>
          <a:p>
            <a:pPr marL="0" indent="0" algn="ctr">
              <a:buNone/>
            </a:pPr>
            <a:r>
              <a:rPr lang="en-US" sz="900" dirty="0">
                <a:solidFill>
                  <a:srgbClr val="2B1F06"/>
                </a:solidFill>
                <a:latin typeface="IBM Plex Mono" pitchFamily="34" charset="0"/>
                <a:ea typeface="IBM Plex Mono" pitchFamily="34" charset="-122"/>
                <a:cs typeface="IBM Plex Mono" pitchFamily="34" charset="-120"/>
              </a:rPr>
              <a:t>on path</a:t>
            </a:r>
            <a:endParaRPr lang="en-US" sz="900" dirty="0"/>
          </a:p>
        </p:txBody>
      </p:sp>
      <p:sp>
        <p:nvSpPr>
          <p:cNvPr id="22" name="merkle node">
            <a:extLst>
              <a:ext uri="{C183D7F6-B498-43B3-948B-1728B52AA6E4}">
                <adec:decorative xmlns:adec="http://schemas.microsoft.com/office/drawing/2017/decorative" val="1"/>
              </a:ext>
            </a:extLst>
          </p:cNvPr>
          <p:cNvSpPr/>
          <p:nvPr/>
        </p:nvSpPr>
        <p:spPr>
          <a:xfrm>
            <a:off x="8087868" y="3291840"/>
            <a:ext cx="1051560" cy="384048"/>
          </a:xfrm>
          <a:prstGeom prst="rect">
            <a:avLst/>
          </a:prstGeom>
          <a:solidFill>
            <a:srgbClr val="DFD9CB"/>
          </a:solidFill>
          <a:ln/>
        </p:spPr>
        <p:txBody>
          <a:bodyPr/>
          <a:lstStyle/>
          <a:p>
            <a:endParaRPr lang="en-BD"/>
          </a:p>
        </p:txBody>
      </p:sp>
      <p:sp>
        <p:nvSpPr>
          <p:cNvPr id="23" name="Text 20"/>
          <p:cNvSpPr/>
          <p:nvPr/>
        </p:nvSpPr>
        <p:spPr>
          <a:xfrm>
            <a:off x="8087868" y="3374136"/>
            <a:ext cx="1051560" cy="256032"/>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sibling</a:t>
            </a:r>
            <a:endParaRPr lang="en-US" sz="900" dirty="0"/>
          </a:p>
        </p:txBody>
      </p:sp>
      <p:sp>
        <p:nvSpPr>
          <p:cNvPr id="24" name="merkle node">
            <a:extLst>
              <a:ext uri="{C183D7F6-B498-43B3-948B-1728B52AA6E4}">
                <adec:decorative xmlns:adec="http://schemas.microsoft.com/office/drawing/2017/decorative" val="1"/>
              </a:ext>
            </a:extLst>
          </p:cNvPr>
          <p:cNvSpPr/>
          <p:nvPr/>
        </p:nvSpPr>
        <p:spPr>
          <a:xfrm>
            <a:off x="1504188" y="4160520"/>
            <a:ext cx="1051560" cy="384048"/>
          </a:xfrm>
          <a:prstGeom prst="rect">
            <a:avLst/>
          </a:prstGeom>
          <a:solidFill>
            <a:srgbClr val="DFD9CB"/>
          </a:solidFill>
          <a:ln/>
        </p:spPr>
        <p:txBody>
          <a:bodyPr/>
          <a:lstStyle/>
          <a:p>
            <a:endParaRPr lang="en-BD"/>
          </a:p>
        </p:txBody>
      </p:sp>
      <p:sp>
        <p:nvSpPr>
          <p:cNvPr id="25" name="Text 22">
            <a:extLst>
              <a:ext uri="{C183D7F6-B498-43B3-948B-1728B52AA6E4}">
                <adec:decorative xmlns:adec="http://schemas.microsoft.com/office/drawing/2017/decorative" val="0"/>
              </a:ext>
            </a:extLst>
          </p:cNvPr>
          <p:cNvSpPr/>
          <p:nvPr/>
        </p:nvSpPr>
        <p:spPr>
          <a:xfrm>
            <a:off x="1504188" y="4242816"/>
            <a:ext cx="1051560" cy="256032"/>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sibling</a:t>
            </a:r>
            <a:endParaRPr lang="en-US" sz="900" dirty="0"/>
          </a:p>
        </p:txBody>
      </p:sp>
      <p:sp>
        <p:nvSpPr>
          <p:cNvPr id="26" name="merkle node">
            <a:extLst>
              <a:ext uri="{C183D7F6-B498-43B3-948B-1728B52AA6E4}">
                <adec:decorative xmlns:adec="http://schemas.microsoft.com/office/drawing/2017/decorative" val="1"/>
              </a:ext>
            </a:extLst>
          </p:cNvPr>
          <p:cNvSpPr/>
          <p:nvPr/>
        </p:nvSpPr>
        <p:spPr>
          <a:xfrm>
            <a:off x="4137660" y="4160520"/>
            <a:ext cx="1051560" cy="384048"/>
          </a:xfrm>
          <a:prstGeom prst="rect">
            <a:avLst/>
          </a:prstGeom>
          <a:solidFill>
            <a:srgbClr val="B08A3E"/>
          </a:solidFill>
          <a:ln/>
        </p:spPr>
        <p:txBody>
          <a:bodyPr/>
          <a:lstStyle/>
          <a:p>
            <a:endParaRPr lang="en-BD"/>
          </a:p>
        </p:txBody>
      </p:sp>
      <p:sp>
        <p:nvSpPr>
          <p:cNvPr id="27" name="Text 24">
            <a:extLst>
              <a:ext uri="{C183D7F6-B498-43B3-948B-1728B52AA6E4}">
                <adec:decorative xmlns:adec="http://schemas.microsoft.com/office/drawing/2017/decorative" val="0"/>
              </a:ext>
            </a:extLst>
          </p:cNvPr>
          <p:cNvSpPr/>
          <p:nvPr/>
        </p:nvSpPr>
        <p:spPr>
          <a:xfrm>
            <a:off x="4137660" y="4242816"/>
            <a:ext cx="1051560" cy="256032"/>
          </a:xfrm>
          <a:prstGeom prst="rect">
            <a:avLst/>
          </a:prstGeom>
          <a:noFill/>
          <a:ln/>
        </p:spPr>
        <p:txBody>
          <a:bodyPr wrap="square" lIns="0" tIns="0" rIns="0" bIns="0" rtlCol="0" anchor="ctr"/>
          <a:lstStyle/>
          <a:p>
            <a:pPr marL="0" indent="0" algn="ctr">
              <a:buNone/>
            </a:pPr>
            <a:r>
              <a:rPr lang="en-US" sz="900" dirty="0">
                <a:solidFill>
                  <a:srgbClr val="2B1F06"/>
                </a:solidFill>
                <a:latin typeface="IBM Plex Mono" pitchFamily="34" charset="0"/>
                <a:ea typeface="IBM Plex Mono" pitchFamily="34" charset="-122"/>
                <a:cs typeface="IBM Plex Mono" pitchFamily="34" charset="-120"/>
              </a:rPr>
              <a:t>on path</a:t>
            </a:r>
            <a:endParaRPr lang="en-US" sz="900" dirty="0"/>
          </a:p>
        </p:txBody>
      </p:sp>
      <p:sp>
        <p:nvSpPr>
          <p:cNvPr id="28" name="merkle node">
            <a:extLst>
              <a:ext uri="{C183D7F6-B498-43B3-948B-1728B52AA6E4}">
                <adec:decorative xmlns:adec="http://schemas.microsoft.com/office/drawing/2017/decorative" val="1"/>
              </a:ext>
            </a:extLst>
          </p:cNvPr>
          <p:cNvSpPr/>
          <p:nvPr/>
        </p:nvSpPr>
        <p:spPr>
          <a:xfrm>
            <a:off x="6771132" y="4160520"/>
            <a:ext cx="1051560" cy="384048"/>
          </a:xfrm>
          <a:prstGeom prst="rect">
            <a:avLst/>
          </a:prstGeom>
          <a:solidFill>
            <a:srgbClr val="DFD9CB"/>
          </a:solidFill>
          <a:ln/>
        </p:spPr>
        <p:txBody>
          <a:bodyPr/>
          <a:lstStyle/>
          <a:p>
            <a:endParaRPr lang="en-BD"/>
          </a:p>
        </p:txBody>
      </p:sp>
      <p:sp>
        <p:nvSpPr>
          <p:cNvPr id="29" name="Text 26"/>
          <p:cNvSpPr/>
          <p:nvPr/>
        </p:nvSpPr>
        <p:spPr>
          <a:xfrm>
            <a:off x="6771132" y="4242816"/>
            <a:ext cx="1051560" cy="256032"/>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sibling</a:t>
            </a:r>
            <a:endParaRPr lang="en-US" sz="900" dirty="0"/>
          </a:p>
        </p:txBody>
      </p:sp>
      <p:sp>
        <p:nvSpPr>
          <p:cNvPr id="30" name="merkle node">
            <a:extLst>
              <a:ext uri="{C183D7F6-B498-43B3-948B-1728B52AA6E4}">
                <adec:decorative xmlns:adec="http://schemas.microsoft.com/office/drawing/2017/decorative" val="1"/>
              </a:ext>
            </a:extLst>
          </p:cNvPr>
          <p:cNvSpPr/>
          <p:nvPr/>
        </p:nvSpPr>
        <p:spPr>
          <a:xfrm>
            <a:off x="9404604" y="4160520"/>
            <a:ext cx="1051560" cy="384048"/>
          </a:xfrm>
          <a:prstGeom prst="rect">
            <a:avLst/>
          </a:prstGeom>
          <a:solidFill>
            <a:srgbClr val="DFD9CB"/>
          </a:solidFill>
          <a:ln/>
        </p:spPr>
        <p:txBody>
          <a:bodyPr/>
          <a:lstStyle/>
          <a:p>
            <a:endParaRPr lang="en-BD"/>
          </a:p>
        </p:txBody>
      </p:sp>
      <p:sp>
        <p:nvSpPr>
          <p:cNvPr id="31" name="Text 28">
            <a:extLst>
              <a:ext uri="{C183D7F6-B498-43B3-948B-1728B52AA6E4}">
                <adec:decorative xmlns:adec="http://schemas.microsoft.com/office/drawing/2017/decorative" val="0"/>
              </a:ext>
            </a:extLst>
          </p:cNvPr>
          <p:cNvSpPr/>
          <p:nvPr/>
        </p:nvSpPr>
        <p:spPr>
          <a:xfrm>
            <a:off x="9404604" y="4242816"/>
            <a:ext cx="1051560" cy="256032"/>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sibling</a:t>
            </a:r>
            <a:endParaRPr lang="en-US" sz="900" dirty="0"/>
          </a:p>
        </p:txBody>
      </p:sp>
      <p:sp>
        <p:nvSpPr>
          <p:cNvPr id="32" name="Text 29">
            <a:extLst>
              <a:ext uri="{C183D7F6-B498-43B3-948B-1728B52AA6E4}">
                <adec:decorative xmlns:adec="http://schemas.microsoft.com/office/drawing/2017/decorative" val="0"/>
              </a:ext>
            </a:extLst>
          </p:cNvPr>
          <p:cNvSpPr/>
          <p:nvPr/>
        </p:nvSpPr>
        <p:spPr>
          <a:xfrm>
            <a:off x="5111496" y="2551176"/>
            <a:ext cx="1737360" cy="329184"/>
          </a:xfrm>
          <a:prstGeom prst="rect">
            <a:avLst/>
          </a:prstGeom>
          <a:noFill/>
          <a:ln/>
        </p:spPr>
        <p:txBody>
          <a:bodyPr wrap="square" lIns="0" tIns="0" rIns="0" bIns="0" rtlCol="0" anchor="ctr"/>
          <a:lstStyle/>
          <a:p>
            <a:pPr marL="0" indent="0" algn="ctr">
              <a:buNone/>
            </a:pPr>
            <a:r>
              <a:rPr lang="en-US" sz="1400" b="1" dirty="0">
                <a:solidFill>
                  <a:srgbClr val="EDEAE0"/>
                </a:solidFill>
                <a:latin typeface="IBM Plex Mono" pitchFamily="34" charset="0"/>
                <a:ea typeface="IBM Plex Mono" pitchFamily="34" charset="-122"/>
                <a:cs typeface="IBM Plex Mono" pitchFamily="34" charset="-120"/>
              </a:rPr>
              <a:t>ROOT</a:t>
            </a:r>
            <a:endParaRPr lang="en-US" sz="1400" dirty="0"/>
          </a:p>
        </p:txBody>
      </p:sp>
      <p:sp>
        <p:nvSpPr>
          <p:cNvPr id="33" name="match badge">
            <a:extLst>
              <a:ext uri="{C183D7F6-B498-43B3-948B-1728B52AA6E4}">
                <adec:decorative xmlns:adec="http://schemas.microsoft.com/office/drawing/2017/decorative" val="1"/>
              </a:ext>
            </a:extLst>
          </p:cNvPr>
          <p:cNvSpPr/>
          <p:nvPr/>
        </p:nvSpPr>
        <p:spPr>
          <a:xfrm>
            <a:off x="7187184" y="2681805"/>
            <a:ext cx="1234440" cy="420624"/>
          </a:xfrm>
          <a:prstGeom prst="rect">
            <a:avLst/>
          </a:prstGeom>
          <a:solidFill>
            <a:srgbClr val="2E6B5E"/>
          </a:solidFill>
          <a:ln/>
        </p:spPr>
        <p:txBody>
          <a:bodyPr/>
          <a:lstStyle/>
          <a:p>
            <a:endParaRPr lang="en-BD"/>
          </a:p>
        </p:txBody>
      </p:sp>
      <p:sp>
        <p:nvSpPr>
          <p:cNvPr id="34" name="Text 31"/>
          <p:cNvSpPr/>
          <p:nvPr/>
        </p:nvSpPr>
        <p:spPr>
          <a:xfrm>
            <a:off x="7210697" y="2702051"/>
            <a:ext cx="1234440"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IBM Plex Mono" pitchFamily="34" charset="0"/>
                <a:ea typeface="IBM Plex Mono" pitchFamily="34" charset="-122"/>
                <a:cs typeface="IBM Plex Mono" pitchFamily="34" charset="-120"/>
              </a:rPr>
              <a:t>MATCH</a:t>
            </a:r>
            <a:endParaRPr lang="en-US" sz="1300" dirty="0"/>
          </a:p>
        </p:txBody>
      </p:sp>
      <p:sp>
        <p:nvSpPr>
          <p:cNvPr id="35" name="merkle leaf">
            <a:extLst>
              <a:ext uri="{C183D7F6-B498-43B3-948B-1728B52AA6E4}">
                <adec:decorative xmlns:adec="http://schemas.microsoft.com/office/drawing/2017/decorative" val="1"/>
              </a:ext>
            </a:extLst>
          </p:cNvPr>
          <p:cNvSpPr/>
          <p:nvPr/>
        </p:nvSpPr>
        <p:spPr>
          <a:xfrm>
            <a:off x="822960" y="5074920"/>
            <a:ext cx="1097280" cy="411480"/>
          </a:xfrm>
          <a:prstGeom prst="rect">
            <a:avLst/>
          </a:prstGeom>
          <a:solidFill>
            <a:srgbClr val="CFC8B8"/>
          </a:solidFill>
          <a:ln/>
        </p:spPr>
        <p:txBody>
          <a:bodyPr/>
          <a:lstStyle/>
          <a:p>
            <a:endParaRPr lang="en-BD"/>
          </a:p>
        </p:txBody>
      </p:sp>
      <p:sp>
        <p:nvSpPr>
          <p:cNvPr id="36" name="Text 33">
            <a:extLst>
              <a:ext uri="{C183D7F6-B498-43B3-948B-1728B52AA6E4}">
                <adec:decorative xmlns:adec="http://schemas.microsoft.com/office/drawing/2017/decorative" val="0"/>
              </a:ext>
            </a:extLst>
          </p:cNvPr>
          <p:cNvSpPr/>
          <p:nvPr/>
        </p:nvSpPr>
        <p:spPr>
          <a:xfrm>
            <a:off x="822960"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37" name="merkle leaf">
            <a:extLst>
              <a:ext uri="{C183D7F6-B498-43B3-948B-1728B52AA6E4}">
                <adec:decorative xmlns:adec="http://schemas.microsoft.com/office/drawing/2017/decorative" val="1"/>
              </a:ext>
            </a:extLst>
          </p:cNvPr>
          <p:cNvSpPr/>
          <p:nvPr/>
        </p:nvSpPr>
        <p:spPr>
          <a:xfrm>
            <a:off x="2139696" y="5074920"/>
            <a:ext cx="1097280" cy="411480"/>
          </a:xfrm>
          <a:prstGeom prst="rect">
            <a:avLst/>
          </a:prstGeom>
          <a:solidFill>
            <a:srgbClr val="CFC8B8"/>
          </a:solidFill>
          <a:ln/>
        </p:spPr>
        <p:txBody>
          <a:bodyPr/>
          <a:lstStyle/>
          <a:p>
            <a:endParaRPr lang="en-BD"/>
          </a:p>
        </p:txBody>
      </p:sp>
      <p:sp>
        <p:nvSpPr>
          <p:cNvPr id="38" name="Text 35">
            <a:extLst>
              <a:ext uri="{C183D7F6-B498-43B3-948B-1728B52AA6E4}">
                <adec:decorative xmlns:adec="http://schemas.microsoft.com/office/drawing/2017/decorative" val="0"/>
              </a:ext>
            </a:extLst>
          </p:cNvPr>
          <p:cNvSpPr/>
          <p:nvPr/>
        </p:nvSpPr>
        <p:spPr>
          <a:xfrm>
            <a:off x="2139696"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39" name="merkle leaf">
            <a:extLst>
              <a:ext uri="{C183D7F6-B498-43B3-948B-1728B52AA6E4}">
                <adec:decorative xmlns:adec="http://schemas.microsoft.com/office/drawing/2017/decorative" val="1"/>
              </a:ext>
            </a:extLst>
          </p:cNvPr>
          <p:cNvSpPr/>
          <p:nvPr/>
        </p:nvSpPr>
        <p:spPr>
          <a:xfrm>
            <a:off x="3456432" y="5074920"/>
            <a:ext cx="1097280" cy="411480"/>
          </a:xfrm>
          <a:prstGeom prst="rect">
            <a:avLst/>
          </a:prstGeom>
          <a:solidFill>
            <a:srgbClr val="CFC8B8"/>
          </a:solidFill>
          <a:ln/>
        </p:spPr>
        <p:txBody>
          <a:bodyPr/>
          <a:lstStyle/>
          <a:p>
            <a:endParaRPr lang="en-BD"/>
          </a:p>
        </p:txBody>
      </p:sp>
      <p:sp>
        <p:nvSpPr>
          <p:cNvPr id="40" name="Text 37"/>
          <p:cNvSpPr/>
          <p:nvPr/>
        </p:nvSpPr>
        <p:spPr>
          <a:xfrm>
            <a:off x="3456432"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41" name="merkle leaf">
            <a:extLst>
              <a:ext uri="{C183D7F6-B498-43B3-948B-1728B52AA6E4}">
                <adec:decorative xmlns:adec="http://schemas.microsoft.com/office/drawing/2017/decorative" val="1"/>
              </a:ext>
            </a:extLst>
          </p:cNvPr>
          <p:cNvSpPr/>
          <p:nvPr/>
        </p:nvSpPr>
        <p:spPr>
          <a:xfrm>
            <a:off x="4773168" y="5074920"/>
            <a:ext cx="1097280" cy="411480"/>
          </a:xfrm>
          <a:prstGeom prst="rect">
            <a:avLst/>
          </a:prstGeom>
          <a:solidFill>
            <a:srgbClr val="B08A3E"/>
          </a:solidFill>
          <a:ln/>
        </p:spPr>
        <p:txBody>
          <a:bodyPr/>
          <a:lstStyle/>
          <a:p>
            <a:endParaRPr lang="en-BD"/>
          </a:p>
        </p:txBody>
      </p:sp>
      <p:sp>
        <p:nvSpPr>
          <p:cNvPr id="42" name="Text 39">
            <a:extLst>
              <a:ext uri="{C183D7F6-B498-43B3-948B-1728B52AA6E4}">
                <adec:decorative xmlns:adec="http://schemas.microsoft.com/office/drawing/2017/decorative" val="0"/>
              </a:ext>
            </a:extLst>
          </p:cNvPr>
          <p:cNvSpPr/>
          <p:nvPr/>
        </p:nvSpPr>
        <p:spPr>
          <a:xfrm>
            <a:off x="4773168" y="5175504"/>
            <a:ext cx="1097280" cy="274320"/>
          </a:xfrm>
          <a:prstGeom prst="rect">
            <a:avLst/>
          </a:prstGeom>
          <a:noFill/>
          <a:ln/>
        </p:spPr>
        <p:txBody>
          <a:bodyPr wrap="square" lIns="0" tIns="0" rIns="0" bIns="0" rtlCol="0" anchor="ctr"/>
          <a:lstStyle/>
          <a:p>
            <a:pPr marL="0" indent="0" algn="ctr">
              <a:buNone/>
            </a:pPr>
            <a:r>
              <a:rPr lang="en-US" sz="900" b="1" dirty="0">
                <a:solidFill>
                  <a:srgbClr val="2B1F06"/>
                </a:solidFill>
                <a:latin typeface="IBM Plex Mono" pitchFamily="34" charset="0"/>
                <a:ea typeface="IBM Plex Mono" pitchFamily="34" charset="-122"/>
                <a:cs typeface="IBM Plex Mono" pitchFamily="34" charset="-120"/>
              </a:rPr>
              <a:t>row 412</a:t>
            </a:r>
            <a:endParaRPr lang="en-US" sz="900" dirty="0"/>
          </a:p>
        </p:txBody>
      </p:sp>
      <p:sp>
        <p:nvSpPr>
          <p:cNvPr id="43" name="merkle leaf">
            <a:extLst>
              <a:ext uri="{C183D7F6-B498-43B3-948B-1728B52AA6E4}">
                <adec:decorative xmlns:adec="http://schemas.microsoft.com/office/drawing/2017/decorative" val="1"/>
              </a:ext>
            </a:extLst>
          </p:cNvPr>
          <p:cNvSpPr/>
          <p:nvPr/>
        </p:nvSpPr>
        <p:spPr>
          <a:xfrm>
            <a:off x="6089904" y="5074920"/>
            <a:ext cx="1097280" cy="411480"/>
          </a:xfrm>
          <a:prstGeom prst="rect">
            <a:avLst/>
          </a:prstGeom>
          <a:solidFill>
            <a:srgbClr val="CFC8B8"/>
          </a:solidFill>
          <a:ln/>
        </p:spPr>
        <p:txBody>
          <a:bodyPr/>
          <a:lstStyle/>
          <a:p>
            <a:endParaRPr lang="en-BD"/>
          </a:p>
        </p:txBody>
      </p:sp>
      <p:sp>
        <p:nvSpPr>
          <p:cNvPr id="44" name="Text 41"/>
          <p:cNvSpPr/>
          <p:nvPr/>
        </p:nvSpPr>
        <p:spPr>
          <a:xfrm>
            <a:off x="6089904"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45" name="merkle leaf">
            <a:extLst>
              <a:ext uri="{C183D7F6-B498-43B3-948B-1728B52AA6E4}">
                <adec:decorative xmlns:adec="http://schemas.microsoft.com/office/drawing/2017/decorative" val="1"/>
              </a:ext>
            </a:extLst>
          </p:cNvPr>
          <p:cNvSpPr/>
          <p:nvPr/>
        </p:nvSpPr>
        <p:spPr>
          <a:xfrm>
            <a:off x="7406640" y="5074920"/>
            <a:ext cx="1097280" cy="411480"/>
          </a:xfrm>
          <a:prstGeom prst="rect">
            <a:avLst/>
          </a:prstGeom>
          <a:solidFill>
            <a:srgbClr val="CFC8B8"/>
          </a:solidFill>
          <a:ln/>
        </p:spPr>
        <p:txBody>
          <a:bodyPr/>
          <a:lstStyle/>
          <a:p>
            <a:endParaRPr lang="en-BD"/>
          </a:p>
        </p:txBody>
      </p:sp>
      <p:sp>
        <p:nvSpPr>
          <p:cNvPr id="46" name="Text 43"/>
          <p:cNvSpPr/>
          <p:nvPr/>
        </p:nvSpPr>
        <p:spPr>
          <a:xfrm>
            <a:off x="7406640"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47" name="merkle leaf">
            <a:extLst>
              <a:ext uri="{C183D7F6-B498-43B3-948B-1728B52AA6E4}">
                <adec:decorative xmlns:adec="http://schemas.microsoft.com/office/drawing/2017/decorative" val="1"/>
              </a:ext>
            </a:extLst>
          </p:cNvPr>
          <p:cNvSpPr/>
          <p:nvPr/>
        </p:nvSpPr>
        <p:spPr>
          <a:xfrm>
            <a:off x="8723376" y="5074920"/>
            <a:ext cx="1097280" cy="411480"/>
          </a:xfrm>
          <a:prstGeom prst="rect">
            <a:avLst/>
          </a:prstGeom>
          <a:solidFill>
            <a:srgbClr val="CFC8B8"/>
          </a:solidFill>
          <a:ln/>
        </p:spPr>
        <p:txBody>
          <a:bodyPr/>
          <a:lstStyle/>
          <a:p>
            <a:endParaRPr lang="en-BD"/>
          </a:p>
        </p:txBody>
      </p:sp>
      <p:sp>
        <p:nvSpPr>
          <p:cNvPr id="48" name="Text 45"/>
          <p:cNvSpPr/>
          <p:nvPr/>
        </p:nvSpPr>
        <p:spPr>
          <a:xfrm>
            <a:off x="8723376"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49" name="merkle leaf">
            <a:extLst>
              <a:ext uri="{C183D7F6-B498-43B3-948B-1728B52AA6E4}">
                <adec:decorative xmlns:adec="http://schemas.microsoft.com/office/drawing/2017/decorative" val="1"/>
              </a:ext>
            </a:extLst>
          </p:cNvPr>
          <p:cNvSpPr/>
          <p:nvPr/>
        </p:nvSpPr>
        <p:spPr>
          <a:xfrm>
            <a:off x="10040112" y="5074920"/>
            <a:ext cx="1097280" cy="411480"/>
          </a:xfrm>
          <a:prstGeom prst="rect">
            <a:avLst/>
          </a:prstGeom>
          <a:solidFill>
            <a:srgbClr val="CFC8B8"/>
          </a:solidFill>
          <a:ln/>
        </p:spPr>
        <p:txBody>
          <a:bodyPr/>
          <a:lstStyle/>
          <a:p>
            <a:endParaRPr lang="en-BD"/>
          </a:p>
        </p:txBody>
      </p:sp>
      <p:sp>
        <p:nvSpPr>
          <p:cNvPr id="50" name="Text 47"/>
          <p:cNvSpPr/>
          <p:nvPr/>
        </p:nvSpPr>
        <p:spPr>
          <a:xfrm>
            <a:off x="10040112" y="5175504"/>
            <a:ext cx="1097280" cy="274320"/>
          </a:xfrm>
          <a:prstGeom prst="rect">
            <a:avLst/>
          </a:prstGeom>
          <a:noFill/>
          <a:ln/>
        </p:spPr>
        <p:txBody>
          <a:bodyPr wrap="square" lIns="0" tIns="0" rIns="0" bIns="0" rtlCol="0" anchor="ctr"/>
          <a:lstStyle/>
          <a:p>
            <a:pPr marL="0" indent="0" algn="ctr">
              <a:buNone/>
            </a:pPr>
            <a:r>
              <a:rPr lang="en-US" sz="900" dirty="0">
                <a:solidFill>
                  <a:srgbClr val="8A8474"/>
                </a:solidFill>
                <a:latin typeface="IBM Plex Mono" pitchFamily="34" charset="0"/>
                <a:ea typeface="IBM Plex Mono" pitchFamily="34" charset="-122"/>
                <a:cs typeface="IBM Plex Mono" pitchFamily="34" charset="-120"/>
              </a:rPr>
              <a:t>REDACTED</a:t>
            </a:r>
            <a:endParaRPr lang="en-US" sz="900" dirty="0"/>
          </a:p>
        </p:txBody>
      </p:sp>
      <p:sp>
        <p:nvSpPr>
          <p:cNvPr id="51" name="Text 48"/>
          <p:cNvSpPr/>
          <p:nvPr/>
        </p:nvSpPr>
        <p:spPr>
          <a:xfrm>
            <a:off x="3858768" y="5577840"/>
            <a:ext cx="2926080" cy="320040"/>
          </a:xfrm>
          <a:prstGeom prst="rect">
            <a:avLst/>
          </a:prstGeom>
          <a:noFill/>
          <a:ln/>
        </p:spPr>
        <p:txBody>
          <a:bodyPr wrap="square" lIns="0" tIns="0" rIns="0" bIns="0" rtlCol="0" anchor="ctr"/>
          <a:lstStyle/>
          <a:p>
            <a:pPr marL="0" indent="0" algn="ctr">
              <a:buNone/>
            </a:pPr>
            <a:r>
              <a:rPr lang="en-US" sz="1300" b="1" dirty="0">
                <a:solidFill>
                  <a:srgbClr val="162034"/>
                </a:solidFill>
                <a:latin typeface="IBM Plex Mono" pitchFamily="34" charset="0"/>
                <a:ea typeface="IBM Plex Mono" pitchFamily="34" charset="-122"/>
                <a:cs typeface="IBM Plex Mono" pitchFamily="34" charset="-120"/>
              </a:rPr>
              <a:t>net_pay_bdt = 14,820 BDT</a:t>
            </a:r>
            <a:endParaRPr lang="en-US" sz="1300" dirty="0"/>
          </a:p>
        </p:txBody>
      </p:sp>
      <p:sp>
        <p:nvSpPr>
          <p:cNvPr id="52" name="Text 49"/>
          <p:cNvSpPr/>
          <p:nvPr/>
        </p:nvSpPr>
        <p:spPr>
          <a:xfrm>
            <a:off x="822960" y="6053328"/>
            <a:ext cx="10515600" cy="411480"/>
          </a:xfrm>
          <a:prstGeom prst="rect">
            <a:avLst/>
          </a:prstGeom>
          <a:noFill/>
          <a:ln/>
        </p:spPr>
        <p:txBody>
          <a:bodyPr wrap="square" lIns="0" tIns="0" rIns="0" bIns="0" rtlCol="0" anchor="ctr"/>
          <a:lstStyle/>
          <a:p>
            <a:pPr marL="0" indent="0">
              <a:buNone/>
            </a:pPr>
            <a:r>
              <a:rPr lang="en-US" sz="1800" dirty="0">
                <a:solidFill>
                  <a:srgbClr val="5A6377"/>
                </a:solidFill>
                <a:latin typeface="Inter" pitchFamily="34" charset="0"/>
                <a:ea typeface="Inter" pitchFamily="34" charset="-122"/>
                <a:cs typeface="Inter" pitchFamily="34" charset="-120"/>
              </a:rPr>
              <a:t>Eleven sibling hashes travel, salted per row. The other 1,846 rows never leave the factory.</a:t>
            </a:r>
            <a:endParaRPr lang="en-US" sz="1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640080"/>
            <a:ext cx="7863840" cy="1234440"/>
          </a:xfrm>
          <a:prstGeom prst="rect">
            <a:avLst/>
          </a:prstGeom>
          <a:noFill/>
          <a:ln/>
        </p:spPr>
        <p:txBody>
          <a:bodyPr wrap="square" lIns="0" tIns="0" rIns="0" bIns="0" rtlCol="0" anchor="t"/>
          <a:lstStyle/>
          <a:p>
            <a:pPr marL="0" indent="0" algn="l">
              <a:lnSpc>
                <a:spcPct val="105000"/>
              </a:lnSpc>
              <a:buNone/>
            </a:pPr>
            <a:r>
              <a:rPr lang="en-US" sz="3800" b="1" dirty="0">
                <a:solidFill>
                  <a:srgbClr val="162034"/>
                </a:solidFill>
                <a:latin typeface="Fraunces" pitchFamily="34" charset="0"/>
                <a:ea typeface="Fraunces" pitchFamily="34" charset="-122"/>
                <a:cs typeface="Fraunces" pitchFamily="34" charset="-120"/>
              </a:rPr>
              <a:t>Twelve items instead of</a:t>
            </a:r>
            <a:endParaRPr lang="en-US" sz="3800" dirty="0"/>
          </a:p>
          <a:p>
            <a:pPr marL="0" indent="0" algn="l">
              <a:lnSpc>
                <a:spcPct val="105000"/>
              </a:lnSpc>
              <a:buNone/>
            </a:pPr>
            <a:r>
              <a:rPr lang="en-US" sz="3800" b="1" dirty="0">
                <a:solidFill>
                  <a:srgbClr val="162034"/>
                </a:solidFill>
                <a:latin typeface="Fraunces" pitchFamily="34" charset="0"/>
                <a:ea typeface="Fraunces" pitchFamily="34" charset="-122"/>
                <a:cs typeface="Fraunces" pitchFamily="34" charset="-120"/>
              </a:rPr>
              <a:t>one thousand eight hundred.</a:t>
            </a:r>
            <a:endParaRPr lang="en-US" sz="3800" dirty="0"/>
          </a:p>
        </p:txBody>
      </p:sp>
      <p:sp>
        <p:nvSpPr>
          <p:cNvPr id="4" name="accent rule">
            <a:extLst>
              <a:ext uri="{C183D7F6-B498-43B3-948B-1728B52AA6E4}">
                <adec:decorative xmlns:adec="http://schemas.microsoft.com/office/drawing/2017/decorative" val="1"/>
              </a:ext>
            </a:extLst>
          </p:cNvPr>
          <p:cNvSpPr/>
          <p:nvPr/>
        </p:nvSpPr>
        <p:spPr>
          <a:xfrm>
            <a:off x="777240" y="384048"/>
            <a:ext cx="1005840" cy="50292"/>
          </a:xfrm>
          <a:prstGeom prst="rect">
            <a:avLst/>
          </a:prstGeom>
          <a:solidFill>
            <a:srgbClr val="B08A3E"/>
          </a:solidFill>
          <a:ln/>
        </p:spPr>
        <p:txBody>
          <a:bodyPr/>
          <a:lstStyle/>
          <a:p>
            <a:endParaRPr lang="en-BD"/>
          </a:p>
        </p:txBody>
      </p:sp>
      <p:graphicFrame>
        <p:nvGraphicFramePr>
          <p:cNvPr id="5" name="Chart 0" descr="Chart"/>
          <p:cNvGraphicFramePr/>
          <p:nvPr/>
        </p:nvGraphicFramePr>
        <p:xfrm>
          <a:off x="777240" y="2148840"/>
          <a:ext cx="76809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p:nvPr/>
        </p:nvSpPr>
        <p:spPr>
          <a:xfrm>
            <a:off x="8686800" y="3246120"/>
            <a:ext cx="2834640" cy="457200"/>
          </a:xfrm>
          <a:prstGeom prst="rect">
            <a:avLst/>
          </a:prstGeom>
          <a:noFill/>
          <a:ln/>
        </p:spPr>
        <p:txBody>
          <a:bodyPr wrap="square" lIns="0" tIns="0" rIns="0" bIns="0" rtlCol="0" anchor="ctr"/>
          <a:lstStyle/>
          <a:p>
            <a:pPr marL="0" indent="0">
              <a:buNone/>
            </a:pPr>
            <a:r>
              <a:rPr lang="en-US" sz="1600" dirty="0">
                <a:solidFill>
                  <a:srgbClr val="162034"/>
                </a:solidFill>
                <a:latin typeface="IBM Plex Mono" pitchFamily="34" charset="0"/>
                <a:ea typeface="IBM Plex Mono" pitchFamily="34" charset="-122"/>
                <a:cs typeface="IBM Plex Mono" pitchFamily="34" charset="-120"/>
              </a:rPr>
              <a:t>1 row + 11 sibling hashes</a:t>
            </a:r>
            <a:endParaRPr lang="en-US" sz="1600" dirty="0"/>
          </a:p>
        </p:txBody>
      </p:sp>
      <p:sp>
        <p:nvSpPr>
          <p:cNvPr id="7" name="Text 3">
            <a:extLst>
              <a:ext uri="{C183D7F6-B498-43B3-948B-1728B52AA6E4}">
                <adec:decorative xmlns:adec="http://schemas.microsoft.com/office/drawing/2017/decorative" val="0"/>
              </a:ext>
            </a:extLst>
          </p:cNvPr>
          <p:cNvSpPr/>
          <p:nvPr/>
        </p:nvSpPr>
        <p:spPr>
          <a:xfrm>
            <a:off x="8686800" y="3703320"/>
            <a:ext cx="2834640" cy="457200"/>
          </a:xfrm>
          <a:prstGeom prst="rect">
            <a:avLst/>
          </a:prstGeom>
          <a:noFill/>
          <a:ln/>
        </p:spPr>
        <p:txBody>
          <a:bodyPr wrap="square" lIns="0" tIns="0" rIns="0" bIns="0" rtlCol="0" anchor="ctr"/>
          <a:lstStyle/>
          <a:p>
            <a:pPr marL="0" indent="0">
              <a:buNone/>
            </a:pPr>
            <a:r>
              <a:rPr lang="en-US" sz="1500" dirty="0">
                <a:solidFill>
                  <a:srgbClr val="5A6377"/>
                </a:solidFill>
                <a:latin typeface="Inter" pitchFamily="34" charset="0"/>
                <a:ea typeface="Inter" pitchFamily="34" charset="-122"/>
                <a:cs typeface="Inter" pitchFamily="34" charset="-120"/>
              </a:rPr>
              <a:t>a few hundred bytes</a:t>
            </a:r>
            <a:endParaRPr lang="en-US" sz="1500" dirty="0"/>
          </a:p>
        </p:txBody>
      </p:sp>
      <p:sp>
        <p:nvSpPr>
          <p:cNvPr id="8" name="Text 4"/>
          <p:cNvSpPr/>
          <p:nvPr/>
        </p:nvSpPr>
        <p:spPr>
          <a:xfrm>
            <a:off x="777240" y="5806440"/>
            <a:ext cx="10515600" cy="457200"/>
          </a:xfrm>
          <a:prstGeom prst="rect">
            <a:avLst/>
          </a:prstGeom>
          <a:noFill/>
          <a:ln/>
        </p:spPr>
        <p:txBody>
          <a:bodyPr wrap="square" lIns="0" tIns="0" rIns="0" bIns="0" rtlCol="0" anchor="ctr"/>
          <a:lstStyle/>
          <a:p>
            <a:pPr marL="0" indent="0">
              <a:buNone/>
            </a:pPr>
            <a:r>
              <a:rPr lang="en-US" sz="1700" dirty="0">
                <a:solidFill>
                  <a:srgbClr val="5A6377"/>
                </a:solidFill>
                <a:latin typeface="Inter" pitchFamily="34" charset="0"/>
                <a:ea typeface="Inter" pitchFamily="34" charset="-122"/>
                <a:cs typeface="Inter" pitchFamily="34" charset="-120"/>
              </a:rPr>
              <a:t>Over-disclosure is itself a liability. Simulated register, generated data.</a:t>
            </a:r>
            <a:endParaRPr lang="en-US" sz="17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548640"/>
            <a:ext cx="8778240" cy="1143000"/>
          </a:xfrm>
          <a:prstGeom prst="rect">
            <a:avLst/>
          </a:prstGeom>
          <a:noFill/>
          <a:ln/>
        </p:spPr>
        <p:txBody>
          <a:bodyPr wrap="square" lIns="0" tIns="0" rIns="0" bIns="0" rtlCol="0" anchor="t"/>
          <a:lstStyle/>
          <a:p>
            <a:pPr marL="0" indent="0" algn="l">
              <a:lnSpc>
                <a:spcPct val="105000"/>
              </a:lnSpc>
              <a:buNone/>
            </a:pPr>
            <a:r>
              <a:rPr lang="en-US" sz="3800" b="1" dirty="0">
                <a:solidFill>
                  <a:srgbClr val="162034"/>
                </a:solidFill>
                <a:latin typeface="Fraunces" pitchFamily="34" charset="0"/>
                <a:ea typeface="Fraunces" pitchFamily="34" charset="-122"/>
                <a:cs typeface="Fraunces" pitchFamily="34" charset="-120"/>
              </a:rPr>
              <a:t>How one row travels, end to end.</a:t>
            </a:r>
            <a:endParaRPr lang="en-US" sz="3800" dirty="0"/>
          </a:p>
        </p:txBody>
      </p:sp>
      <p:sp>
        <p:nvSpPr>
          <p:cNvPr id="4" name="accent rule">
            <a:extLst>
              <a:ext uri="{C183D7F6-B498-43B3-948B-1728B52AA6E4}">
                <adec:decorative xmlns:adec="http://schemas.microsoft.com/office/drawing/2017/decorative" val="1"/>
              </a:ext>
            </a:extLst>
          </p:cNvPr>
          <p:cNvSpPr/>
          <p:nvPr/>
        </p:nvSpPr>
        <p:spPr>
          <a:xfrm>
            <a:off x="777240" y="320040"/>
            <a:ext cx="1005840" cy="50292"/>
          </a:xfrm>
          <a:prstGeom prst="rect">
            <a:avLst/>
          </a:prstGeom>
          <a:solidFill>
            <a:srgbClr val="B08A3E"/>
          </a:solidFill>
          <a:ln/>
        </p:spPr>
        <p:txBody>
          <a:bodyPr/>
          <a:lstStyle/>
          <a:p>
            <a:endParaRPr lang="en-BD"/>
          </a:p>
        </p:txBody>
      </p:sp>
      <p:sp>
        <p:nvSpPr>
          <p:cNvPr id="5" name="Text 2">
            <a:extLst>
              <a:ext uri="{C183D7F6-B498-43B3-948B-1728B52AA6E4}">
                <adec:decorative xmlns:adec="http://schemas.microsoft.com/office/drawing/2017/decorative" val="0"/>
              </a:ext>
            </a:extLst>
          </p:cNvPr>
          <p:cNvSpPr/>
          <p:nvPr/>
        </p:nvSpPr>
        <p:spPr>
          <a:xfrm>
            <a:off x="777240" y="1755648"/>
            <a:ext cx="8778240" cy="411480"/>
          </a:xfrm>
          <a:prstGeom prst="rect">
            <a:avLst/>
          </a:prstGeom>
          <a:noFill/>
          <a:ln/>
        </p:spPr>
        <p:txBody>
          <a:bodyPr wrap="square" lIns="0" tIns="0" rIns="0" bIns="0" rtlCol="0" anchor="ctr"/>
          <a:lstStyle/>
          <a:p>
            <a:pPr marL="0" indent="0">
              <a:buNone/>
            </a:pPr>
            <a:r>
              <a:rPr lang="en-US" sz="1900" dirty="0">
                <a:solidFill>
                  <a:srgbClr val="5A6377"/>
                </a:solidFill>
                <a:latin typeface="Inter" pitchFamily="34" charset="0"/>
                <a:ea typeface="Inter" pitchFamily="34" charset="-122"/>
                <a:cs typeface="Inter" pitchFamily="34" charset="-120"/>
              </a:rPr>
              <a:t>Commit first. Disclose later. Verify without the file.</a:t>
            </a:r>
            <a:endParaRPr lang="en-US" sz="1900" dirty="0"/>
          </a:p>
        </p:txBody>
      </p:sp>
      <p:sp>
        <p:nvSpPr>
          <p:cNvPr id="6" name="flow step 0">
            <a:extLst>
              <a:ext uri="{C183D7F6-B498-43B3-948B-1728B52AA6E4}">
                <adec:decorative xmlns:adec="http://schemas.microsoft.com/office/drawing/2017/decorative" val="1"/>
              </a:ext>
            </a:extLst>
          </p:cNvPr>
          <p:cNvSpPr/>
          <p:nvPr/>
        </p:nvSpPr>
        <p:spPr>
          <a:xfrm>
            <a:off x="384048" y="2286000"/>
            <a:ext cx="1918960" cy="1645920"/>
          </a:xfrm>
          <a:prstGeom prst="rect">
            <a:avLst/>
          </a:prstGeom>
          <a:solidFill>
            <a:srgbClr val="FFFFFF"/>
          </a:solidFill>
          <a:ln w="12700">
            <a:solidFill>
              <a:srgbClr val="D6D0C2"/>
            </a:solidFill>
            <a:prstDash val="solid"/>
          </a:ln>
        </p:spPr>
        <p:txBody>
          <a:bodyPr/>
          <a:lstStyle/>
          <a:p>
            <a:endParaRPr lang="en-BD"/>
          </a:p>
        </p:txBody>
      </p:sp>
      <p:sp>
        <p:nvSpPr>
          <p:cNvPr id="7" name="flow cap 0">
            <a:extLst>
              <a:ext uri="{C183D7F6-B498-43B3-948B-1728B52AA6E4}">
                <adec:decorative xmlns:adec="http://schemas.microsoft.com/office/drawing/2017/decorative" val="1"/>
              </a:ext>
            </a:extLst>
          </p:cNvPr>
          <p:cNvSpPr/>
          <p:nvPr/>
        </p:nvSpPr>
        <p:spPr>
          <a:xfrm>
            <a:off x="384048" y="2286000"/>
            <a:ext cx="1918960" cy="50292"/>
          </a:xfrm>
          <a:prstGeom prst="rect">
            <a:avLst/>
          </a:prstGeom>
          <a:solidFill>
            <a:srgbClr val="1E2A44"/>
          </a:solidFill>
          <a:ln/>
        </p:spPr>
        <p:txBody>
          <a:bodyPr/>
          <a:lstStyle/>
          <a:p>
            <a:endParaRPr lang="en-BD"/>
          </a:p>
        </p:txBody>
      </p:sp>
      <p:sp>
        <p:nvSpPr>
          <p:cNvPr id="8" name="Text 5"/>
          <p:cNvSpPr/>
          <p:nvPr/>
        </p:nvSpPr>
        <p:spPr>
          <a:xfrm>
            <a:off x="56692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01</a:t>
            </a:r>
            <a:endParaRPr lang="en-US" sz="1200" dirty="0"/>
          </a:p>
        </p:txBody>
      </p:sp>
      <p:sp>
        <p:nvSpPr>
          <p:cNvPr id="9" name="Text 6">
            <a:extLst>
              <a:ext uri="{C183D7F6-B498-43B3-948B-1728B52AA6E4}">
                <adec:decorative xmlns:adec="http://schemas.microsoft.com/office/drawing/2017/decorative" val="0"/>
              </a:ext>
            </a:extLst>
          </p:cNvPr>
          <p:cNvSpPr/>
          <p:nvPr/>
        </p:nvSpPr>
        <p:spPr>
          <a:xfrm>
            <a:off x="56692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Factory commits</a:t>
            </a:r>
            <a:endParaRPr lang="en-US" sz="1500" dirty="0"/>
          </a:p>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the register root</a:t>
            </a:r>
            <a:endParaRPr lang="en-US" sz="1500" dirty="0"/>
          </a:p>
        </p:txBody>
      </p:sp>
      <p:sp>
        <p:nvSpPr>
          <p:cNvPr id="10" name="Text 7"/>
          <p:cNvSpPr/>
          <p:nvPr/>
        </p:nvSpPr>
        <p:spPr>
          <a:xfrm>
            <a:off x="566928" y="3493008"/>
            <a:ext cx="1553200" cy="329184"/>
          </a:xfrm>
          <a:prstGeom prst="rect">
            <a:avLst/>
          </a:prstGeom>
          <a:noFill/>
          <a:ln/>
        </p:spPr>
        <p:txBody>
          <a:bodyPr wrap="square" lIns="0" tIns="0" rIns="0" bIns="0" rtlCol="0" anchor="ctr"/>
          <a:lstStyle/>
          <a:p>
            <a:pPr marL="0" indent="0">
              <a:buNone/>
            </a:pPr>
            <a:r>
              <a:rPr lang="en-US" sz="1050" dirty="0">
                <a:solidFill>
                  <a:srgbClr val="5A6377"/>
                </a:solidFill>
                <a:latin typeface="IBM Plex Mono" pitchFamily="34" charset="0"/>
                <a:ea typeface="IBM Plex Mono" pitchFamily="34" charset="-122"/>
                <a:cs typeface="IBM Plex Mono" pitchFamily="34" charset="-120"/>
              </a:rPr>
              <a:t>hash only</a:t>
            </a:r>
            <a:endParaRPr lang="en-US" sz="1050" dirty="0"/>
          </a:p>
        </p:txBody>
      </p:sp>
      <p:sp>
        <p:nvSpPr>
          <p:cNvPr id="11" name="flow arrow 0">
            <a:extLst>
              <a:ext uri="{C183D7F6-B498-43B3-948B-1728B52AA6E4}">
                <adec:decorative xmlns:adec="http://schemas.microsoft.com/office/drawing/2017/decorative" val="1"/>
              </a:ext>
            </a:extLst>
          </p:cNvPr>
          <p:cNvSpPr/>
          <p:nvPr/>
        </p:nvSpPr>
        <p:spPr>
          <a:xfrm>
            <a:off x="2385304" y="3108960"/>
            <a:ext cx="292608" cy="0"/>
          </a:xfrm>
          <a:prstGeom prst="line">
            <a:avLst/>
          </a:prstGeom>
          <a:noFill/>
          <a:ln w="22225">
            <a:solidFill>
              <a:srgbClr val="B08A3E"/>
            </a:solidFill>
            <a:prstDash val="solid"/>
            <a:tailEnd type="triangle"/>
          </a:ln>
        </p:spPr>
        <p:txBody>
          <a:bodyPr/>
          <a:lstStyle/>
          <a:p>
            <a:endParaRPr lang="en-BD"/>
          </a:p>
        </p:txBody>
      </p:sp>
      <p:sp>
        <p:nvSpPr>
          <p:cNvPr id="12" name="flow step 1">
            <a:extLst>
              <a:ext uri="{C183D7F6-B498-43B3-948B-1728B52AA6E4}">
                <adec:decorative xmlns:adec="http://schemas.microsoft.com/office/drawing/2017/decorative" val="1"/>
              </a:ext>
            </a:extLst>
          </p:cNvPr>
          <p:cNvSpPr/>
          <p:nvPr/>
        </p:nvSpPr>
        <p:spPr>
          <a:xfrm>
            <a:off x="2760208" y="2286000"/>
            <a:ext cx="1918960" cy="1645920"/>
          </a:xfrm>
          <a:prstGeom prst="rect">
            <a:avLst/>
          </a:prstGeom>
          <a:solidFill>
            <a:srgbClr val="FFFFFF"/>
          </a:solidFill>
          <a:ln w="12700">
            <a:solidFill>
              <a:srgbClr val="D6D0C2"/>
            </a:solidFill>
            <a:prstDash val="solid"/>
          </a:ln>
        </p:spPr>
        <p:txBody>
          <a:bodyPr/>
          <a:lstStyle/>
          <a:p>
            <a:endParaRPr lang="en-BD"/>
          </a:p>
        </p:txBody>
      </p:sp>
      <p:sp>
        <p:nvSpPr>
          <p:cNvPr id="13" name="flow cap 1">
            <a:extLst>
              <a:ext uri="{C183D7F6-B498-43B3-948B-1728B52AA6E4}">
                <adec:decorative xmlns:adec="http://schemas.microsoft.com/office/drawing/2017/decorative" val="1"/>
              </a:ext>
            </a:extLst>
          </p:cNvPr>
          <p:cNvSpPr/>
          <p:nvPr/>
        </p:nvSpPr>
        <p:spPr>
          <a:xfrm>
            <a:off x="2760208" y="2286000"/>
            <a:ext cx="1918960" cy="50292"/>
          </a:xfrm>
          <a:prstGeom prst="rect">
            <a:avLst/>
          </a:prstGeom>
          <a:solidFill>
            <a:srgbClr val="1E2A44"/>
          </a:solidFill>
          <a:ln/>
        </p:spPr>
        <p:txBody>
          <a:bodyPr/>
          <a:lstStyle/>
          <a:p>
            <a:endParaRPr lang="en-BD"/>
          </a:p>
        </p:txBody>
      </p:sp>
      <p:sp>
        <p:nvSpPr>
          <p:cNvPr id="14" name="Text 11"/>
          <p:cNvSpPr/>
          <p:nvPr/>
        </p:nvSpPr>
        <p:spPr>
          <a:xfrm>
            <a:off x="294308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02</a:t>
            </a:r>
            <a:endParaRPr lang="en-US" sz="1200" dirty="0"/>
          </a:p>
        </p:txBody>
      </p:sp>
      <p:sp>
        <p:nvSpPr>
          <p:cNvPr id="15" name="Text 12"/>
          <p:cNvSpPr/>
          <p:nvPr/>
        </p:nvSpPr>
        <p:spPr>
          <a:xfrm>
            <a:off x="294308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Ledger records</a:t>
            </a:r>
            <a:endParaRPr lang="en-US" sz="1500" dirty="0"/>
          </a:p>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root and metadata</a:t>
            </a:r>
            <a:endParaRPr lang="en-US" sz="1500" dirty="0"/>
          </a:p>
        </p:txBody>
      </p:sp>
      <p:sp>
        <p:nvSpPr>
          <p:cNvPr id="16" name="Text 13"/>
          <p:cNvSpPr/>
          <p:nvPr/>
        </p:nvSpPr>
        <p:spPr>
          <a:xfrm>
            <a:off x="2943088" y="3493008"/>
            <a:ext cx="1553200" cy="329184"/>
          </a:xfrm>
          <a:prstGeom prst="rect">
            <a:avLst/>
          </a:prstGeom>
          <a:noFill/>
          <a:ln/>
        </p:spPr>
        <p:txBody>
          <a:bodyPr wrap="square" lIns="0" tIns="0" rIns="0" bIns="0" rtlCol="0" anchor="ctr"/>
          <a:lstStyle/>
          <a:p>
            <a:pPr marL="0" indent="0">
              <a:buNone/>
            </a:pPr>
            <a:r>
              <a:rPr lang="en-US" sz="1050" dirty="0">
                <a:solidFill>
                  <a:srgbClr val="5A6377"/>
                </a:solidFill>
                <a:latin typeface="IBM Plex Mono" pitchFamily="34" charset="0"/>
                <a:ea typeface="IBM Plex Mono" pitchFamily="34" charset="-122"/>
                <a:cs typeface="IBM Plex Mono" pitchFamily="34" charset="-120"/>
              </a:rPr>
              <a:t>append only</a:t>
            </a:r>
            <a:endParaRPr lang="en-US" sz="1050" dirty="0"/>
          </a:p>
        </p:txBody>
      </p:sp>
      <p:sp>
        <p:nvSpPr>
          <p:cNvPr id="17" name="flow arrow 1">
            <a:extLst>
              <a:ext uri="{C183D7F6-B498-43B3-948B-1728B52AA6E4}">
                <adec:decorative xmlns:adec="http://schemas.microsoft.com/office/drawing/2017/decorative" val="1"/>
              </a:ext>
            </a:extLst>
          </p:cNvPr>
          <p:cNvSpPr/>
          <p:nvPr/>
        </p:nvSpPr>
        <p:spPr>
          <a:xfrm>
            <a:off x="4761464" y="3108960"/>
            <a:ext cx="292608" cy="0"/>
          </a:xfrm>
          <a:prstGeom prst="line">
            <a:avLst/>
          </a:prstGeom>
          <a:noFill/>
          <a:ln w="22225">
            <a:solidFill>
              <a:srgbClr val="B08A3E"/>
            </a:solidFill>
            <a:prstDash val="solid"/>
            <a:tailEnd type="triangle"/>
          </a:ln>
        </p:spPr>
        <p:txBody>
          <a:bodyPr/>
          <a:lstStyle/>
          <a:p>
            <a:endParaRPr lang="en-BD"/>
          </a:p>
        </p:txBody>
      </p:sp>
      <p:sp>
        <p:nvSpPr>
          <p:cNvPr id="18" name="flow step 2">
            <a:extLst>
              <a:ext uri="{C183D7F6-B498-43B3-948B-1728B52AA6E4}">
                <adec:decorative xmlns:adec="http://schemas.microsoft.com/office/drawing/2017/decorative" val="1"/>
              </a:ext>
            </a:extLst>
          </p:cNvPr>
          <p:cNvSpPr/>
          <p:nvPr/>
        </p:nvSpPr>
        <p:spPr>
          <a:xfrm>
            <a:off x="5136368" y="2286000"/>
            <a:ext cx="1918960" cy="1645920"/>
          </a:xfrm>
          <a:prstGeom prst="rect">
            <a:avLst/>
          </a:prstGeom>
          <a:solidFill>
            <a:srgbClr val="FFFFFF"/>
          </a:solidFill>
          <a:ln w="12700">
            <a:solidFill>
              <a:srgbClr val="D6D0C2"/>
            </a:solidFill>
            <a:prstDash val="solid"/>
          </a:ln>
        </p:spPr>
        <p:txBody>
          <a:bodyPr/>
          <a:lstStyle/>
          <a:p>
            <a:endParaRPr lang="en-BD"/>
          </a:p>
        </p:txBody>
      </p:sp>
      <p:sp>
        <p:nvSpPr>
          <p:cNvPr id="19" name="flow cap 2">
            <a:extLst>
              <a:ext uri="{C183D7F6-B498-43B3-948B-1728B52AA6E4}">
                <adec:decorative xmlns:adec="http://schemas.microsoft.com/office/drawing/2017/decorative" val="1"/>
              </a:ext>
            </a:extLst>
          </p:cNvPr>
          <p:cNvSpPr/>
          <p:nvPr/>
        </p:nvSpPr>
        <p:spPr>
          <a:xfrm>
            <a:off x="5136368" y="2286000"/>
            <a:ext cx="1918960" cy="50292"/>
          </a:xfrm>
          <a:prstGeom prst="rect">
            <a:avLst/>
          </a:prstGeom>
          <a:solidFill>
            <a:srgbClr val="1E2A44"/>
          </a:solidFill>
          <a:ln/>
        </p:spPr>
        <p:txBody>
          <a:bodyPr/>
          <a:lstStyle/>
          <a:p>
            <a:endParaRPr lang="en-BD"/>
          </a:p>
        </p:txBody>
      </p:sp>
      <p:sp>
        <p:nvSpPr>
          <p:cNvPr id="20" name="Text 17"/>
          <p:cNvSpPr/>
          <p:nvPr/>
        </p:nvSpPr>
        <p:spPr>
          <a:xfrm>
            <a:off x="531924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03</a:t>
            </a:r>
            <a:endParaRPr lang="en-US" sz="1200" dirty="0"/>
          </a:p>
        </p:txBody>
      </p:sp>
      <p:sp>
        <p:nvSpPr>
          <p:cNvPr id="21" name="Text 18"/>
          <p:cNvSpPr/>
          <p:nvPr/>
        </p:nvSpPr>
        <p:spPr>
          <a:xfrm>
            <a:off x="531924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Buyer requests</a:t>
            </a:r>
            <a:endParaRPr lang="en-US" sz="1500" dirty="0"/>
          </a:p>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a single row</a:t>
            </a:r>
            <a:endParaRPr lang="en-US" sz="1500" dirty="0"/>
          </a:p>
        </p:txBody>
      </p:sp>
      <p:sp>
        <p:nvSpPr>
          <p:cNvPr id="22" name="Text 19"/>
          <p:cNvSpPr/>
          <p:nvPr/>
        </p:nvSpPr>
        <p:spPr>
          <a:xfrm>
            <a:off x="5319248" y="3493008"/>
            <a:ext cx="1553200" cy="329184"/>
          </a:xfrm>
          <a:prstGeom prst="rect">
            <a:avLst/>
          </a:prstGeom>
          <a:noFill/>
          <a:ln/>
        </p:spPr>
        <p:txBody>
          <a:bodyPr wrap="square" lIns="0" tIns="0" rIns="0" bIns="0" rtlCol="0" anchor="ctr"/>
          <a:lstStyle/>
          <a:p>
            <a:pPr marL="0" indent="0">
              <a:buNone/>
            </a:pPr>
            <a:r>
              <a:rPr lang="en-US" sz="1050" dirty="0">
                <a:solidFill>
                  <a:srgbClr val="5A6377"/>
                </a:solidFill>
                <a:latin typeface="IBM Plex Mono" pitchFamily="34" charset="0"/>
                <a:ea typeface="IBM Plex Mono" pitchFamily="34" charset="-122"/>
                <a:cs typeface="IBM Plex Mono" pitchFamily="34" charset="-120"/>
              </a:rPr>
              <a:t>scoped ask</a:t>
            </a:r>
            <a:endParaRPr lang="en-US" sz="1050" dirty="0"/>
          </a:p>
        </p:txBody>
      </p:sp>
      <p:sp>
        <p:nvSpPr>
          <p:cNvPr id="23" name="flow arrow 2">
            <a:extLst>
              <a:ext uri="{C183D7F6-B498-43B3-948B-1728B52AA6E4}">
                <adec:decorative xmlns:adec="http://schemas.microsoft.com/office/drawing/2017/decorative" val="1"/>
              </a:ext>
            </a:extLst>
          </p:cNvPr>
          <p:cNvSpPr/>
          <p:nvPr/>
        </p:nvSpPr>
        <p:spPr>
          <a:xfrm>
            <a:off x="7137624" y="3108960"/>
            <a:ext cx="292608" cy="0"/>
          </a:xfrm>
          <a:prstGeom prst="line">
            <a:avLst/>
          </a:prstGeom>
          <a:noFill/>
          <a:ln w="22225">
            <a:solidFill>
              <a:srgbClr val="B08A3E"/>
            </a:solidFill>
            <a:prstDash val="solid"/>
            <a:tailEnd type="triangle"/>
          </a:ln>
        </p:spPr>
        <p:txBody>
          <a:bodyPr/>
          <a:lstStyle/>
          <a:p>
            <a:endParaRPr lang="en-BD"/>
          </a:p>
        </p:txBody>
      </p:sp>
      <p:sp>
        <p:nvSpPr>
          <p:cNvPr id="24" name="flow step 3">
            <a:extLst>
              <a:ext uri="{C183D7F6-B498-43B3-948B-1728B52AA6E4}">
                <adec:decorative xmlns:adec="http://schemas.microsoft.com/office/drawing/2017/decorative" val="1"/>
              </a:ext>
            </a:extLst>
          </p:cNvPr>
          <p:cNvSpPr/>
          <p:nvPr/>
        </p:nvSpPr>
        <p:spPr>
          <a:xfrm>
            <a:off x="7512528" y="2286000"/>
            <a:ext cx="1918960" cy="1645920"/>
          </a:xfrm>
          <a:prstGeom prst="rect">
            <a:avLst/>
          </a:prstGeom>
          <a:solidFill>
            <a:srgbClr val="FFFFFF"/>
          </a:solidFill>
          <a:ln w="12700">
            <a:solidFill>
              <a:srgbClr val="D6D0C2"/>
            </a:solidFill>
            <a:prstDash val="solid"/>
          </a:ln>
        </p:spPr>
        <p:txBody>
          <a:bodyPr/>
          <a:lstStyle/>
          <a:p>
            <a:endParaRPr lang="en-BD"/>
          </a:p>
        </p:txBody>
      </p:sp>
      <p:sp>
        <p:nvSpPr>
          <p:cNvPr id="25" name="flow cap 3">
            <a:extLst>
              <a:ext uri="{C183D7F6-B498-43B3-948B-1728B52AA6E4}">
                <adec:decorative xmlns:adec="http://schemas.microsoft.com/office/drawing/2017/decorative" val="1"/>
              </a:ext>
            </a:extLst>
          </p:cNvPr>
          <p:cNvSpPr/>
          <p:nvPr/>
        </p:nvSpPr>
        <p:spPr>
          <a:xfrm>
            <a:off x="7512528" y="2286000"/>
            <a:ext cx="1918960" cy="50292"/>
          </a:xfrm>
          <a:prstGeom prst="rect">
            <a:avLst/>
          </a:prstGeom>
          <a:solidFill>
            <a:srgbClr val="1E2A44"/>
          </a:solidFill>
          <a:ln/>
        </p:spPr>
        <p:txBody>
          <a:bodyPr/>
          <a:lstStyle/>
          <a:p>
            <a:endParaRPr lang="en-BD"/>
          </a:p>
        </p:txBody>
      </p:sp>
      <p:sp>
        <p:nvSpPr>
          <p:cNvPr id="26" name="Text 23"/>
          <p:cNvSpPr/>
          <p:nvPr/>
        </p:nvSpPr>
        <p:spPr>
          <a:xfrm>
            <a:off x="769540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04</a:t>
            </a:r>
            <a:endParaRPr lang="en-US" sz="1200" dirty="0"/>
          </a:p>
        </p:txBody>
      </p:sp>
      <p:sp>
        <p:nvSpPr>
          <p:cNvPr id="27" name="Text 24"/>
          <p:cNvSpPr/>
          <p:nvPr/>
        </p:nvSpPr>
        <p:spPr>
          <a:xfrm>
            <a:off x="769540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Access grant</a:t>
            </a:r>
            <a:endParaRPr lang="en-US" sz="1500" dirty="0"/>
          </a:p>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written on chain</a:t>
            </a:r>
            <a:endParaRPr lang="en-US" sz="1500" dirty="0"/>
          </a:p>
        </p:txBody>
      </p:sp>
      <p:sp>
        <p:nvSpPr>
          <p:cNvPr id="28" name="Text 25"/>
          <p:cNvSpPr/>
          <p:nvPr/>
        </p:nvSpPr>
        <p:spPr>
          <a:xfrm>
            <a:off x="7695408" y="3493008"/>
            <a:ext cx="1553200" cy="329184"/>
          </a:xfrm>
          <a:prstGeom prst="rect">
            <a:avLst/>
          </a:prstGeom>
          <a:noFill/>
          <a:ln/>
        </p:spPr>
        <p:txBody>
          <a:bodyPr wrap="square" lIns="0" tIns="0" rIns="0" bIns="0" rtlCol="0" anchor="ctr"/>
          <a:lstStyle/>
          <a:p>
            <a:pPr marL="0" indent="0">
              <a:buNone/>
            </a:pPr>
            <a:r>
              <a:rPr lang="en-US" sz="1050" dirty="0">
                <a:solidFill>
                  <a:srgbClr val="5A6377"/>
                </a:solidFill>
                <a:latin typeface="IBM Plex Mono" pitchFamily="34" charset="0"/>
                <a:ea typeface="IBM Plex Mono" pitchFamily="34" charset="-122"/>
                <a:cs typeface="IBM Plex Mono" pitchFamily="34" charset="-120"/>
              </a:rPr>
              <a:t>who asked what</a:t>
            </a:r>
            <a:endParaRPr lang="en-US" sz="1050" dirty="0"/>
          </a:p>
        </p:txBody>
      </p:sp>
      <p:sp>
        <p:nvSpPr>
          <p:cNvPr id="29" name="flow arrow 3">
            <a:extLst>
              <a:ext uri="{C183D7F6-B498-43B3-948B-1728B52AA6E4}">
                <adec:decorative xmlns:adec="http://schemas.microsoft.com/office/drawing/2017/decorative" val="1"/>
              </a:ext>
            </a:extLst>
          </p:cNvPr>
          <p:cNvSpPr/>
          <p:nvPr/>
        </p:nvSpPr>
        <p:spPr>
          <a:xfrm>
            <a:off x="9513783" y="3108960"/>
            <a:ext cx="292608" cy="0"/>
          </a:xfrm>
          <a:prstGeom prst="line">
            <a:avLst/>
          </a:prstGeom>
          <a:noFill/>
          <a:ln w="22225">
            <a:solidFill>
              <a:srgbClr val="B08A3E"/>
            </a:solidFill>
            <a:prstDash val="solid"/>
            <a:tailEnd type="triangle"/>
          </a:ln>
        </p:spPr>
        <p:txBody>
          <a:bodyPr/>
          <a:lstStyle/>
          <a:p>
            <a:endParaRPr lang="en-BD"/>
          </a:p>
        </p:txBody>
      </p:sp>
      <p:sp>
        <p:nvSpPr>
          <p:cNvPr id="30" name="flow step 4">
            <a:extLst>
              <a:ext uri="{C183D7F6-B498-43B3-948B-1728B52AA6E4}">
                <adec:decorative xmlns:adec="http://schemas.microsoft.com/office/drawing/2017/decorative" val="1"/>
              </a:ext>
            </a:extLst>
          </p:cNvPr>
          <p:cNvSpPr/>
          <p:nvPr/>
        </p:nvSpPr>
        <p:spPr>
          <a:xfrm>
            <a:off x="9888687" y="2286000"/>
            <a:ext cx="1918960" cy="1645920"/>
          </a:xfrm>
          <a:prstGeom prst="rect">
            <a:avLst/>
          </a:prstGeom>
          <a:solidFill>
            <a:srgbClr val="FFFFFF"/>
          </a:solidFill>
          <a:ln w="12700">
            <a:solidFill>
              <a:srgbClr val="D6D0C2"/>
            </a:solidFill>
            <a:prstDash val="solid"/>
          </a:ln>
        </p:spPr>
        <p:txBody>
          <a:bodyPr/>
          <a:lstStyle/>
          <a:p>
            <a:endParaRPr lang="en-BD"/>
          </a:p>
        </p:txBody>
      </p:sp>
      <p:sp>
        <p:nvSpPr>
          <p:cNvPr id="31" name="flow cap 4">
            <a:extLst>
              <a:ext uri="{C183D7F6-B498-43B3-948B-1728B52AA6E4}">
                <adec:decorative xmlns:adec="http://schemas.microsoft.com/office/drawing/2017/decorative" val="1"/>
              </a:ext>
            </a:extLst>
          </p:cNvPr>
          <p:cNvSpPr/>
          <p:nvPr/>
        </p:nvSpPr>
        <p:spPr>
          <a:xfrm>
            <a:off x="9888687" y="2286000"/>
            <a:ext cx="1918960" cy="50292"/>
          </a:xfrm>
          <a:prstGeom prst="rect">
            <a:avLst/>
          </a:prstGeom>
          <a:solidFill>
            <a:srgbClr val="B08A3E"/>
          </a:solidFill>
          <a:ln/>
        </p:spPr>
        <p:txBody>
          <a:bodyPr/>
          <a:lstStyle/>
          <a:p>
            <a:endParaRPr lang="en-BD"/>
          </a:p>
        </p:txBody>
      </p:sp>
      <p:sp>
        <p:nvSpPr>
          <p:cNvPr id="32" name="Text 29"/>
          <p:cNvSpPr/>
          <p:nvPr/>
        </p:nvSpPr>
        <p:spPr>
          <a:xfrm>
            <a:off x="10071567"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05</a:t>
            </a:r>
            <a:endParaRPr lang="en-US" sz="1200" dirty="0"/>
          </a:p>
        </p:txBody>
      </p:sp>
      <p:sp>
        <p:nvSpPr>
          <p:cNvPr id="33" name="Text 30"/>
          <p:cNvSpPr/>
          <p:nvPr/>
        </p:nvSpPr>
        <p:spPr>
          <a:xfrm>
            <a:off x="10071567"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Buyer recomputes</a:t>
            </a:r>
            <a:endParaRPr lang="en-US" sz="1500" dirty="0"/>
          </a:p>
          <a:p>
            <a:pPr marL="0" indent="0">
              <a:lnSpc>
                <a:spcPct val="110000"/>
              </a:lnSpc>
              <a:buNone/>
            </a:pPr>
            <a:r>
              <a:rPr lang="en-US" sz="1500" b="1" dirty="0">
                <a:solidFill>
                  <a:srgbClr val="162034"/>
                </a:solidFill>
                <a:latin typeface="Inter" pitchFamily="34" charset="0"/>
                <a:ea typeface="Inter" pitchFamily="34" charset="-122"/>
                <a:cs typeface="Inter" pitchFamily="34" charset="-120"/>
              </a:rPr>
              <a:t>and compares</a:t>
            </a:r>
            <a:endParaRPr lang="en-US" sz="1500" dirty="0"/>
          </a:p>
        </p:txBody>
      </p:sp>
      <p:sp>
        <p:nvSpPr>
          <p:cNvPr id="34" name="Text 31"/>
          <p:cNvSpPr/>
          <p:nvPr/>
        </p:nvSpPr>
        <p:spPr>
          <a:xfrm>
            <a:off x="10071567" y="3493008"/>
            <a:ext cx="1553200" cy="329184"/>
          </a:xfrm>
          <a:prstGeom prst="rect">
            <a:avLst/>
          </a:prstGeom>
          <a:noFill/>
          <a:ln/>
        </p:spPr>
        <p:txBody>
          <a:bodyPr wrap="square" lIns="0" tIns="0" rIns="0" bIns="0" rtlCol="0" anchor="ctr"/>
          <a:lstStyle/>
          <a:p>
            <a:pPr marL="0" indent="0">
              <a:buNone/>
            </a:pPr>
            <a:r>
              <a:rPr lang="en-US" sz="1050" dirty="0">
                <a:solidFill>
                  <a:srgbClr val="5A6377"/>
                </a:solidFill>
                <a:latin typeface="IBM Plex Mono" pitchFamily="34" charset="0"/>
                <a:ea typeface="IBM Plex Mono" pitchFamily="34" charset="-122"/>
                <a:cs typeface="IBM Plex Mono" pitchFamily="34" charset="-120"/>
              </a:rPr>
              <a:t>local check</a:t>
            </a:r>
            <a:endParaRPr lang="en-US" sz="1050" dirty="0"/>
          </a:p>
        </p:txBody>
      </p:sp>
      <p:sp>
        <p:nvSpPr>
          <p:cNvPr id="35" name="outcome chip">
            <a:extLst>
              <a:ext uri="{C183D7F6-B498-43B3-948B-1728B52AA6E4}">
                <adec:decorative xmlns:adec="http://schemas.microsoft.com/office/drawing/2017/decorative" val="1"/>
              </a:ext>
            </a:extLst>
          </p:cNvPr>
          <p:cNvSpPr/>
          <p:nvPr/>
        </p:nvSpPr>
        <p:spPr>
          <a:xfrm>
            <a:off x="384048" y="4206240"/>
            <a:ext cx="5394960" cy="777240"/>
          </a:xfrm>
          <a:prstGeom prst="rect">
            <a:avLst/>
          </a:prstGeom>
          <a:solidFill>
            <a:srgbClr val="2E6B5E"/>
          </a:solidFill>
          <a:ln/>
        </p:spPr>
        <p:txBody>
          <a:bodyPr/>
          <a:lstStyle/>
          <a:p>
            <a:endParaRPr lang="en-BD"/>
          </a:p>
        </p:txBody>
      </p:sp>
      <p:sp>
        <p:nvSpPr>
          <p:cNvPr id="36" name="Text 33"/>
          <p:cNvSpPr/>
          <p:nvPr/>
        </p:nvSpPr>
        <p:spPr>
          <a:xfrm>
            <a:off x="658368" y="4306824"/>
            <a:ext cx="4846320" cy="310896"/>
          </a:xfrm>
          <a:prstGeom prst="rect">
            <a:avLst/>
          </a:prstGeom>
          <a:noFill/>
          <a:ln/>
        </p:spPr>
        <p:txBody>
          <a:bodyPr wrap="square" lIns="0" tIns="0" rIns="0" bIns="0" rtlCol="0" anchor="ctr"/>
          <a:lstStyle/>
          <a:p>
            <a:pPr marL="0" indent="0">
              <a:buNone/>
            </a:pPr>
            <a:r>
              <a:rPr lang="en-US" sz="1400" b="1" kern="0" spc="200" dirty="0">
                <a:solidFill>
                  <a:srgbClr val="FFFFFF"/>
                </a:solidFill>
                <a:latin typeface="IBM Plex Mono" pitchFamily="34" charset="0"/>
                <a:ea typeface="IBM Plex Mono" pitchFamily="34" charset="-122"/>
                <a:cs typeface="IBM Plex Mono" pitchFamily="34" charset="-120"/>
              </a:rPr>
              <a:t>ROOTS MATCH</a:t>
            </a:r>
            <a:endParaRPr lang="en-US" sz="1400" dirty="0"/>
          </a:p>
        </p:txBody>
      </p:sp>
      <p:sp>
        <p:nvSpPr>
          <p:cNvPr id="37" name="Text 34"/>
          <p:cNvSpPr/>
          <p:nvPr/>
        </p:nvSpPr>
        <p:spPr>
          <a:xfrm>
            <a:off x="658368" y="4617720"/>
            <a:ext cx="4846320" cy="310896"/>
          </a:xfrm>
          <a:prstGeom prst="rect">
            <a:avLst/>
          </a:prstGeom>
          <a:noFill/>
          <a:ln/>
        </p:spPr>
        <p:txBody>
          <a:bodyPr wrap="square" lIns="0" tIns="0" rIns="0" bIns="0" rtlCol="0" anchor="ctr"/>
          <a:lstStyle/>
          <a:p>
            <a:pPr marL="0" indent="0">
              <a:buNone/>
            </a:pPr>
            <a:r>
              <a:rPr lang="en-US" sz="1400" dirty="0">
                <a:solidFill>
                  <a:srgbClr val="F2ECE2"/>
                </a:solidFill>
                <a:latin typeface="Inter" pitchFamily="34" charset="0"/>
                <a:ea typeface="Inter" pitchFamily="34" charset="-122"/>
                <a:cs typeface="Inter" pitchFamily="34" charset="-120"/>
              </a:rPr>
              <a:t>The row is authentic and unaltered.</a:t>
            </a:r>
            <a:endParaRPr lang="en-US" sz="1400" dirty="0"/>
          </a:p>
        </p:txBody>
      </p:sp>
      <p:sp>
        <p:nvSpPr>
          <p:cNvPr id="38" name="outcome chip">
            <a:extLst>
              <a:ext uri="{C183D7F6-B498-43B3-948B-1728B52AA6E4}">
                <adec:decorative xmlns:adec="http://schemas.microsoft.com/office/drawing/2017/decorative" val="1"/>
              </a:ext>
            </a:extLst>
          </p:cNvPr>
          <p:cNvSpPr/>
          <p:nvPr/>
        </p:nvSpPr>
        <p:spPr>
          <a:xfrm>
            <a:off x="6419088" y="4206240"/>
            <a:ext cx="5394960" cy="777240"/>
          </a:xfrm>
          <a:prstGeom prst="rect">
            <a:avLst/>
          </a:prstGeom>
          <a:solidFill>
            <a:srgbClr val="9C4A34"/>
          </a:solidFill>
          <a:ln/>
        </p:spPr>
        <p:txBody>
          <a:bodyPr/>
          <a:lstStyle/>
          <a:p>
            <a:endParaRPr lang="en-BD"/>
          </a:p>
        </p:txBody>
      </p:sp>
      <p:sp>
        <p:nvSpPr>
          <p:cNvPr id="39" name="Text 36"/>
          <p:cNvSpPr/>
          <p:nvPr/>
        </p:nvSpPr>
        <p:spPr>
          <a:xfrm>
            <a:off x="6693408" y="4306824"/>
            <a:ext cx="4846320" cy="310896"/>
          </a:xfrm>
          <a:prstGeom prst="rect">
            <a:avLst/>
          </a:prstGeom>
          <a:noFill/>
          <a:ln/>
        </p:spPr>
        <p:txBody>
          <a:bodyPr wrap="square" lIns="0" tIns="0" rIns="0" bIns="0" rtlCol="0" anchor="ctr"/>
          <a:lstStyle/>
          <a:p>
            <a:pPr marL="0" indent="0">
              <a:buNone/>
            </a:pPr>
            <a:r>
              <a:rPr lang="en-US" sz="1400" b="1" kern="0" spc="200" dirty="0">
                <a:solidFill>
                  <a:srgbClr val="FFFFFF"/>
                </a:solidFill>
                <a:latin typeface="IBM Plex Mono" pitchFamily="34" charset="0"/>
                <a:ea typeface="IBM Plex Mono" pitchFamily="34" charset="-122"/>
                <a:cs typeface="IBM Plex Mono" pitchFamily="34" charset="-120"/>
              </a:rPr>
              <a:t>ANY EDIT</a:t>
            </a:r>
            <a:endParaRPr lang="en-US" sz="1400" dirty="0"/>
          </a:p>
        </p:txBody>
      </p:sp>
      <p:sp>
        <p:nvSpPr>
          <p:cNvPr id="40" name="Text 37"/>
          <p:cNvSpPr/>
          <p:nvPr/>
        </p:nvSpPr>
        <p:spPr>
          <a:xfrm>
            <a:off x="6693408" y="4617720"/>
            <a:ext cx="4846320" cy="310896"/>
          </a:xfrm>
          <a:prstGeom prst="rect">
            <a:avLst/>
          </a:prstGeom>
          <a:noFill/>
          <a:ln/>
        </p:spPr>
        <p:txBody>
          <a:bodyPr wrap="square" lIns="0" tIns="0" rIns="0" bIns="0" rtlCol="0" anchor="ctr"/>
          <a:lstStyle/>
          <a:p>
            <a:pPr marL="0" indent="0">
              <a:buNone/>
            </a:pPr>
            <a:r>
              <a:rPr lang="en-US" sz="1400" dirty="0">
                <a:solidFill>
                  <a:srgbClr val="F2ECE2"/>
                </a:solidFill>
                <a:latin typeface="Inter" pitchFamily="34" charset="0"/>
                <a:ea typeface="Inter" pitchFamily="34" charset="-122"/>
                <a:cs typeface="Inter" pitchFamily="34" charset="-120"/>
              </a:rPr>
              <a:t>The recomputed root diverges. Proof fails.</a:t>
            </a:r>
            <a:endParaRPr lang="en-US" sz="1400" dirty="0"/>
          </a:p>
        </p:txBody>
      </p:sp>
      <p:sp>
        <p:nvSpPr>
          <p:cNvPr id="41" name="Text 38"/>
          <p:cNvSpPr/>
          <p:nvPr/>
        </p:nvSpPr>
        <p:spPr>
          <a:xfrm>
            <a:off x="384048" y="5349240"/>
            <a:ext cx="10515600" cy="411480"/>
          </a:xfrm>
          <a:prstGeom prst="rect">
            <a:avLst/>
          </a:prstGeom>
          <a:noFill/>
          <a:ln/>
        </p:spPr>
        <p:txBody>
          <a:bodyPr wrap="square" lIns="0" tIns="0" rIns="0" bIns="0" rtlCol="0" anchor="ctr"/>
          <a:lstStyle/>
          <a:p>
            <a:pPr marL="0" indent="0">
              <a:buNone/>
            </a:pPr>
            <a:r>
              <a:rPr lang="en-US" sz="1900" dirty="0">
                <a:solidFill>
                  <a:srgbClr val="162034"/>
                </a:solidFill>
                <a:latin typeface="Inter" pitchFamily="34" charset="0"/>
                <a:ea typeface="Inter" pitchFamily="34" charset="-122"/>
                <a:cs typeface="Inter" pitchFamily="34" charset="-120"/>
              </a:rPr>
              <a:t>The file never leaves the factory. Twelve items do.</a:t>
            </a:r>
            <a:endParaRPr lang="en-US" sz="1900" dirty="0"/>
          </a:p>
        </p:txBody>
      </p:sp>
      <p:sp>
        <p:nvSpPr>
          <p:cNvPr id="42" name="Text 39"/>
          <p:cNvSpPr/>
          <p:nvPr/>
        </p:nvSpPr>
        <p:spPr>
          <a:xfrm>
            <a:off x="384048" y="5897880"/>
            <a:ext cx="10515600" cy="411480"/>
          </a:xfrm>
          <a:prstGeom prst="rect">
            <a:avLst/>
          </a:prstGeom>
          <a:noFill/>
          <a:ln/>
        </p:spPr>
        <p:txBody>
          <a:bodyPr wrap="square" lIns="0" tIns="0" rIns="0" bIns="0" rtlCol="0" anchor="ctr"/>
          <a:lstStyle/>
          <a:p>
            <a:pPr marL="0" indent="0">
              <a:buNone/>
            </a:pPr>
            <a:r>
              <a:rPr lang="en-US" sz="1400" dirty="0">
                <a:solidFill>
                  <a:srgbClr val="5A6377"/>
                </a:solidFill>
                <a:latin typeface="IBM Plex Mono" pitchFamily="34" charset="0"/>
                <a:ea typeface="IBM Plex Mono" pitchFamily="34" charset="-122"/>
                <a:cs typeface="IBM Plex Mono" pitchFamily="34" charset="-120"/>
              </a:rPr>
              <a:t>Committed before the dispute exists  ·  that is what makes it evidence</a:t>
            </a:r>
            <a:endParaRPr lang="en-US" sz="14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640080"/>
            <a:ext cx="7680960" cy="1234440"/>
          </a:xfrm>
          <a:prstGeom prst="rect">
            <a:avLst/>
          </a:prstGeom>
          <a:noFill/>
          <a:ln/>
        </p:spPr>
        <p:txBody>
          <a:bodyPr wrap="square" lIns="0" tIns="0" rIns="0" bIns="0" rtlCol="0" anchor="t"/>
          <a:lstStyle/>
          <a:p>
            <a:pPr marL="0" indent="0" algn="l">
              <a:lnSpc>
                <a:spcPct val="105000"/>
              </a:lnSpc>
              <a:buNone/>
            </a:pPr>
            <a:r>
              <a:rPr lang="en-US" sz="4200" b="1" dirty="0">
                <a:solidFill>
                  <a:srgbClr val="162034"/>
                </a:solidFill>
                <a:latin typeface="Fraunces" pitchFamily="34" charset="0"/>
                <a:ea typeface="Fraunces" pitchFamily="34" charset="-122"/>
                <a:cs typeface="Fraunces" pitchFamily="34" charset="-120"/>
              </a:rPr>
              <a:t>A model that improves</a:t>
            </a:r>
            <a:endParaRPr lang="en-US" sz="4200" dirty="0"/>
          </a:p>
          <a:p>
            <a:pPr marL="0" indent="0" algn="l">
              <a:lnSpc>
                <a:spcPct val="105000"/>
              </a:lnSpc>
              <a:buNone/>
            </a:pPr>
            <a:r>
              <a:rPr lang="en-US" sz="4200" b="1" dirty="0">
                <a:solidFill>
                  <a:srgbClr val="162034"/>
                </a:solidFill>
                <a:latin typeface="Fraunces" pitchFamily="34" charset="0"/>
                <a:ea typeface="Fraunces" pitchFamily="34" charset="-122"/>
                <a:cs typeface="Fraunces" pitchFamily="34" charset="-120"/>
              </a:rPr>
              <a:t>can still be getting worse.</a:t>
            </a:r>
            <a:endParaRPr lang="en-US" sz="4200" dirty="0"/>
          </a:p>
        </p:txBody>
      </p:sp>
      <p:sp>
        <p:nvSpPr>
          <p:cNvPr id="4" name="accent rule">
            <a:extLst>
              <a:ext uri="{C183D7F6-B498-43B3-948B-1728B52AA6E4}">
                <adec:decorative xmlns:adec="http://schemas.microsoft.com/office/drawing/2017/decorative" val="1"/>
              </a:ext>
            </a:extLst>
          </p:cNvPr>
          <p:cNvSpPr/>
          <p:nvPr/>
        </p:nvSpPr>
        <p:spPr>
          <a:xfrm>
            <a:off x="777240" y="365760"/>
            <a:ext cx="1005840" cy="50292"/>
          </a:xfrm>
          <a:prstGeom prst="rect">
            <a:avLst/>
          </a:prstGeom>
          <a:solidFill>
            <a:srgbClr val="B08A3E"/>
          </a:solidFill>
          <a:ln/>
        </p:spPr>
        <p:txBody>
          <a:bodyPr/>
          <a:lstStyle/>
          <a:p>
            <a:endParaRPr lang="en-BD"/>
          </a:p>
        </p:txBody>
      </p:sp>
      <p:sp>
        <p:nvSpPr>
          <p:cNvPr id="5" name="Text 2"/>
          <p:cNvSpPr/>
          <p:nvPr/>
        </p:nvSpPr>
        <p:spPr>
          <a:xfrm>
            <a:off x="822960" y="2148840"/>
            <a:ext cx="4754880" cy="320040"/>
          </a:xfrm>
          <a:prstGeom prst="rect">
            <a:avLst/>
          </a:prstGeom>
          <a:noFill/>
          <a:ln/>
        </p:spPr>
        <p:txBody>
          <a:bodyPr wrap="square" lIns="0" tIns="0" rIns="0" bIns="0" rtlCol="0" anchor="ctr"/>
          <a:lstStyle/>
          <a:p>
            <a:pPr marL="0" indent="0">
              <a:buNone/>
            </a:pPr>
            <a:r>
              <a:rPr lang="en-US" sz="1300" kern="0" spc="200" dirty="0">
                <a:solidFill>
                  <a:srgbClr val="5A6377"/>
                </a:solidFill>
                <a:latin typeface="IBM Plex Mono" pitchFamily="34" charset="0"/>
                <a:ea typeface="IBM Plex Mono" pitchFamily="34" charset="-122"/>
                <a:cs typeface="IBM Plex Mono" pitchFamily="34" charset="-120"/>
              </a:rPr>
              <a:t>TASK</a:t>
            </a:r>
            <a:endParaRPr lang="en-US" sz="1300" dirty="0"/>
          </a:p>
        </p:txBody>
      </p:sp>
      <p:sp>
        <p:nvSpPr>
          <p:cNvPr id="6" name="Text 3"/>
          <p:cNvSpPr/>
          <p:nvPr/>
        </p:nvSpPr>
        <p:spPr>
          <a:xfrm>
            <a:off x="5760720" y="2148840"/>
            <a:ext cx="1645920" cy="320040"/>
          </a:xfrm>
          <a:prstGeom prst="rect">
            <a:avLst/>
          </a:prstGeom>
          <a:noFill/>
          <a:ln/>
        </p:spPr>
        <p:txBody>
          <a:bodyPr wrap="square" lIns="0" tIns="0" rIns="0" bIns="0" rtlCol="0" anchor="ctr"/>
          <a:lstStyle/>
          <a:p>
            <a:pPr marL="0" indent="0" algn="r">
              <a:buNone/>
            </a:pPr>
            <a:r>
              <a:rPr lang="en-US" sz="1300" kern="0" spc="200" dirty="0">
                <a:solidFill>
                  <a:srgbClr val="5A6377"/>
                </a:solidFill>
                <a:latin typeface="IBM Plex Mono" pitchFamily="34" charset="0"/>
                <a:ea typeface="IBM Plex Mono" pitchFamily="34" charset="-122"/>
                <a:cs typeface="IBM Plex Mono" pitchFamily="34" charset="-120"/>
              </a:rPr>
              <a:t>BEFORE</a:t>
            </a:r>
            <a:endParaRPr lang="en-US" sz="1300" dirty="0"/>
          </a:p>
        </p:txBody>
      </p:sp>
      <p:sp>
        <p:nvSpPr>
          <p:cNvPr id="7" name="Text 4"/>
          <p:cNvSpPr/>
          <p:nvPr/>
        </p:nvSpPr>
        <p:spPr>
          <a:xfrm>
            <a:off x="7589520" y="2148840"/>
            <a:ext cx="1645920" cy="320040"/>
          </a:xfrm>
          <a:prstGeom prst="rect">
            <a:avLst/>
          </a:prstGeom>
          <a:noFill/>
          <a:ln/>
        </p:spPr>
        <p:txBody>
          <a:bodyPr wrap="square" lIns="0" tIns="0" rIns="0" bIns="0" rtlCol="0" anchor="ctr"/>
          <a:lstStyle/>
          <a:p>
            <a:pPr marL="0" indent="0" algn="r">
              <a:buNone/>
            </a:pPr>
            <a:r>
              <a:rPr lang="en-US" sz="1300" kern="0" spc="200" dirty="0">
                <a:solidFill>
                  <a:srgbClr val="5A6377"/>
                </a:solidFill>
                <a:latin typeface="IBM Plex Mono" pitchFamily="34" charset="0"/>
                <a:ea typeface="IBM Plex Mono" pitchFamily="34" charset="-122"/>
                <a:cs typeface="IBM Plex Mono" pitchFamily="34" charset="-120"/>
              </a:rPr>
              <a:t>AFTER</a:t>
            </a:r>
            <a:endParaRPr lang="en-US" sz="1300" dirty="0"/>
          </a:p>
        </p:txBody>
      </p:sp>
      <p:sp>
        <p:nvSpPr>
          <p:cNvPr id="8" name="Text 5"/>
          <p:cNvSpPr/>
          <p:nvPr/>
        </p:nvSpPr>
        <p:spPr>
          <a:xfrm>
            <a:off x="9418320" y="2148840"/>
            <a:ext cx="1920240" cy="320040"/>
          </a:xfrm>
          <a:prstGeom prst="rect">
            <a:avLst/>
          </a:prstGeom>
          <a:noFill/>
          <a:ln/>
        </p:spPr>
        <p:txBody>
          <a:bodyPr wrap="square" lIns="0" tIns="0" rIns="0" bIns="0" rtlCol="0" anchor="ctr"/>
          <a:lstStyle/>
          <a:p>
            <a:pPr marL="0" indent="0" algn="r">
              <a:buNone/>
            </a:pPr>
            <a:r>
              <a:rPr lang="en-US" sz="1300" kern="0" spc="200" dirty="0">
                <a:solidFill>
                  <a:srgbClr val="5A6377"/>
                </a:solidFill>
                <a:latin typeface="IBM Plex Mono" pitchFamily="34" charset="0"/>
                <a:ea typeface="IBM Plex Mono" pitchFamily="34" charset="-122"/>
                <a:cs typeface="IBM Plex Mono" pitchFamily="34" charset="-120"/>
              </a:rPr>
              <a:t>CHANGE</a:t>
            </a:r>
            <a:endParaRPr lang="en-US" sz="1300" dirty="0"/>
          </a:p>
        </p:txBody>
      </p:sp>
      <p:sp>
        <p:nvSpPr>
          <p:cNvPr id="9" name="row rule">
            <a:extLst>
              <a:ext uri="{C183D7F6-B498-43B3-948B-1728B52AA6E4}">
                <adec:decorative xmlns:adec="http://schemas.microsoft.com/office/drawing/2017/decorative" val="1"/>
              </a:ext>
            </a:extLst>
          </p:cNvPr>
          <p:cNvSpPr/>
          <p:nvPr/>
        </p:nvSpPr>
        <p:spPr>
          <a:xfrm>
            <a:off x="822960" y="2606040"/>
            <a:ext cx="10515600" cy="18288"/>
          </a:xfrm>
          <a:prstGeom prst="rect">
            <a:avLst/>
          </a:prstGeom>
          <a:solidFill>
            <a:srgbClr val="D6D0C2"/>
          </a:solidFill>
          <a:ln/>
        </p:spPr>
        <p:txBody>
          <a:bodyPr/>
          <a:lstStyle/>
          <a:p>
            <a:endParaRPr lang="en-BD"/>
          </a:p>
        </p:txBody>
      </p:sp>
      <p:sp>
        <p:nvSpPr>
          <p:cNvPr id="10" name="Text 7"/>
          <p:cNvSpPr/>
          <p:nvPr/>
        </p:nvSpPr>
        <p:spPr>
          <a:xfrm>
            <a:off x="822960" y="2770632"/>
            <a:ext cx="4754880" cy="457200"/>
          </a:xfrm>
          <a:prstGeom prst="rect">
            <a:avLst/>
          </a:prstGeom>
          <a:noFill/>
          <a:ln/>
        </p:spPr>
        <p:txBody>
          <a:bodyPr wrap="square" lIns="0" tIns="0" rIns="0" bIns="0" rtlCol="0" anchor="ctr"/>
          <a:lstStyle/>
          <a:p>
            <a:pPr marL="0" indent="0">
              <a:buNone/>
            </a:pPr>
            <a:r>
              <a:rPr lang="en-US" sz="2000" dirty="0">
                <a:solidFill>
                  <a:srgbClr val="162034"/>
                </a:solidFill>
                <a:latin typeface="Inter" pitchFamily="34" charset="0"/>
                <a:ea typeface="Inter" pitchFamily="34" charset="-122"/>
                <a:cs typeface="Inter" pitchFamily="34" charset="-120"/>
              </a:rPr>
              <a:t>Wage-register inconsistency</a:t>
            </a:r>
            <a:endParaRPr lang="en-US" sz="2000" dirty="0"/>
          </a:p>
        </p:txBody>
      </p:sp>
      <p:sp>
        <p:nvSpPr>
          <p:cNvPr id="11" name="Text 8"/>
          <p:cNvSpPr/>
          <p:nvPr/>
        </p:nvSpPr>
        <p:spPr>
          <a:xfrm>
            <a:off x="5760720" y="2770632"/>
            <a:ext cx="1645920" cy="457200"/>
          </a:xfrm>
          <a:prstGeom prst="rect">
            <a:avLst/>
          </a:prstGeom>
          <a:noFill/>
          <a:ln/>
        </p:spPr>
        <p:txBody>
          <a:bodyPr wrap="square" lIns="0" tIns="0" rIns="0" bIns="0" rtlCol="0" anchor="ctr"/>
          <a:lstStyle/>
          <a:p>
            <a:pPr marL="0" indent="0" algn="r">
              <a:buNone/>
            </a:pPr>
            <a:r>
              <a:rPr lang="en-US" sz="2000" dirty="0">
                <a:solidFill>
                  <a:srgbClr val="5A6377"/>
                </a:solidFill>
                <a:latin typeface="IBM Plex Mono" pitchFamily="34" charset="0"/>
                <a:ea typeface="IBM Plex Mono" pitchFamily="34" charset="-122"/>
                <a:cs typeface="IBM Plex Mono" pitchFamily="34" charset="-120"/>
              </a:rPr>
              <a:t>91.6%</a:t>
            </a:r>
            <a:endParaRPr lang="en-US" sz="2000" dirty="0"/>
          </a:p>
        </p:txBody>
      </p:sp>
      <p:sp>
        <p:nvSpPr>
          <p:cNvPr id="12" name="Text 9"/>
          <p:cNvSpPr/>
          <p:nvPr/>
        </p:nvSpPr>
        <p:spPr>
          <a:xfrm>
            <a:off x="7589520" y="2770632"/>
            <a:ext cx="1645920" cy="457200"/>
          </a:xfrm>
          <a:prstGeom prst="rect">
            <a:avLst/>
          </a:prstGeom>
          <a:noFill/>
          <a:ln/>
        </p:spPr>
        <p:txBody>
          <a:bodyPr wrap="square" lIns="0" tIns="0" rIns="0" bIns="0" rtlCol="0" anchor="ctr"/>
          <a:lstStyle/>
          <a:p>
            <a:pPr marL="0" indent="0" algn="r">
              <a:buNone/>
            </a:pPr>
            <a:r>
              <a:rPr lang="en-US" sz="2000" dirty="0">
                <a:solidFill>
                  <a:srgbClr val="162034"/>
                </a:solidFill>
                <a:latin typeface="IBM Plex Mono" pitchFamily="34" charset="0"/>
                <a:ea typeface="IBM Plex Mono" pitchFamily="34" charset="-122"/>
                <a:cs typeface="IBM Plex Mono" pitchFamily="34" charset="-120"/>
              </a:rPr>
              <a:t>73.5%</a:t>
            </a:r>
            <a:endParaRPr lang="en-US" sz="2000" dirty="0"/>
          </a:p>
        </p:txBody>
      </p:sp>
      <p:sp>
        <p:nvSpPr>
          <p:cNvPr id="13" name="Text 10"/>
          <p:cNvSpPr/>
          <p:nvPr/>
        </p:nvSpPr>
        <p:spPr>
          <a:xfrm>
            <a:off x="9418320" y="2770632"/>
            <a:ext cx="1920240" cy="457200"/>
          </a:xfrm>
          <a:prstGeom prst="rect">
            <a:avLst/>
          </a:prstGeom>
          <a:noFill/>
          <a:ln/>
        </p:spPr>
        <p:txBody>
          <a:bodyPr wrap="square" lIns="0" tIns="0" rIns="0" bIns="0" rtlCol="0" anchor="ctr"/>
          <a:lstStyle/>
          <a:p>
            <a:pPr marL="0" indent="0" algn="r">
              <a:buNone/>
            </a:pPr>
            <a:r>
              <a:rPr lang="en-US" sz="2000" b="1" dirty="0">
                <a:solidFill>
                  <a:srgbClr val="9C4A34"/>
                </a:solidFill>
                <a:latin typeface="IBM Plex Mono" pitchFamily="34" charset="0"/>
                <a:ea typeface="IBM Plex Mono" pitchFamily="34" charset="-122"/>
                <a:cs typeface="IBM Plex Mono" pitchFamily="34" charset="-120"/>
              </a:rPr>
              <a:t>▼ 18.1 pts</a:t>
            </a:r>
            <a:endParaRPr lang="en-US" sz="2000" dirty="0"/>
          </a:p>
        </p:txBody>
      </p:sp>
      <p:sp>
        <p:nvSpPr>
          <p:cNvPr id="14" name="row rule">
            <a:extLst>
              <a:ext uri="{C183D7F6-B498-43B3-948B-1728B52AA6E4}">
                <adec:decorative xmlns:adec="http://schemas.microsoft.com/office/drawing/2017/decorative" val="1"/>
              </a:ext>
            </a:extLst>
          </p:cNvPr>
          <p:cNvSpPr/>
          <p:nvPr/>
        </p:nvSpPr>
        <p:spPr>
          <a:xfrm>
            <a:off x="822960" y="3502152"/>
            <a:ext cx="10515600" cy="18288"/>
          </a:xfrm>
          <a:prstGeom prst="rect">
            <a:avLst/>
          </a:prstGeom>
          <a:solidFill>
            <a:srgbClr val="D6D0C2"/>
          </a:solidFill>
          <a:ln/>
        </p:spPr>
        <p:txBody>
          <a:bodyPr/>
          <a:lstStyle/>
          <a:p>
            <a:endParaRPr lang="en-BD"/>
          </a:p>
        </p:txBody>
      </p:sp>
      <p:sp>
        <p:nvSpPr>
          <p:cNvPr id="15" name="Text 12"/>
          <p:cNvSpPr/>
          <p:nvPr/>
        </p:nvSpPr>
        <p:spPr>
          <a:xfrm>
            <a:off x="822960" y="3666744"/>
            <a:ext cx="4754880" cy="457200"/>
          </a:xfrm>
          <a:prstGeom prst="rect">
            <a:avLst/>
          </a:prstGeom>
          <a:noFill/>
          <a:ln/>
        </p:spPr>
        <p:txBody>
          <a:bodyPr wrap="square" lIns="0" tIns="0" rIns="0" bIns="0" rtlCol="0" anchor="ctr"/>
          <a:lstStyle/>
          <a:p>
            <a:pPr marL="0" indent="0">
              <a:buNone/>
            </a:pPr>
            <a:r>
              <a:rPr lang="en-US" sz="2000" dirty="0">
                <a:solidFill>
                  <a:srgbClr val="162034"/>
                </a:solidFill>
                <a:latin typeface="Inter" pitchFamily="34" charset="0"/>
                <a:ea typeface="Inter" pitchFamily="34" charset="-122"/>
                <a:cs typeface="Inter" pitchFamily="34" charset="-120"/>
              </a:rPr>
              <a:t>Forged certificate</a:t>
            </a:r>
            <a:endParaRPr lang="en-US" sz="2000" dirty="0"/>
          </a:p>
        </p:txBody>
      </p:sp>
      <p:sp>
        <p:nvSpPr>
          <p:cNvPr id="16" name="Text 13"/>
          <p:cNvSpPr/>
          <p:nvPr/>
        </p:nvSpPr>
        <p:spPr>
          <a:xfrm>
            <a:off x="5760720" y="3666744"/>
            <a:ext cx="1645920" cy="457200"/>
          </a:xfrm>
          <a:prstGeom prst="rect">
            <a:avLst/>
          </a:prstGeom>
          <a:noFill/>
          <a:ln/>
        </p:spPr>
        <p:txBody>
          <a:bodyPr wrap="square" lIns="0" tIns="0" rIns="0" bIns="0" rtlCol="0" anchor="ctr"/>
          <a:lstStyle/>
          <a:p>
            <a:pPr marL="0" indent="0" algn="r">
              <a:buNone/>
            </a:pPr>
            <a:r>
              <a:rPr lang="en-US" sz="2000" dirty="0">
                <a:solidFill>
                  <a:srgbClr val="5A6377"/>
                </a:solidFill>
                <a:latin typeface="IBM Plex Mono" pitchFamily="34" charset="0"/>
                <a:ea typeface="IBM Plex Mono" pitchFamily="34" charset="-122"/>
                <a:cs typeface="IBM Plex Mono" pitchFamily="34" charset="-120"/>
              </a:rPr>
              <a:t>97.8%</a:t>
            </a:r>
            <a:endParaRPr lang="en-US" sz="2000" dirty="0"/>
          </a:p>
        </p:txBody>
      </p:sp>
      <p:sp>
        <p:nvSpPr>
          <p:cNvPr id="17" name="Text 14"/>
          <p:cNvSpPr/>
          <p:nvPr/>
        </p:nvSpPr>
        <p:spPr>
          <a:xfrm>
            <a:off x="7589520" y="3666744"/>
            <a:ext cx="1645920" cy="457200"/>
          </a:xfrm>
          <a:prstGeom prst="rect">
            <a:avLst/>
          </a:prstGeom>
          <a:noFill/>
          <a:ln/>
        </p:spPr>
        <p:txBody>
          <a:bodyPr wrap="square" lIns="0" tIns="0" rIns="0" bIns="0" rtlCol="0" anchor="ctr"/>
          <a:lstStyle/>
          <a:p>
            <a:pPr marL="0" indent="0" algn="r">
              <a:buNone/>
            </a:pPr>
            <a:r>
              <a:rPr lang="en-US" sz="2000" dirty="0">
                <a:solidFill>
                  <a:srgbClr val="162034"/>
                </a:solidFill>
                <a:latin typeface="IBM Plex Mono" pitchFamily="34" charset="0"/>
                <a:ea typeface="IBM Plex Mono" pitchFamily="34" charset="-122"/>
                <a:cs typeface="IBM Plex Mono" pitchFamily="34" charset="-120"/>
              </a:rPr>
              <a:t>100.0%</a:t>
            </a:r>
            <a:endParaRPr lang="en-US" sz="2000" dirty="0"/>
          </a:p>
        </p:txBody>
      </p:sp>
      <p:sp>
        <p:nvSpPr>
          <p:cNvPr id="18" name="Text 15"/>
          <p:cNvSpPr/>
          <p:nvPr/>
        </p:nvSpPr>
        <p:spPr>
          <a:xfrm>
            <a:off x="9418320" y="3666744"/>
            <a:ext cx="1920240" cy="457200"/>
          </a:xfrm>
          <a:prstGeom prst="rect">
            <a:avLst/>
          </a:prstGeom>
          <a:noFill/>
          <a:ln/>
        </p:spPr>
        <p:txBody>
          <a:bodyPr wrap="square" lIns="0" tIns="0" rIns="0" bIns="0" rtlCol="0" anchor="ctr"/>
          <a:lstStyle/>
          <a:p>
            <a:pPr marL="0" indent="0" algn="r">
              <a:buNone/>
            </a:pPr>
            <a:r>
              <a:rPr lang="en-US" sz="2000" b="1" dirty="0">
                <a:solidFill>
                  <a:srgbClr val="2E6B5E"/>
                </a:solidFill>
                <a:latin typeface="IBM Plex Mono" pitchFamily="34" charset="0"/>
                <a:ea typeface="IBM Plex Mono" pitchFamily="34" charset="-122"/>
                <a:cs typeface="IBM Plex Mono" pitchFamily="34" charset="-120"/>
              </a:rPr>
              <a:t>▲ 2.2 pts</a:t>
            </a:r>
            <a:endParaRPr lang="en-US" sz="2000" dirty="0"/>
          </a:p>
        </p:txBody>
      </p:sp>
      <p:sp>
        <p:nvSpPr>
          <p:cNvPr id="19" name="row rule">
            <a:extLst>
              <a:ext uri="{C183D7F6-B498-43B3-948B-1728B52AA6E4}">
                <adec:decorative xmlns:adec="http://schemas.microsoft.com/office/drawing/2017/decorative" val="1"/>
              </a:ext>
            </a:extLst>
          </p:cNvPr>
          <p:cNvSpPr/>
          <p:nvPr/>
        </p:nvSpPr>
        <p:spPr>
          <a:xfrm>
            <a:off x="822960" y="4398264"/>
            <a:ext cx="10515600" cy="18288"/>
          </a:xfrm>
          <a:prstGeom prst="rect">
            <a:avLst/>
          </a:prstGeom>
          <a:solidFill>
            <a:srgbClr val="D6D0C2"/>
          </a:solidFill>
          <a:ln/>
        </p:spPr>
        <p:txBody>
          <a:bodyPr/>
          <a:lstStyle/>
          <a:p>
            <a:endParaRPr lang="en-BD"/>
          </a:p>
        </p:txBody>
      </p:sp>
      <p:sp>
        <p:nvSpPr>
          <p:cNvPr id="20" name="Text 17"/>
          <p:cNvSpPr/>
          <p:nvPr/>
        </p:nvSpPr>
        <p:spPr>
          <a:xfrm>
            <a:off x="822960" y="4562856"/>
            <a:ext cx="4754880" cy="457200"/>
          </a:xfrm>
          <a:prstGeom prst="rect">
            <a:avLst/>
          </a:prstGeom>
          <a:noFill/>
          <a:ln/>
        </p:spPr>
        <p:txBody>
          <a:bodyPr wrap="square" lIns="0" tIns="0" rIns="0" bIns="0" rtlCol="0" anchor="ctr"/>
          <a:lstStyle/>
          <a:p>
            <a:pPr marL="0" indent="0">
              <a:buNone/>
            </a:pPr>
            <a:r>
              <a:rPr lang="en-US" sz="2000" dirty="0">
                <a:solidFill>
                  <a:srgbClr val="162034"/>
                </a:solidFill>
                <a:latin typeface="Inter" pitchFamily="34" charset="0"/>
                <a:ea typeface="Inter" pitchFamily="34" charset="-122"/>
                <a:cs typeface="Inter" pitchFamily="34" charset="-120"/>
              </a:rPr>
              <a:t>Chemical misreporting</a:t>
            </a:r>
            <a:endParaRPr lang="en-US" sz="2000" dirty="0"/>
          </a:p>
        </p:txBody>
      </p:sp>
      <p:sp>
        <p:nvSpPr>
          <p:cNvPr id="21" name="Text 18"/>
          <p:cNvSpPr/>
          <p:nvPr/>
        </p:nvSpPr>
        <p:spPr>
          <a:xfrm>
            <a:off x="5760720" y="4562856"/>
            <a:ext cx="1645920" cy="457200"/>
          </a:xfrm>
          <a:prstGeom prst="rect">
            <a:avLst/>
          </a:prstGeom>
          <a:noFill/>
          <a:ln/>
        </p:spPr>
        <p:txBody>
          <a:bodyPr wrap="square" lIns="0" tIns="0" rIns="0" bIns="0" rtlCol="0" anchor="ctr"/>
          <a:lstStyle/>
          <a:p>
            <a:pPr marL="0" indent="0" algn="r">
              <a:buNone/>
            </a:pPr>
            <a:r>
              <a:rPr lang="en-US" sz="2000" dirty="0">
                <a:solidFill>
                  <a:srgbClr val="5A6377"/>
                </a:solidFill>
                <a:latin typeface="IBM Plex Mono" pitchFamily="34" charset="0"/>
                <a:ea typeface="IBM Plex Mono" pitchFamily="34" charset="-122"/>
                <a:cs typeface="IBM Plex Mono" pitchFamily="34" charset="-120"/>
              </a:rPr>
              <a:t>48.0%</a:t>
            </a:r>
            <a:endParaRPr lang="en-US" sz="2000" dirty="0"/>
          </a:p>
        </p:txBody>
      </p:sp>
      <p:sp>
        <p:nvSpPr>
          <p:cNvPr id="22" name="Text 19"/>
          <p:cNvSpPr/>
          <p:nvPr/>
        </p:nvSpPr>
        <p:spPr>
          <a:xfrm>
            <a:off x="7589520" y="4562856"/>
            <a:ext cx="1645920" cy="457200"/>
          </a:xfrm>
          <a:prstGeom prst="rect">
            <a:avLst/>
          </a:prstGeom>
          <a:noFill/>
          <a:ln/>
        </p:spPr>
        <p:txBody>
          <a:bodyPr wrap="square" lIns="0" tIns="0" rIns="0" bIns="0" rtlCol="0" anchor="ctr"/>
          <a:lstStyle/>
          <a:p>
            <a:pPr marL="0" indent="0" algn="r">
              <a:buNone/>
            </a:pPr>
            <a:r>
              <a:rPr lang="en-US" sz="2000" dirty="0">
                <a:solidFill>
                  <a:srgbClr val="162034"/>
                </a:solidFill>
                <a:latin typeface="IBM Plex Mono" pitchFamily="34" charset="0"/>
                <a:ea typeface="IBM Plex Mono" pitchFamily="34" charset="-122"/>
                <a:cs typeface="IBM Plex Mono" pitchFamily="34" charset="-120"/>
              </a:rPr>
              <a:t>100.0%</a:t>
            </a:r>
            <a:endParaRPr lang="en-US" sz="2000" dirty="0"/>
          </a:p>
        </p:txBody>
      </p:sp>
      <p:sp>
        <p:nvSpPr>
          <p:cNvPr id="23" name="Text 20"/>
          <p:cNvSpPr/>
          <p:nvPr/>
        </p:nvSpPr>
        <p:spPr>
          <a:xfrm>
            <a:off x="9418320" y="4562856"/>
            <a:ext cx="1920240" cy="457200"/>
          </a:xfrm>
          <a:prstGeom prst="rect">
            <a:avLst/>
          </a:prstGeom>
          <a:noFill/>
          <a:ln/>
        </p:spPr>
        <p:txBody>
          <a:bodyPr wrap="square" lIns="0" tIns="0" rIns="0" bIns="0" rtlCol="0" anchor="ctr"/>
          <a:lstStyle/>
          <a:p>
            <a:pPr marL="0" indent="0" algn="r">
              <a:buNone/>
            </a:pPr>
            <a:r>
              <a:rPr lang="en-US" sz="2000" b="1" dirty="0">
                <a:solidFill>
                  <a:srgbClr val="2E6B5E"/>
                </a:solidFill>
                <a:latin typeface="IBM Plex Mono" pitchFamily="34" charset="0"/>
                <a:ea typeface="IBM Plex Mono" pitchFamily="34" charset="-122"/>
                <a:cs typeface="IBM Plex Mono" pitchFamily="34" charset="-120"/>
              </a:rPr>
              <a:t>▲ 52.0 pts</a:t>
            </a:r>
            <a:endParaRPr lang="en-US" sz="2000" dirty="0"/>
          </a:p>
        </p:txBody>
      </p:sp>
      <p:sp>
        <p:nvSpPr>
          <p:cNvPr id="24" name="row rule">
            <a:extLst>
              <a:ext uri="{C183D7F6-B498-43B3-948B-1728B52AA6E4}">
                <adec:decorative xmlns:adec="http://schemas.microsoft.com/office/drawing/2017/decorative" val="1"/>
              </a:ext>
            </a:extLst>
          </p:cNvPr>
          <p:cNvSpPr/>
          <p:nvPr/>
        </p:nvSpPr>
        <p:spPr>
          <a:xfrm>
            <a:off x="822960" y="5294376"/>
            <a:ext cx="10515600" cy="18288"/>
          </a:xfrm>
          <a:prstGeom prst="rect">
            <a:avLst/>
          </a:prstGeom>
          <a:solidFill>
            <a:srgbClr val="D6D0C2"/>
          </a:solidFill>
          <a:ln/>
        </p:spPr>
        <p:txBody>
          <a:bodyPr/>
          <a:lstStyle/>
          <a:p>
            <a:endParaRPr lang="en-BD"/>
          </a:p>
        </p:txBody>
      </p:sp>
      <p:sp>
        <p:nvSpPr>
          <p:cNvPr id="25" name="Text 22"/>
          <p:cNvSpPr/>
          <p:nvPr/>
        </p:nvSpPr>
        <p:spPr>
          <a:xfrm>
            <a:off x="822960" y="5623560"/>
            <a:ext cx="7315200" cy="502920"/>
          </a:xfrm>
          <a:prstGeom prst="rect">
            <a:avLst/>
          </a:prstGeom>
          <a:noFill/>
          <a:ln/>
        </p:spPr>
        <p:txBody>
          <a:bodyPr wrap="square" lIns="0" tIns="0" rIns="0" bIns="0" rtlCol="0" anchor="ctr"/>
          <a:lstStyle/>
          <a:p>
            <a:pPr marL="0" indent="0">
              <a:buNone/>
            </a:pPr>
            <a:r>
              <a:rPr lang="en-US" sz="2600" b="1" dirty="0">
                <a:solidFill>
                  <a:srgbClr val="B08A3E"/>
                </a:solidFill>
                <a:latin typeface="Fraunces" pitchFamily="34" charset="0"/>
                <a:ea typeface="Fraunces" pitchFamily="34" charset="-122"/>
                <a:cs typeface="Fraunces" pitchFamily="34" charset="-120"/>
              </a:rPr>
              <a:t>Best model yet at the newest problem.</a:t>
            </a:r>
            <a:endParaRPr lang="en-US" sz="2600" dirty="0"/>
          </a:p>
        </p:txBody>
      </p:sp>
      <p:sp>
        <p:nvSpPr>
          <p:cNvPr id="26" name="Text 23"/>
          <p:cNvSpPr/>
          <p:nvPr/>
        </p:nvSpPr>
        <p:spPr>
          <a:xfrm>
            <a:off x="7863840" y="5715000"/>
            <a:ext cx="3474720" cy="365760"/>
          </a:xfrm>
          <a:prstGeom prst="rect">
            <a:avLst/>
          </a:prstGeom>
          <a:noFill/>
          <a:ln/>
        </p:spPr>
        <p:txBody>
          <a:bodyPr wrap="square" lIns="0" tIns="0" rIns="0" bIns="0" rtlCol="0" anchor="ctr"/>
          <a:lstStyle/>
          <a:p>
            <a:pPr marL="0" indent="0" algn="r">
              <a:buNone/>
            </a:pPr>
            <a:r>
              <a:rPr lang="en-US" sz="1400" dirty="0">
                <a:solidFill>
                  <a:srgbClr val="5A6377"/>
                </a:solidFill>
                <a:latin typeface="Inter" pitchFamily="34" charset="0"/>
                <a:ea typeface="Inter" pitchFamily="34" charset="-122"/>
                <a:cs typeface="Inter" pitchFamily="34" charset="-120"/>
              </a:rPr>
              <a:t>Simulated results on generated data.</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640080"/>
            <a:ext cx="7680960" cy="1234440"/>
          </a:xfrm>
          <a:prstGeom prst="rect">
            <a:avLst/>
          </a:prstGeom>
          <a:noFill/>
          <a:ln/>
        </p:spPr>
        <p:txBody>
          <a:bodyPr wrap="square" lIns="0" tIns="0" rIns="0" bIns="0" rtlCol="0" anchor="t"/>
          <a:lstStyle/>
          <a:p>
            <a:pPr marL="0" indent="0" algn="l">
              <a:lnSpc>
                <a:spcPct val="105000"/>
              </a:lnSpc>
              <a:buNone/>
            </a:pPr>
            <a:r>
              <a:rPr lang="en-US" sz="4200" b="1" dirty="0">
                <a:solidFill>
                  <a:srgbClr val="162034"/>
                </a:solidFill>
                <a:latin typeface="Fraunces" pitchFamily="34" charset="0"/>
                <a:ea typeface="Fraunces" pitchFamily="34" charset="-122"/>
                <a:cs typeface="Fraunces" pitchFamily="34" charset="-120"/>
              </a:rPr>
              <a:t>A model that improves</a:t>
            </a:r>
            <a:endParaRPr lang="en-US" sz="4200" dirty="0"/>
          </a:p>
          <a:p>
            <a:pPr marL="0" indent="0" algn="l">
              <a:lnSpc>
                <a:spcPct val="105000"/>
              </a:lnSpc>
              <a:buNone/>
            </a:pPr>
            <a:r>
              <a:rPr lang="en-US" sz="4200" b="1" dirty="0">
                <a:solidFill>
                  <a:srgbClr val="162034"/>
                </a:solidFill>
                <a:latin typeface="Fraunces" pitchFamily="34" charset="0"/>
                <a:ea typeface="Fraunces" pitchFamily="34" charset="-122"/>
                <a:cs typeface="Fraunces" pitchFamily="34" charset="-120"/>
              </a:rPr>
              <a:t>can still be getting worse.</a:t>
            </a:r>
            <a:endParaRPr lang="en-US" sz="4200" dirty="0"/>
          </a:p>
        </p:txBody>
      </p:sp>
      <p:sp>
        <p:nvSpPr>
          <p:cNvPr id="4" name="accent rule">
            <a:extLst>
              <a:ext uri="{C183D7F6-B498-43B3-948B-1728B52AA6E4}">
                <adec:decorative xmlns:adec="http://schemas.microsoft.com/office/drawing/2017/decorative" val="1"/>
              </a:ext>
            </a:extLst>
          </p:cNvPr>
          <p:cNvSpPr/>
          <p:nvPr/>
        </p:nvSpPr>
        <p:spPr>
          <a:xfrm>
            <a:off x="777240" y="365760"/>
            <a:ext cx="1005840" cy="50292"/>
          </a:xfrm>
          <a:prstGeom prst="rect">
            <a:avLst/>
          </a:prstGeom>
          <a:solidFill>
            <a:srgbClr val="B08A3E"/>
          </a:solidFill>
          <a:ln/>
        </p:spPr>
        <p:txBody>
          <a:bodyPr/>
          <a:lstStyle/>
          <a:p>
            <a:endParaRPr lang="en-BD"/>
          </a:p>
        </p:txBody>
      </p:sp>
      <p:sp>
        <p:nvSpPr>
          <p:cNvPr id="5" name="Text 2"/>
          <p:cNvSpPr/>
          <p:nvPr/>
        </p:nvSpPr>
        <p:spPr>
          <a:xfrm>
            <a:off x="822960" y="2148840"/>
            <a:ext cx="4754880" cy="320040"/>
          </a:xfrm>
          <a:prstGeom prst="rect">
            <a:avLst/>
          </a:prstGeom>
          <a:noFill/>
          <a:ln/>
        </p:spPr>
        <p:txBody>
          <a:bodyPr wrap="square" lIns="0" tIns="0" rIns="0" bIns="0" rtlCol="0" anchor="ctr"/>
          <a:lstStyle/>
          <a:p>
            <a:pPr marL="0" indent="0">
              <a:buNone/>
            </a:pPr>
            <a:r>
              <a:rPr lang="en-US" sz="1300" kern="0" spc="200" dirty="0">
                <a:solidFill>
                  <a:srgbClr val="5A6377"/>
                </a:solidFill>
                <a:latin typeface="IBM Plex Mono" pitchFamily="34" charset="0"/>
                <a:ea typeface="IBM Plex Mono" pitchFamily="34" charset="-122"/>
                <a:cs typeface="IBM Plex Mono" pitchFamily="34" charset="-120"/>
              </a:rPr>
              <a:t>TASK</a:t>
            </a:r>
            <a:endParaRPr lang="en-US" sz="1300" dirty="0"/>
          </a:p>
        </p:txBody>
      </p:sp>
      <p:sp>
        <p:nvSpPr>
          <p:cNvPr id="6" name="Text 3"/>
          <p:cNvSpPr/>
          <p:nvPr/>
        </p:nvSpPr>
        <p:spPr>
          <a:xfrm>
            <a:off x="5760720" y="2148840"/>
            <a:ext cx="1645920" cy="320040"/>
          </a:xfrm>
          <a:prstGeom prst="rect">
            <a:avLst/>
          </a:prstGeom>
          <a:noFill/>
          <a:ln/>
        </p:spPr>
        <p:txBody>
          <a:bodyPr wrap="square" lIns="0" tIns="0" rIns="0" bIns="0" rtlCol="0" anchor="ctr"/>
          <a:lstStyle/>
          <a:p>
            <a:pPr marL="0" indent="0" algn="r">
              <a:buNone/>
            </a:pPr>
            <a:r>
              <a:rPr lang="en-US" sz="1300" kern="0" spc="200" dirty="0">
                <a:solidFill>
                  <a:srgbClr val="5A6377"/>
                </a:solidFill>
                <a:latin typeface="IBM Plex Mono" pitchFamily="34" charset="0"/>
                <a:ea typeface="IBM Plex Mono" pitchFamily="34" charset="-122"/>
                <a:cs typeface="IBM Plex Mono" pitchFamily="34" charset="-120"/>
              </a:rPr>
              <a:t>BEFORE</a:t>
            </a:r>
            <a:endParaRPr lang="en-US" sz="1300" dirty="0"/>
          </a:p>
        </p:txBody>
      </p:sp>
      <p:sp>
        <p:nvSpPr>
          <p:cNvPr id="7" name="Text 4"/>
          <p:cNvSpPr/>
          <p:nvPr/>
        </p:nvSpPr>
        <p:spPr>
          <a:xfrm>
            <a:off x="7589520" y="2148840"/>
            <a:ext cx="1645920" cy="320040"/>
          </a:xfrm>
          <a:prstGeom prst="rect">
            <a:avLst/>
          </a:prstGeom>
          <a:noFill/>
          <a:ln/>
        </p:spPr>
        <p:txBody>
          <a:bodyPr wrap="square" lIns="0" tIns="0" rIns="0" bIns="0" rtlCol="0" anchor="ctr"/>
          <a:lstStyle/>
          <a:p>
            <a:pPr marL="0" indent="0" algn="r">
              <a:buNone/>
            </a:pPr>
            <a:r>
              <a:rPr lang="en-US" sz="1300" kern="0" spc="200" dirty="0">
                <a:solidFill>
                  <a:srgbClr val="5A6377"/>
                </a:solidFill>
                <a:latin typeface="IBM Plex Mono" pitchFamily="34" charset="0"/>
                <a:ea typeface="IBM Plex Mono" pitchFamily="34" charset="-122"/>
                <a:cs typeface="IBM Plex Mono" pitchFamily="34" charset="-120"/>
              </a:rPr>
              <a:t>AFTER</a:t>
            </a:r>
            <a:endParaRPr lang="en-US" sz="1300" dirty="0"/>
          </a:p>
        </p:txBody>
      </p:sp>
      <p:sp>
        <p:nvSpPr>
          <p:cNvPr id="8" name="Text 5"/>
          <p:cNvSpPr/>
          <p:nvPr/>
        </p:nvSpPr>
        <p:spPr>
          <a:xfrm>
            <a:off x="9418320" y="2148840"/>
            <a:ext cx="1920240" cy="320040"/>
          </a:xfrm>
          <a:prstGeom prst="rect">
            <a:avLst/>
          </a:prstGeom>
          <a:noFill/>
          <a:ln/>
        </p:spPr>
        <p:txBody>
          <a:bodyPr wrap="square" lIns="0" tIns="0" rIns="0" bIns="0" rtlCol="0" anchor="ctr"/>
          <a:lstStyle/>
          <a:p>
            <a:pPr marL="0" indent="0" algn="r">
              <a:buNone/>
            </a:pPr>
            <a:r>
              <a:rPr lang="en-US" sz="1300" kern="0" spc="200" dirty="0">
                <a:solidFill>
                  <a:srgbClr val="5A6377"/>
                </a:solidFill>
                <a:latin typeface="IBM Plex Mono" pitchFamily="34" charset="0"/>
                <a:ea typeface="IBM Plex Mono" pitchFamily="34" charset="-122"/>
                <a:cs typeface="IBM Plex Mono" pitchFamily="34" charset="-120"/>
              </a:rPr>
              <a:t>CHANGE</a:t>
            </a:r>
            <a:endParaRPr lang="en-US" sz="1300" dirty="0"/>
          </a:p>
        </p:txBody>
      </p:sp>
      <p:sp>
        <p:nvSpPr>
          <p:cNvPr id="9" name="row rule">
            <a:extLst>
              <a:ext uri="{C183D7F6-B498-43B3-948B-1728B52AA6E4}">
                <adec:decorative xmlns:adec="http://schemas.microsoft.com/office/drawing/2017/decorative" val="1"/>
              </a:ext>
            </a:extLst>
          </p:cNvPr>
          <p:cNvSpPr/>
          <p:nvPr/>
        </p:nvSpPr>
        <p:spPr>
          <a:xfrm>
            <a:off x="822960" y="2606040"/>
            <a:ext cx="10515600" cy="18288"/>
          </a:xfrm>
          <a:prstGeom prst="rect">
            <a:avLst/>
          </a:prstGeom>
          <a:solidFill>
            <a:srgbClr val="D6D0C2"/>
          </a:solidFill>
          <a:ln/>
        </p:spPr>
        <p:txBody>
          <a:bodyPr/>
          <a:lstStyle/>
          <a:p>
            <a:endParaRPr lang="en-BD"/>
          </a:p>
        </p:txBody>
      </p:sp>
      <p:sp>
        <p:nvSpPr>
          <p:cNvPr id="10" name="Text 7"/>
          <p:cNvSpPr/>
          <p:nvPr/>
        </p:nvSpPr>
        <p:spPr>
          <a:xfrm>
            <a:off x="822960" y="2770632"/>
            <a:ext cx="4754880" cy="457200"/>
          </a:xfrm>
          <a:prstGeom prst="rect">
            <a:avLst/>
          </a:prstGeom>
          <a:noFill/>
          <a:ln/>
        </p:spPr>
        <p:txBody>
          <a:bodyPr wrap="square" lIns="0" tIns="0" rIns="0" bIns="0" rtlCol="0" anchor="ctr"/>
          <a:lstStyle/>
          <a:p>
            <a:pPr marL="0" indent="0">
              <a:buNone/>
            </a:pPr>
            <a:r>
              <a:rPr lang="en-US" sz="2000" dirty="0">
                <a:solidFill>
                  <a:srgbClr val="162034"/>
                </a:solidFill>
                <a:latin typeface="Inter" pitchFamily="34" charset="0"/>
                <a:ea typeface="Inter" pitchFamily="34" charset="-122"/>
                <a:cs typeface="Inter" pitchFamily="34" charset="-120"/>
              </a:rPr>
              <a:t>Wage-register inconsistency</a:t>
            </a:r>
            <a:endParaRPr lang="en-US" sz="2000" dirty="0"/>
          </a:p>
        </p:txBody>
      </p:sp>
      <p:sp>
        <p:nvSpPr>
          <p:cNvPr id="11" name="Text 8"/>
          <p:cNvSpPr/>
          <p:nvPr/>
        </p:nvSpPr>
        <p:spPr>
          <a:xfrm>
            <a:off x="5760720" y="2770632"/>
            <a:ext cx="1645920" cy="457200"/>
          </a:xfrm>
          <a:prstGeom prst="rect">
            <a:avLst/>
          </a:prstGeom>
          <a:noFill/>
          <a:ln/>
        </p:spPr>
        <p:txBody>
          <a:bodyPr wrap="square" lIns="0" tIns="0" rIns="0" bIns="0" rtlCol="0" anchor="ctr"/>
          <a:lstStyle/>
          <a:p>
            <a:pPr marL="0" indent="0" algn="r">
              <a:buNone/>
            </a:pPr>
            <a:r>
              <a:rPr lang="en-US" sz="2000" dirty="0">
                <a:solidFill>
                  <a:srgbClr val="5A6377"/>
                </a:solidFill>
                <a:latin typeface="IBM Plex Mono" pitchFamily="34" charset="0"/>
                <a:ea typeface="IBM Plex Mono" pitchFamily="34" charset="-122"/>
                <a:cs typeface="IBM Plex Mono" pitchFamily="34" charset="-120"/>
              </a:rPr>
              <a:t>91.6%</a:t>
            </a:r>
            <a:endParaRPr lang="en-US" sz="2000" dirty="0"/>
          </a:p>
        </p:txBody>
      </p:sp>
      <p:sp>
        <p:nvSpPr>
          <p:cNvPr id="12" name="Text 9"/>
          <p:cNvSpPr/>
          <p:nvPr/>
        </p:nvSpPr>
        <p:spPr>
          <a:xfrm>
            <a:off x="7589520" y="2770632"/>
            <a:ext cx="1645920" cy="457200"/>
          </a:xfrm>
          <a:prstGeom prst="rect">
            <a:avLst/>
          </a:prstGeom>
          <a:noFill/>
          <a:ln/>
        </p:spPr>
        <p:txBody>
          <a:bodyPr wrap="square" lIns="0" tIns="0" rIns="0" bIns="0" rtlCol="0" anchor="ctr"/>
          <a:lstStyle/>
          <a:p>
            <a:pPr marL="0" indent="0" algn="r">
              <a:buNone/>
            </a:pPr>
            <a:r>
              <a:rPr lang="en-US" sz="2000" dirty="0">
                <a:solidFill>
                  <a:srgbClr val="162034"/>
                </a:solidFill>
                <a:latin typeface="IBM Plex Mono" pitchFamily="34" charset="0"/>
                <a:ea typeface="IBM Plex Mono" pitchFamily="34" charset="-122"/>
                <a:cs typeface="IBM Plex Mono" pitchFamily="34" charset="-120"/>
              </a:rPr>
              <a:t>73.5%</a:t>
            </a:r>
            <a:endParaRPr lang="en-US" sz="2000" dirty="0"/>
          </a:p>
        </p:txBody>
      </p:sp>
      <p:sp>
        <p:nvSpPr>
          <p:cNvPr id="13" name="Text 10"/>
          <p:cNvSpPr/>
          <p:nvPr/>
        </p:nvSpPr>
        <p:spPr>
          <a:xfrm>
            <a:off x="9418320" y="2770632"/>
            <a:ext cx="1920240" cy="457200"/>
          </a:xfrm>
          <a:prstGeom prst="rect">
            <a:avLst/>
          </a:prstGeom>
          <a:noFill/>
          <a:ln/>
        </p:spPr>
        <p:txBody>
          <a:bodyPr wrap="square" lIns="0" tIns="0" rIns="0" bIns="0" rtlCol="0" anchor="ctr"/>
          <a:lstStyle/>
          <a:p>
            <a:pPr marL="0" indent="0" algn="r">
              <a:buNone/>
            </a:pPr>
            <a:r>
              <a:rPr lang="en-US" sz="2000" b="1" dirty="0">
                <a:solidFill>
                  <a:srgbClr val="9C4A34"/>
                </a:solidFill>
                <a:latin typeface="IBM Plex Mono" pitchFamily="34" charset="0"/>
                <a:ea typeface="IBM Plex Mono" pitchFamily="34" charset="-122"/>
                <a:cs typeface="IBM Plex Mono" pitchFamily="34" charset="-120"/>
              </a:rPr>
              <a:t>▼ 18.1 pts</a:t>
            </a:r>
            <a:endParaRPr lang="en-US" sz="2000" dirty="0"/>
          </a:p>
        </p:txBody>
      </p:sp>
      <p:sp>
        <p:nvSpPr>
          <p:cNvPr id="14" name="row rule">
            <a:extLst>
              <a:ext uri="{C183D7F6-B498-43B3-948B-1728B52AA6E4}">
                <adec:decorative xmlns:adec="http://schemas.microsoft.com/office/drawing/2017/decorative" val="1"/>
              </a:ext>
            </a:extLst>
          </p:cNvPr>
          <p:cNvSpPr/>
          <p:nvPr/>
        </p:nvSpPr>
        <p:spPr>
          <a:xfrm>
            <a:off x="822960" y="3502152"/>
            <a:ext cx="10515600" cy="18288"/>
          </a:xfrm>
          <a:prstGeom prst="rect">
            <a:avLst/>
          </a:prstGeom>
          <a:solidFill>
            <a:srgbClr val="D6D0C2"/>
          </a:solidFill>
          <a:ln/>
        </p:spPr>
        <p:txBody>
          <a:bodyPr/>
          <a:lstStyle/>
          <a:p>
            <a:endParaRPr lang="en-BD"/>
          </a:p>
        </p:txBody>
      </p:sp>
      <p:sp>
        <p:nvSpPr>
          <p:cNvPr id="15" name="Text 12"/>
          <p:cNvSpPr/>
          <p:nvPr/>
        </p:nvSpPr>
        <p:spPr>
          <a:xfrm>
            <a:off x="822960" y="3666744"/>
            <a:ext cx="4754880" cy="457200"/>
          </a:xfrm>
          <a:prstGeom prst="rect">
            <a:avLst/>
          </a:prstGeom>
          <a:noFill/>
          <a:ln/>
        </p:spPr>
        <p:txBody>
          <a:bodyPr wrap="square" lIns="0" tIns="0" rIns="0" bIns="0" rtlCol="0" anchor="ctr"/>
          <a:lstStyle/>
          <a:p>
            <a:pPr marL="0" indent="0">
              <a:buNone/>
            </a:pPr>
            <a:r>
              <a:rPr lang="en-US" sz="2000" dirty="0">
                <a:solidFill>
                  <a:srgbClr val="162034"/>
                </a:solidFill>
                <a:latin typeface="Inter" pitchFamily="34" charset="0"/>
                <a:ea typeface="Inter" pitchFamily="34" charset="-122"/>
                <a:cs typeface="Inter" pitchFamily="34" charset="-120"/>
              </a:rPr>
              <a:t>Forged certificate</a:t>
            </a:r>
            <a:endParaRPr lang="en-US" sz="2000" dirty="0"/>
          </a:p>
        </p:txBody>
      </p:sp>
      <p:sp>
        <p:nvSpPr>
          <p:cNvPr id="16" name="Text 13"/>
          <p:cNvSpPr/>
          <p:nvPr/>
        </p:nvSpPr>
        <p:spPr>
          <a:xfrm>
            <a:off x="5760720" y="3666744"/>
            <a:ext cx="1645920" cy="457200"/>
          </a:xfrm>
          <a:prstGeom prst="rect">
            <a:avLst/>
          </a:prstGeom>
          <a:noFill/>
          <a:ln/>
        </p:spPr>
        <p:txBody>
          <a:bodyPr wrap="square" lIns="0" tIns="0" rIns="0" bIns="0" rtlCol="0" anchor="ctr"/>
          <a:lstStyle/>
          <a:p>
            <a:pPr marL="0" indent="0" algn="r">
              <a:buNone/>
            </a:pPr>
            <a:r>
              <a:rPr lang="en-US" sz="2000" dirty="0">
                <a:solidFill>
                  <a:srgbClr val="5A6377"/>
                </a:solidFill>
                <a:latin typeface="IBM Plex Mono" pitchFamily="34" charset="0"/>
                <a:ea typeface="IBM Plex Mono" pitchFamily="34" charset="-122"/>
                <a:cs typeface="IBM Plex Mono" pitchFamily="34" charset="-120"/>
              </a:rPr>
              <a:t>97.8%</a:t>
            </a:r>
            <a:endParaRPr lang="en-US" sz="2000" dirty="0"/>
          </a:p>
        </p:txBody>
      </p:sp>
      <p:sp>
        <p:nvSpPr>
          <p:cNvPr id="17" name="Text 14"/>
          <p:cNvSpPr/>
          <p:nvPr/>
        </p:nvSpPr>
        <p:spPr>
          <a:xfrm>
            <a:off x="7589520" y="3666744"/>
            <a:ext cx="1645920" cy="457200"/>
          </a:xfrm>
          <a:prstGeom prst="rect">
            <a:avLst/>
          </a:prstGeom>
          <a:noFill/>
          <a:ln/>
        </p:spPr>
        <p:txBody>
          <a:bodyPr wrap="square" lIns="0" tIns="0" rIns="0" bIns="0" rtlCol="0" anchor="ctr"/>
          <a:lstStyle/>
          <a:p>
            <a:pPr marL="0" indent="0" algn="r">
              <a:buNone/>
            </a:pPr>
            <a:r>
              <a:rPr lang="en-US" sz="2000" dirty="0">
                <a:solidFill>
                  <a:srgbClr val="162034"/>
                </a:solidFill>
                <a:latin typeface="IBM Plex Mono" pitchFamily="34" charset="0"/>
                <a:ea typeface="IBM Plex Mono" pitchFamily="34" charset="-122"/>
                <a:cs typeface="IBM Plex Mono" pitchFamily="34" charset="-120"/>
              </a:rPr>
              <a:t>100.0%</a:t>
            </a:r>
            <a:endParaRPr lang="en-US" sz="2000" dirty="0"/>
          </a:p>
        </p:txBody>
      </p:sp>
      <p:sp>
        <p:nvSpPr>
          <p:cNvPr id="18" name="Text 15"/>
          <p:cNvSpPr/>
          <p:nvPr/>
        </p:nvSpPr>
        <p:spPr>
          <a:xfrm>
            <a:off x="9418320" y="3666744"/>
            <a:ext cx="1920240" cy="457200"/>
          </a:xfrm>
          <a:prstGeom prst="rect">
            <a:avLst/>
          </a:prstGeom>
          <a:noFill/>
          <a:ln/>
        </p:spPr>
        <p:txBody>
          <a:bodyPr wrap="square" lIns="0" tIns="0" rIns="0" bIns="0" rtlCol="0" anchor="ctr"/>
          <a:lstStyle/>
          <a:p>
            <a:pPr marL="0" indent="0" algn="r">
              <a:buNone/>
            </a:pPr>
            <a:r>
              <a:rPr lang="en-US" sz="2000" b="1" dirty="0">
                <a:solidFill>
                  <a:srgbClr val="2E6B5E"/>
                </a:solidFill>
                <a:latin typeface="IBM Plex Mono" pitchFamily="34" charset="0"/>
                <a:ea typeface="IBM Plex Mono" pitchFamily="34" charset="-122"/>
                <a:cs typeface="IBM Plex Mono" pitchFamily="34" charset="-120"/>
              </a:rPr>
              <a:t>▲ 2.2 pts</a:t>
            </a:r>
            <a:endParaRPr lang="en-US" sz="2000" dirty="0"/>
          </a:p>
        </p:txBody>
      </p:sp>
      <p:sp>
        <p:nvSpPr>
          <p:cNvPr id="19" name="row rule">
            <a:extLst>
              <a:ext uri="{C183D7F6-B498-43B3-948B-1728B52AA6E4}">
                <adec:decorative xmlns:adec="http://schemas.microsoft.com/office/drawing/2017/decorative" val="1"/>
              </a:ext>
            </a:extLst>
          </p:cNvPr>
          <p:cNvSpPr/>
          <p:nvPr/>
        </p:nvSpPr>
        <p:spPr>
          <a:xfrm>
            <a:off x="822960" y="4398264"/>
            <a:ext cx="10515600" cy="18288"/>
          </a:xfrm>
          <a:prstGeom prst="rect">
            <a:avLst/>
          </a:prstGeom>
          <a:solidFill>
            <a:srgbClr val="D6D0C2"/>
          </a:solidFill>
          <a:ln/>
        </p:spPr>
        <p:txBody>
          <a:bodyPr/>
          <a:lstStyle/>
          <a:p>
            <a:endParaRPr lang="en-BD"/>
          </a:p>
        </p:txBody>
      </p:sp>
      <p:sp>
        <p:nvSpPr>
          <p:cNvPr id="20" name="Text 17"/>
          <p:cNvSpPr/>
          <p:nvPr/>
        </p:nvSpPr>
        <p:spPr>
          <a:xfrm>
            <a:off x="822960" y="4562856"/>
            <a:ext cx="4754880" cy="457200"/>
          </a:xfrm>
          <a:prstGeom prst="rect">
            <a:avLst/>
          </a:prstGeom>
          <a:noFill/>
          <a:ln/>
        </p:spPr>
        <p:txBody>
          <a:bodyPr wrap="square" lIns="0" tIns="0" rIns="0" bIns="0" rtlCol="0" anchor="ctr"/>
          <a:lstStyle/>
          <a:p>
            <a:pPr marL="0" indent="0">
              <a:buNone/>
            </a:pPr>
            <a:r>
              <a:rPr lang="en-US" sz="2000" dirty="0">
                <a:solidFill>
                  <a:srgbClr val="162034"/>
                </a:solidFill>
                <a:latin typeface="Inter" pitchFamily="34" charset="0"/>
                <a:ea typeface="Inter" pitchFamily="34" charset="-122"/>
                <a:cs typeface="Inter" pitchFamily="34" charset="-120"/>
              </a:rPr>
              <a:t>Chemical misreporting</a:t>
            </a:r>
            <a:endParaRPr lang="en-US" sz="2000" dirty="0"/>
          </a:p>
        </p:txBody>
      </p:sp>
      <p:sp>
        <p:nvSpPr>
          <p:cNvPr id="21" name="Text 18"/>
          <p:cNvSpPr/>
          <p:nvPr/>
        </p:nvSpPr>
        <p:spPr>
          <a:xfrm>
            <a:off x="5760720" y="4562856"/>
            <a:ext cx="1645920" cy="457200"/>
          </a:xfrm>
          <a:prstGeom prst="rect">
            <a:avLst/>
          </a:prstGeom>
          <a:noFill/>
          <a:ln/>
        </p:spPr>
        <p:txBody>
          <a:bodyPr wrap="square" lIns="0" tIns="0" rIns="0" bIns="0" rtlCol="0" anchor="ctr"/>
          <a:lstStyle/>
          <a:p>
            <a:pPr marL="0" indent="0" algn="r">
              <a:buNone/>
            </a:pPr>
            <a:r>
              <a:rPr lang="en-US" sz="2000" dirty="0">
                <a:solidFill>
                  <a:srgbClr val="5A6377"/>
                </a:solidFill>
                <a:latin typeface="IBM Plex Mono" pitchFamily="34" charset="0"/>
                <a:ea typeface="IBM Plex Mono" pitchFamily="34" charset="-122"/>
                <a:cs typeface="IBM Plex Mono" pitchFamily="34" charset="-120"/>
              </a:rPr>
              <a:t>48.0%</a:t>
            </a:r>
            <a:endParaRPr lang="en-US" sz="2000" dirty="0"/>
          </a:p>
        </p:txBody>
      </p:sp>
      <p:sp>
        <p:nvSpPr>
          <p:cNvPr id="22" name="Text 19"/>
          <p:cNvSpPr/>
          <p:nvPr/>
        </p:nvSpPr>
        <p:spPr>
          <a:xfrm>
            <a:off x="7589520" y="4562856"/>
            <a:ext cx="1645920" cy="457200"/>
          </a:xfrm>
          <a:prstGeom prst="rect">
            <a:avLst/>
          </a:prstGeom>
          <a:noFill/>
          <a:ln/>
        </p:spPr>
        <p:txBody>
          <a:bodyPr wrap="square" lIns="0" tIns="0" rIns="0" bIns="0" rtlCol="0" anchor="ctr"/>
          <a:lstStyle/>
          <a:p>
            <a:pPr marL="0" indent="0" algn="r">
              <a:buNone/>
            </a:pPr>
            <a:r>
              <a:rPr lang="en-US" sz="2000" dirty="0">
                <a:solidFill>
                  <a:srgbClr val="162034"/>
                </a:solidFill>
                <a:latin typeface="IBM Plex Mono" pitchFamily="34" charset="0"/>
                <a:ea typeface="IBM Plex Mono" pitchFamily="34" charset="-122"/>
                <a:cs typeface="IBM Plex Mono" pitchFamily="34" charset="-120"/>
              </a:rPr>
              <a:t>100.0%</a:t>
            </a:r>
            <a:endParaRPr lang="en-US" sz="2000" dirty="0"/>
          </a:p>
        </p:txBody>
      </p:sp>
      <p:sp>
        <p:nvSpPr>
          <p:cNvPr id="23" name="Text 20"/>
          <p:cNvSpPr/>
          <p:nvPr/>
        </p:nvSpPr>
        <p:spPr>
          <a:xfrm>
            <a:off x="9418320" y="4562856"/>
            <a:ext cx="1920240" cy="457200"/>
          </a:xfrm>
          <a:prstGeom prst="rect">
            <a:avLst/>
          </a:prstGeom>
          <a:noFill/>
          <a:ln/>
        </p:spPr>
        <p:txBody>
          <a:bodyPr wrap="square" lIns="0" tIns="0" rIns="0" bIns="0" rtlCol="0" anchor="ctr"/>
          <a:lstStyle/>
          <a:p>
            <a:pPr marL="0" indent="0" algn="r">
              <a:buNone/>
            </a:pPr>
            <a:r>
              <a:rPr lang="en-US" sz="2000" b="1" dirty="0">
                <a:solidFill>
                  <a:srgbClr val="2E6B5E"/>
                </a:solidFill>
                <a:latin typeface="IBM Plex Mono" pitchFamily="34" charset="0"/>
                <a:ea typeface="IBM Plex Mono" pitchFamily="34" charset="-122"/>
                <a:cs typeface="IBM Plex Mono" pitchFamily="34" charset="-120"/>
              </a:rPr>
              <a:t>▲ 52.0 pts</a:t>
            </a:r>
            <a:endParaRPr lang="en-US" sz="2000" dirty="0"/>
          </a:p>
        </p:txBody>
      </p:sp>
      <p:sp>
        <p:nvSpPr>
          <p:cNvPr id="24" name="row rule">
            <a:extLst>
              <a:ext uri="{C183D7F6-B498-43B3-948B-1728B52AA6E4}">
                <adec:decorative xmlns:adec="http://schemas.microsoft.com/office/drawing/2017/decorative" val="1"/>
              </a:ext>
            </a:extLst>
          </p:cNvPr>
          <p:cNvSpPr/>
          <p:nvPr/>
        </p:nvSpPr>
        <p:spPr>
          <a:xfrm>
            <a:off x="822960" y="5294376"/>
            <a:ext cx="10515600" cy="18288"/>
          </a:xfrm>
          <a:prstGeom prst="rect">
            <a:avLst/>
          </a:prstGeom>
          <a:solidFill>
            <a:srgbClr val="D6D0C2"/>
          </a:solidFill>
          <a:ln/>
        </p:spPr>
        <p:txBody>
          <a:bodyPr/>
          <a:lstStyle/>
          <a:p>
            <a:endParaRPr lang="en-BD"/>
          </a:p>
        </p:txBody>
      </p:sp>
      <p:sp>
        <p:nvSpPr>
          <p:cNvPr id="25" name="Text 22"/>
          <p:cNvSpPr/>
          <p:nvPr/>
        </p:nvSpPr>
        <p:spPr>
          <a:xfrm>
            <a:off x="822960" y="5623560"/>
            <a:ext cx="7315200" cy="502920"/>
          </a:xfrm>
          <a:prstGeom prst="rect">
            <a:avLst/>
          </a:prstGeom>
          <a:noFill/>
          <a:ln/>
        </p:spPr>
        <p:txBody>
          <a:bodyPr wrap="square" lIns="0" tIns="0" rIns="0" bIns="0" rtlCol="0" anchor="ctr"/>
          <a:lstStyle/>
          <a:p>
            <a:pPr marL="0" indent="0">
              <a:buNone/>
            </a:pPr>
            <a:r>
              <a:rPr lang="en-US" sz="2600" b="1" dirty="0">
                <a:solidFill>
                  <a:srgbClr val="B08A3E"/>
                </a:solidFill>
                <a:latin typeface="Fraunces" pitchFamily="34" charset="0"/>
                <a:ea typeface="Fraunces" pitchFamily="34" charset="-122"/>
                <a:cs typeface="Fraunces" pitchFamily="34" charset="-120"/>
              </a:rPr>
              <a:t>Best model yet at the newest problem.</a:t>
            </a:r>
            <a:endParaRPr lang="en-US" sz="2600" dirty="0"/>
          </a:p>
        </p:txBody>
      </p:sp>
      <p:sp>
        <p:nvSpPr>
          <p:cNvPr id="26" name="Text 23"/>
          <p:cNvSpPr/>
          <p:nvPr/>
        </p:nvSpPr>
        <p:spPr>
          <a:xfrm>
            <a:off x="7863840" y="5715000"/>
            <a:ext cx="3474720" cy="365760"/>
          </a:xfrm>
          <a:prstGeom prst="rect">
            <a:avLst/>
          </a:prstGeom>
          <a:noFill/>
          <a:ln/>
        </p:spPr>
        <p:txBody>
          <a:bodyPr wrap="square" lIns="0" tIns="0" rIns="0" bIns="0" rtlCol="0" anchor="ctr"/>
          <a:lstStyle/>
          <a:p>
            <a:pPr marL="0" indent="0" algn="r">
              <a:buNone/>
            </a:pPr>
            <a:r>
              <a:rPr lang="en-US" sz="1400" dirty="0">
                <a:solidFill>
                  <a:srgbClr val="5A6377"/>
                </a:solidFill>
                <a:latin typeface="Inter" pitchFamily="34" charset="0"/>
                <a:ea typeface="Inter" pitchFamily="34" charset="-122"/>
                <a:cs typeface="Inter" pitchFamily="34" charset="-120"/>
              </a:rPr>
              <a:t>Simulated results on generated data.</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A44"/>
        </a:solidFill>
        <a:effectLst/>
      </p:bgPr>
    </p:bg>
    <p:spTree>
      <p:nvGrpSpPr>
        <p:cNvPr id="1" name=""/>
        <p:cNvGrpSpPr/>
        <p:nvPr/>
      </p:nvGrpSpPr>
      <p:grpSpPr>
        <a:xfrm>
          <a:off x="0" y="0"/>
          <a:ext cx="0" cy="0"/>
          <a:chOff x="0" y="0"/>
          <a:chExt cx="0" cy="0"/>
        </a:xfrm>
      </p:grpSpPr>
      <p:pic>
        <p:nvPicPr>
          <p:cNvPr id="3" name="Image 0" descr="Ledger block with a rust seal stamped diagonally across its face"/>
          <p:cNvPicPr>
            <a:picLocks noChangeAspect="1"/>
          </p:cNvPicPr>
          <p:nvPr/>
        </p:nvPicPr>
        <p:blipFill>
          <a:blip r:embed="rId3"/>
          <a:srcRect t="25" b="25"/>
          <a:stretch/>
        </p:blipFill>
        <p:spPr>
          <a:xfrm>
            <a:off x="0" y="0"/>
            <a:ext cx="12191695" cy="6858000"/>
          </a:xfrm>
          <a:prstGeom prst="rect">
            <a:avLst/>
          </a:prstGeom>
        </p:spPr>
      </p:pic>
      <p:sp>
        <p:nvSpPr>
          <p:cNvPr id="4" name="scrim">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1E2A44">
              <a:alpha val="46000"/>
            </a:srgbClr>
          </a:solidFill>
          <a:ln/>
        </p:spPr>
        <p:txBody>
          <a:bodyPr/>
          <a:lstStyle/>
          <a:p>
            <a:endParaRPr lang="en-BD"/>
          </a:p>
        </p:txBody>
      </p:sp>
      <p:sp>
        <p:nvSpPr>
          <p:cNvPr id="5" name="Text 1"/>
          <p:cNvSpPr/>
          <p:nvPr/>
        </p:nvSpPr>
        <p:spPr>
          <a:xfrm>
            <a:off x="777240" y="731520"/>
            <a:ext cx="6400800" cy="2194560"/>
          </a:xfrm>
          <a:prstGeom prst="rect">
            <a:avLst/>
          </a:prstGeom>
          <a:noFill/>
          <a:ln/>
        </p:spPr>
        <p:txBody>
          <a:bodyPr wrap="square" lIns="0" tIns="0" rIns="0" bIns="0" rtlCol="0" anchor="t"/>
          <a:lstStyle/>
          <a:p>
            <a:pPr marL="0" indent="0" algn="l">
              <a:lnSpc>
                <a:spcPct val="105000"/>
              </a:lnSpc>
              <a:buNone/>
            </a:pPr>
            <a:r>
              <a:rPr lang="en-US" sz="4600" b="1" dirty="0">
                <a:solidFill>
                  <a:srgbClr val="EDEAE0"/>
                </a:solidFill>
                <a:latin typeface="Fraunces" pitchFamily="34" charset="0"/>
                <a:ea typeface="Fraunces" pitchFamily="34" charset="-122"/>
                <a:cs typeface="Fraunces" pitchFamily="34" charset="-120"/>
              </a:rPr>
              <a:t>The contract said no.</a:t>
            </a:r>
            <a:endParaRPr lang="en-US" sz="4600" dirty="0"/>
          </a:p>
        </p:txBody>
      </p:sp>
      <p:sp>
        <p:nvSpPr>
          <p:cNvPr id="6" name="verdict banner backing">
            <a:extLst>
              <a:ext uri="{C183D7F6-B498-43B3-948B-1728B52AA6E4}">
                <adec:decorative xmlns:adec="http://schemas.microsoft.com/office/drawing/2017/decorative" val="1"/>
              </a:ext>
            </a:extLst>
          </p:cNvPr>
          <p:cNvSpPr/>
          <p:nvPr/>
        </p:nvSpPr>
        <p:spPr>
          <a:xfrm>
            <a:off x="777240" y="2286000"/>
            <a:ext cx="3977640" cy="1143000"/>
          </a:xfrm>
          <a:prstGeom prst="rect">
            <a:avLst/>
          </a:prstGeom>
          <a:solidFill>
            <a:srgbClr val="9C4A34"/>
          </a:solidFill>
          <a:ln/>
          <a:effectLst>
            <a:outerShdw blurRad="127000" dist="38100" dir="8100000" algn="bl" rotWithShape="0">
              <a:srgbClr val="000000">
                <a:alpha val="22000"/>
              </a:srgbClr>
            </a:outerShdw>
          </a:effectLst>
        </p:spPr>
        <p:txBody>
          <a:bodyPr/>
          <a:lstStyle/>
          <a:p>
            <a:endParaRPr lang="en-BD"/>
          </a:p>
        </p:txBody>
      </p:sp>
      <p:sp>
        <p:nvSpPr>
          <p:cNvPr id="7" name="Text 3"/>
          <p:cNvSpPr/>
          <p:nvPr/>
        </p:nvSpPr>
        <p:spPr>
          <a:xfrm>
            <a:off x="777240" y="2487168"/>
            <a:ext cx="3977640" cy="777240"/>
          </a:xfrm>
          <a:prstGeom prst="rect">
            <a:avLst/>
          </a:prstGeom>
          <a:noFill/>
          <a:ln/>
        </p:spPr>
        <p:txBody>
          <a:bodyPr wrap="square" lIns="0" tIns="0" rIns="0" bIns="0" rtlCol="0" anchor="ctr"/>
          <a:lstStyle/>
          <a:p>
            <a:pPr marL="0" indent="0" algn="ctr">
              <a:buNone/>
            </a:pPr>
            <a:r>
              <a:rPr lang="en-US" sz="4600" b="1" kern="0" spc="300" dirty="0">
                <a:solidFill>
                  <a:srgbClr val="FFFFFF"/>
                </a:solidFill>
                <a:latin typeface="Fraunces" pitchFamily="34" charset="0"/>
                <a:ea typeface="Fraunces" pitchFamily="34" charset="-122"/>
                <a:cs typeface="Fraunces" pitchFamily="34" charset="-120"/>
              </a:rPr>
              <a:t>REJECTED</a:t>
            </a:r>
            <a:endParaRPr lang="en-US" sz="4600" dirty="0"/>
          </a:p>
        </p:txBody>
      </p:sp>
      <p:sp>
        <p:nvSpPr>
          <p:cNvPr id="8" name="Text 4"/>
          <p:cNvSpPr/>
          <p:nvPr/>
        </p:nvSpPr>
        <p:spPr>
          <a:xfrm>
            <a:off x="777240" y="3749040"/>
            <a:ext cx="7498080" cy="1005840"/>
          </a:xfrm>
          <a:prstGeom prst="rect">
            <a:avLst/>
          </a:prstGeom>
          <a:noFill/>
          <a:ln/>
        </p:spPr>
        <p:txBody>
          <a:bodyPr wrap="square" lIns="0" tIns="0" rIns="0" bIns="0" rtlCol="0" anchor="ctr"/>
          <a:lstStyle/>
          <a:p>
            <a:pPr marL="0" indent="0">
              <a:lnSpc>
                <a:spcPct val="135000"/>
              </a:lnSpc>
              <a:buNone/>
            </a:pPr>
            <a:r>
              <a:rPr lang="en-US" sz="2100" dirty="0">
                <a:solidFill>
                  <a:srgbClr val="EDEAE0"/>
                </a:solidFill>
                <a:latin typeface="IBM Plex Mono" pitchFamily="34" charset="0"/>
                <a:ea typeface="IBM Plex Mono" pitchFamily="34" charset="-122"/>
                <a:cs typeface="IBM Plex Mono" pitchFamily="34" charset="-120"/>
              </a:rPr>
              <a:t>accuracy on wage_register_inconsistency</a:t>
            </a:r>
            <a:endParaRPr lang="en-US" sz="2100" dirty="0"/>
          </a:p>
          <a:p>
            <a:pPr marL="0" indent="0">
              <a:lnSpc>
                <a:spcPct val="135000"/>
              </a:lnSpc>
              <a:buNone/>
            </a:pPr>
            <a:r>
              <a:rPr lang="en-US" sz="2100" dirty="0">
                <a:solidFill>
                  <a:srgbClr val="EDEAE0"/>
                </a:solidFill>
                <a:latin typeface="IBM Plex Mono" pitchFamily="34" charset="0"/>
                <a:ea typeface="IBM Plex Mono" pitchFamily="34" charset="-122"/>
                <a:cs typeface="IBM Plex Mono" pitchFamily="34" charset="-120"/>
              </a:rPr>
              <a:t>fell by 1805 bp   ·   tolerance is 500 bp</a:t>
            </a:r>
            <a:endParaRPr lang="en-US" sz="2100" dirty="0"/>
          </a:p>
        </p:txBody>
      </p:sp>
      <p:sp>
        <p:nvSpPr>
          <p:cNvPr id="9" name="accent rule">
            <a:extLst>
              <a:ext uri="{C183D7F6-B498-43B3-948B-1728B52AA6E4}">
                <adec:decorative xmlns:adec="http://schemas.microsoft.com/office/drawing/2017/decorative" val="1"/>
              </a:ext>
            </a:extLst>
          </p:cNvPr>
          <p:cNvSpPr/>
          <p:nvPr/>
        </p:nvSpPr>
        <p:spPr>
          <a:xfrm>
            <a:off x="822960" y="5029200"/>
            <a:ext cx="1005840" cy="50292"/>
          </a:xfrm>
          <a:prstGeom prst="rect">
            <a:avLst/>
          </a:prstGeom>
          <a:solidFill>
            <a:srgbClr val="B08A3E"/>
          </a:solidFill>
          <a:ln/>
        </p:spPr>
        <p:txBody>
          <a:bodyPr/>
          <a:lstStyle/>
          <a:p>
            <a:endParaRPr lang="en-BD"/>
          </a:p>
        </p:txBody>
      </p:sp>
      <p:sp>
        <p:nvSpPr>
          <p:cNvPr id="10" name="Text 6"/>
          <p:cNvSpPr/>
          <p:nvPr/>
        </p:nvSpPr>
        <p:spPr>
          <a:xfrm>
            <a:off x="777240" y="5760720"/>
            <a:ext cx="7772400" cy="411480"/>
          </a:xfrm>
          <a:prstGeom prst="rect">
            <a:avLst/>
          </a:prstGeom>
          <a:noFill/>
          <a:ln/>
        </p:spPr>
        <p:txBody>
          <a:bodyPr wrap="square" lIns="0" tIns="0" rIns="0" bIns="0" rtlCol="0" anchor="ctr"/>
          <a:lstStyle/>
          <a:p>
            <a:pPr marL="0" indent="0">
              <a:buNone/>
            </a:pPr>
            <a:r>
              <a:rPr lang="en-US" sz="1600" dirty="0">
                <a:solidFill>
                  <a:srgbClr val="C6CCDA"/>
                </a:solidFill>
                <a:latin typeface="IBM Plex Mono" pitchFamily="34" charset="0"/>
                <a:ea typeface="IBM Plex Mono" pitchFamily="34" charset="-122"/>
                <a:cs typeface="IBM Plex Mono" pitchFamily="34" charset="-120"/>
              </a:rPr>
              <a:t>Endorsed by 3 of 5 organisations  ·  recorded in block</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A44"/>
        </a:solidFill>
        <a:effectLst/>
      </p:bgPr>
    </p:bg>
    <p:spTree>
      <p:nvGrpSpPr>
        <p:cNvPr id="1" name=""/>
        <p:cNvGrpSpPr/>
        <p:nvPr/>
      </p:nvGrpSpPr>
      <p:grpSpPr>
        <a:xfrm>
          <a:off x="0" y="0"/>
          <a:ext cx="0" cy="0"/>
          <a:chOff x="0" y="0"/>
          <a:chExt cx="0" cy="0"/>
        </a:xfrm>
      </p:grpSpPr>
      <p:sp>
        <p:nvSpPr>
          <p:cNvPr id="3" name="Text 0"/>
          <p:cNvSpPr/>
          <p:nvPr/>
        </p:nvSpPr>
        <p:spPr>
          <a:xfrm>
            <a:off x="777240" y="548640"/>
            <a:ext cx="8778240" cy="1143000"/>
          </a:xfrm>
          <a:prstGeom prst="rect">
            <a:avLst/>
          </a:prstGeom>
          <a:noFill/>
          <a:ln/>
        </p:spPr>
        <p:txBody>
          <a:bodyPr wrap="square" lIns="0" tIns="0" rIns="0" bIns="0" rtlCol="0" anchor="t"/>
          <a:lstStyle/>
          <a:p>
            <a:pPr marL="0" indent="0" algn="l">
              <a:lnSpc>
                <a:spcPct val="105000"/>
              </a:lnSpc>
              <a:buNone/>
            </a:pPr>
            <a:r>
              <a:rPr lang="en-US" sz="3800" b="1" dirty="0">
                <a:solidFill>
                  <a:srgbClr val="EDEAE0"/>
                </a:solidFill>
                <a:latin typeface="Fraunces" pitchFamily="34" charset="0"/>
                <a:ea typeface="Fraunces" pitchFamily="34" charset="-122"/>
                <a:cs typeface="Fraunces" pitchFamily="34" charset="-120"/>
              </a:rPr>
              <a:t>One training round, end to end.</a:t>
            </a:r>
            <a:endParaRPr lang="en-US" sz="3800" dirty="0"/>
          </a:p>
        </p:txBody>
      </p:sp>
      <p:sp>
        <p:nvSpPr>
          <p:cNvPr id="4" name="accent rule">
            <a:extLst>
              <a:ext uri="{C183D7F6-B498-43B3-948B-1728B52AA6E4}">
                <adec:decorative xmlns:adec="http://schemas.microsoft.com/office/drawing/2017/decorative" val="1"/>
              </a:ext>
            </a:extLst>
          </p:cNvPr>
          <p:cNvSpPr/>
          <p:nvPr/>
        </p:nvSpPr>
        <p:spPr>
          <a:xfrm>
            <a:off x="777240" y="320040"/>
            <a:ext cx="1005840" cy="50292"/>
          </a:xfrm>
          <a:prstGeom prst="rect">
            <a:avLst/>
          </a:prstGeom>
          <a:solidFill>
            <a:srgbClr val="B08A3E"/>
          </a:solidFill>
          <a:ln/>
        </p:spPr>
        <p:txBody>
          <a:bodyPr/>
          <a:lstStyle/>
          <a:p>
            <a:endParaRPr lang="en-BD"/>
          </a:p>
        </p:txBody>
      </p:sp>
      <p:sp>
        <p:nvSpPr>
          <p:cNvPr id="5" name="Text 2">
            <a:extLst>
              <a:ext uri="{C183D7F6-B498-43B3-948B-1728B52AA6E4}">
                <adec:decorative xmlns:adec="http://schemas.microsoft.com/office/drawing/2017/decorative" val="0"/>
              </a:ext>
            </a:extLst>
          </p:cNvPr>
          <p:cNvSpPr/>
          <p:nvPr/>
        </p:nvSpPr>
        <p:spPr>
          <a:xfrm>
            <a:off x="777240" y="1755648"/>
            <a:ext cx="8778240" cy="411480"/>
          </a:xfrm>
          <a:prstGeom prst="rect">
            <a:avLst/>
          </a:prstGeom>
          <a:noFill/>
          <a:ln/>
        </p:spPr>
        <p:txBody>
          <a:bodyPr wrap="square" lIns="0" tIns="0" rIns="0" bIns="0" rtlCol="0" anchor="ctr"/>
          <a:lstStyle/>
          <a:p>
            <a:pPr marL="0" indent="0">
              <a:buNone/>
            </a:pPr>
            <a:r>
              <a:rPr lang="en-US" sz="1900" dirty="0">
                <a:solidFill>
                  <a:srgbClr val="C6CCDA"/>
                </a:solidFill>
                <a:latin typeface="Inter" pitchFamily="34" charset="0"/>
                <a:ea typeface="Inter" pitchFamily="34" charset="-122"/>
                <a:cs typeface="Inter" pitchFamily="34" charset="-120"/>
              </a:rPr>
              <a:t>Nothing leaves a factory except a clipped, noised update.</a:t>
            </a:r>
            <a:endParaRPr lang="en-US" sz="1900" dirty="0"/>
          </a:p>
        </p:txBody>
      </p:sp>
      <p:sp>
        <p:nvSpPr>
          <p:cNvPr id="6" name="flow step 0">
            <a:extLst>
              <a:ext uri="{C183D7F6-B498-43B3-948B-1728B52AA6E4}">
                <adec:decorative xmlns:adec="http://schemas.microsoft.com/office/drawing/2017/decorative" val="1"/>
              </a:ext>
            </a:extLst>
          </p:cNvPr>
          <p:cNvSpPr/>
          <p:nvPr/>
        </p:nvSpPr>
        <p:spPr>
          <a:xfrm>
            <a:off x="384048" y="2286000"/>
            <a:ext cx="1918960" cy="1645920"/>
          </a:xfrm>
          <a:prstGeom prst="rect">
            <a:avLst/>
          </a:prstGeom>
          <a:solidFill>
            <a:srgbClr val="2C3A58"/>
          </a:solidFill>
          <a:ln w="12700">
            <a:solidFill>
              <a:srgbClr val="51607E"/>
            </a:solidFill>
            <a:prstDash val="solid"/>
          </a:ln>
        </p:spPr>
        <p:txBody>
          <a:bodyPr/>
          <a:lstStyle/>
          <a:p>
            <a:endParaRPr lang="en-BD"/>
          </a:p>
        </p:txBody>
      </p:sp>
      <p:sp>
        <p:nvSpPr>
          <p:cNvPr id="7" name="flow cap 0">
            <a:extLst>
              <a:ext uri="{C183D7F6-B498-43B3-948B-1728B52AA6E4}">
                <adec:decorative xmlns:adec="http://schemas.microsoft.com/office/drawing/2017/decorative" val="1"/>
              </a:ext>
            </a:extLst>
          </p:cNvPr>
          <p:cNvSpPr/>
          <p:nvPr/>
        </p:nvSpPr>
        <p:spPr>
          <a:xfrm>
            <a:off x="384048" y="2286000"/>
            <a:ext cx="1918960" cy="50292"/>
          </a:xfrm>
          <a:prstGeom prst="rect">
            <a:avLst/>
          </a:prstGeom>
          <a:solidFill>
            <a:srgbClr val="51607E"/>
          </a:solidFill>
          <a:ln/>
        </p:spPr>
        <p:txBody>
          <a:bodyPr/>
          <a:lstStyle/>
          <a:p>
            <a:endParaRPr lang="en-BD"/>
          </a:p>
        </p:txBody>
      </p:sp>
      <p:sp>
        <p:nvSpPr>
          <p:cNvPr id="8" name="Text 5">
            <a:extLst>
              <a:ext uri="{C183D7F6-B498-43B3-948B-1728B52AA6E4}">
                <adec:decorative xmlns:adec="http://schemas.microsoft.com/office/drawing/2017/decorative" val="0"/>
              </a:ext>
            </a:extLst>
          </p:cNvPr>
          <p:cNvSpPr/>
          <p:nvPr/>
        </p:nvSpPr>
        <p:spPr>
          <a:xfrm>
            <a:off x="56692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01</a:t>
            </a:r>
            <a:endParaRPr lang="en-US" sz="1200" dirty="0"/>
          </a:p>
        </p:txBody>
      </p:sp>
      <p:sp>
        <p:nvSpPr>
          <p:cNvPr id="9" name="Text 6"/>
          <p:cNvSpPr/>
          <p:nvPr/>
        </p:nvSpPr>
        <p:spPr>
          <a:xfrm>
            <a:off x="56692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Each factory</a:t>
            </a:r>
            <a:endParaRPr lang="en-US" sz="1500" dirty="0"/>
          </a:p>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trains locally</a:t>
            </a:r>
            <a:endParaRPr lang="en-US" sz="1500" dirty="0"/>
          </a:p>
        </p:txBody>
      </p:sp>
      <p:sp>
        <p:nvSpPr>
          <p:cNvPr id="10" name="Text 7">
            <a:extLst>
              <a:ext uri="{C183D7F6-B498-43B3-948B-1728B52AA6E4}">
                <adec:decorative xmlns:adec="http://schemas.microsoft.com/office/drawing/2017/decorative" val="0"/>
              </a:ext>
            </a:extLst>
          </p:cNvPr>
          <p:cNvSpPr/>
          <p:nvPr/>
        </p:nvSpPr>
        <p:spPr>
          <a:xfrm>
            <a:off x="566928" y="3493008"/>
            <a:ext cx="1553200" cy="329184"/>
          </a:xfrm>
          <a:prstGeom prst="rect">
            <a:avLst/>
          </a:prstGeom>
          <a:noFill/>
          <a:ln/>
        </p:spPr>
        <p:txBody>
          <a:bodyPr wrap="square" lIns="0" tIns="0" rIns="0" bIns="0" rtlCol="0" anchor="ctr"/>
          <a:lstStyle/>
          <a:p>
            <a:pPr marL="0" indent="0">
              <a:buNone/>
            </a:pPr>
            <a:r>
              <a:rPr lang="en-US" sz="1050" dirty="0">
                <a:solidFill>
                  <a:srgbClr val="8FA0C0"/>
                </a:solidFill>
                <a:latin typeface="IBM Plex Mono" pitchFamily="34" charset="0"/>
                <a:ea typeface="IBM Plex Mono" pitchFamily="34" charset="-122"/>
                <a:cs typeface="IBM Plex Mono" pitchFamily="34" charset="-120"/>
              </a:rPr>
              <a:t>data stays put</a:t>
            </a:r>
            <a:endParaRPr lang="en-US" sz="1050" dirty="0"/>
          </a:p>
        </p:txBody>
      </p:sp>
      <p:sp>
        <p:nvSpPr>
          <p:cNvPr id="11" name="flow arrow 0">
            <a:extLst>
              <a:ext uri="{C183D7F6-B498-43B3-948B-1728B52AA6E4}">
                <adec:decorative xmlns:adec="http://schemas.microsoft.com/office/drawing/2017/decorative" val="1"/>
              </a:ext>
            </a:extLst>
          </p:cNvPr>
          <p:cNvSpPr/>
          <p:nvPr/>
        </p:nvSpPr>
        <p:spPr>
          <a:xfrm>
            <a:off x="2385304" y="3108960"/>
            <a:ext cx="292608" cy="0"/>
          </a:xfrm>
          <a:prstGeom prst="line">
            <a:avLst/>
          </a:prstGeom>
          <a:noFill/>
          <a:ln w="22225">
            <a:solidFill>
              <a:srgbClr val="B08A3E"/>
            </a:solidFill>
            <a:prstDash val="solid"/>
            <a:tailEnd type="triangle"/>
          </a:ln>
        </p:spPr>
        <p:txBody>
          <a:bodyPr/>
          <a:lstStyle/>
          <a:p>
            <a:endParaRPr lang="en-BD"/>
          </a:p>
        </p:txBody>
      </p:sp>
      <p:sp>
        <p:nvSpPr>
          <p:cNvPr id="12" name="flow step 1">
            <a:extLst>
              <a:ext uri="{C183D7F6-B498-43B3-948B-1728B52AA6E4}">
                <adec:decorative xmlns:adec="http://schemas.microsoft.com/office/drawing/2017/decorative" val="1"/>
              </a:ext>
            </a:extLst>
          </p:cNvPr>
          <p:cNvSpPr/>
          <p:nvPr/>
        </p:nvSpPr>
        <p:spPr>
          <a:xfrm>
            <a:off x="2760208" y="2286000"/>
            <a:ext cx="1918960" cy="1645920"/>
          </a:xfrm>
          <a:prstGeom prst="rect">
            <a:avLst/>
          </a:prstGeom>
          <a:solidFill>
            <a:srgbClr val="2C3A58"/>
          </a:solidFill>
          <a:ln w="12700">
            <a:solidFill>
              <a:srgbClr val="51607E"/>
            </a:solidFill>
            <a:prstDash val="solid"/>
          </a:ln>
        </p:spPr>
        <p:txBody>
          <a:bodyPr/>
          <a:lstStyle/>
          <a:p>
            <a:endParaRPr lang="en-BD"/>
          </a:p>
        </p:txBody>
      </p:sp>
      <p:sp>
        <p:nvSpPr>
          <p:cNvPr id="13" name="flow cap 1">
            <a:extLst>
              <a:ext uri="{C183D7F6-B498-43B3-948B-1728B52AA6E4}">
                <adec:decorative xmlns:adec="http://schemas.microsoft.com/office/drawing/2017/decorative" val="1"/>
              </a:ext>
            </a:extLst>
          </p:cNvPr>
          <p:cNvSpPr/>
          <p:nvPr/>
        </p:nvSpPr>
        <p:spPr>
          <a:xfrm>
            <a:off x="2760208" y="2286000"/>
            <a:ext cx="1918960" cy="50292"/>
          </a:xfrm>
          <a:prstGeom prst="rect">
            <a:avLst/>
          </a:prstGeom>
          <a:solidFill>
            <a:srgbClr val="51607E"/>
          </a:solidFill>
          <a:ln/>
        </p:spPr>
        <p:txBody>
          <a:bodyPr/>
          <a:lstStyle/>
          <a:p>
            <a:endParaRPr lang="en-BD"/>
          </a:p>
        </p:txBody>
      </p:sp>
      <p:sp>
        <p:nvSpPr>
          <p:cNvPr id="14" name="Text 11">
            <a:extLst>
              <a:ext uri="{C183D7F6-B498-43B3-948B-1728B52AA6E4}">
                <adec:decorative xmlns:adec="http://schemas.microsoft.com/office/drawing/2017/decorative" val="0"/>
              </a:ext>
            </a:extLst>
          </p:cNvPr>
          <p:cNvSpPr/>
          <p:nvPr/>
        </p:nvSpPr>
        <p:spPr>
          <a:xfrm>
            <a:off x="294308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02</a:t>
            </a:r>
            <a:endParaRPr lang="en-US" sz="1200" dirty="0"/>
          </a:p>
        </p:txBody>
      </p:sp>
      <p:sp>
        <p:nvSpPr>
          <p:cNvPr id="15" name="Text 12"/>
          <p:cNvSpPr/>
          <p:nvPr/>
        </p:nvSpPr>
        <p:spPr>
          <a:xfrm>
            <a:off x="294308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Update clipped</a:t>
            </a:r>
            <a:endParaRPr lang="en-US" sz="1500" dirty="0"/>
          </a:p>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and noised</a:t>
            </a:r>
            <a:endParaRPr lang="en-US" sz="1500" dirty="0"/>
          </a:p>
        </p:txBody>
      </p:sp>
      <p:sp>
        <p:nvSpPr>
          <p:cNvPr id="16" name="Text 13">
            <a:extLst>
              <a:ext uri="{C183D7F6-B498-43B3-948B-1728B52AA6E4}">
                <adec:decorative xmlns:adec="http://schemas.microsoft.com/office/drawing/2017/decorative" val="0"/>
              </a:ext>
            </a:extLst>
          </p:cNvPr>
          <p:cNvSpPr/>
          <p:nvPr/>
        </p:nvSpPr>
        <p:spPr>
          <a:xfrm>
            <a:off x="2943088" y="3493008"/>
            <a:ext cx="1553200" cy="329184"/>
          </a:xfrm>
          <a:prstGeom prst="rect">
            <a:avLst/>
          </a:prstGeom>
          <a:noFill/>
          <a:ln/>
        </p:spPr>
        <p:txBody>
          <a:bodyPr wrap="square" lIns="0" tIns="0" rIns="0" bIns="0" rtlCol="0" anchor="ctr"/>
          <a:lstStyle/>
          <a:p>
            <a:pPr marL="0" indent="0">
              <a:buNone/>
            </a:pPr>
            <a:r>
              <a:rPr lang="en-US" sz="1050" dirty="0">
                <a:solidFill>
                  <a:srgbClr val="8FA0C0"/>
                </a:solidFill>
                <a:latin typeface="IBM Plex Mono" pitchFamily="34" charset="0"/>
                <a:ea typeface="IBM Plex Mono" pitchFamily="34" charset="-122"/>
                <a:cs typeface="IBM Plex Mono" pitchFamily="34" charset="-120"/>
              </a:rPr>
              <a:t>bounded leakage</a:t>
            </a:r>
            <a:endParaRPr lang="en-US" sz="1050" dirty="0"/>
          </a:p>
        </p:txBody>
      </p:sp>
      <p:sp>
        <p:nvSpPr>
          <p:cNvPr id="17" name="flow arrow 1">
            <a:extLst>
              <a:ext uri="{C183D7F6-B498-43B3-948B-1728B52AA6E4}">
                <adec:decorative xmlns:adec="http://schemas.microsoft.com/office/drawing/2017/decorative" val="1"/>
              </a:ext>
            </a:extLst>
          </p:cNvPr>
          <p:cNvSpPr/>
          <p:nvPr/>
        </p:nvSpPr>
        <p:spPr>
          <a:xfrm>
            <a:off x="4761464" y="3108960"/>
            <a:ext cx="292608" cy="0"/>
          </a:xfrm>
          <a:prstGeom prst="line">
            <a:avLst/>
          </a:prstGeom>
          <a:noFill/>
          <a:ln w="22225">
            <a:solidFill>
              <a:srgbClr val="B08A3E"/>
            </a:solidFill>
            <a:prstDash val="solid"/>
            <a:tailEnd type="triangle"/>
          </a:ln>
        </p:spPr>
        <p:txBody>
          <a:bodyPr/>
          <a:lstStyle/>
          <a:p>
            <a:endParaRPr lang="en-BD"/>
          </a:p>
        </p:txBody>
      </p:sp>
      <p:sp>
        <p:nvSpPr>
          <p:cNvPr id="18" name="flow step 2">
            <a:extLst>
              <a:ext uri="{C183D7F6-B498-43B3-948B-1728B52AA6E4}">
                <adec:decorative xmlns:adec="http://schemas.microsoft.com/office/drawing/2017/decorative" val="1"/>
              </a:ext>
            </a:extLst>
          </p:cNvPr>
          <p:cNvSpPr/>
          <p:nvPr/>
        </p:nvSpPr>
        <p:spPr>
          <a:xfrm>
            <a:off x="5136368" y="2286000"/>
            <a:ext cx="1918960" cy="1645920"/>
          </a:xfrm>
          <a:prstGeom prst="rect">
            <a:avLst/>
          </a:prstGeom>
          <a:solidFill>
            <a:srgbClr val="2C3A58"/>
          </a:solidFill>
          <a:ln w="12700">
            <a:solidFill>
              <a:srgbClr val="51607E"/>
            </a:solidFill>
            <a:prstDash val="solid"/>
          </a:ln>
        </p:spPr>
        <p:txBody>
          <a:bodyPr/>
          <a:lstStyle/>
          <a:p>
            <a:endParaRPr lang="en-BD"/>
          </a:p>
        </p:txBody>
      </p:sp>
      <p:sp>
        <p:nvSpPr>
          <p:cNvPr id="19" name="flow cap 2">
            <a:extLst>
              <a:ext uri="{C183D7F6-B498-43B3-948B-1728B52AA6E4}">
                <adec:decorative xmlns:adec="http://schemas.microsoft.com/office/drawing/2017/decorative" val="1"/>
              </a:ext>
            </a:extLst>
          </p:cNvPr>
          <p:cNvSpPr/>
          <p:nvPr/>
        </p:nvSpPr>
        <p:spPr>
          <a:xfrm>
            <a:off x="5136368" y="2286000"/>
            <a:ext cx="1918960" cy="50292"/>
          </a:xfrm>
          <a:prstGeom prst="rect">
            <a:avLst/>
          </a:prstGeom>
          <a:solidFill>
            <a:srgbClr val="51607E"/>
          </a:solidFill>
          <a:ln/>
        </p:spPr>
        <p:txBody>
          <a:bodyPr/>
          <a:lstStyle/>
          <a:p>
            <a:endParaRPr lang="en-BD"/>
          </a:p>
        </p:txBody>
      </p:sp>
      <p:sp>
        <p:nvSpPr>
          <p:cNvPr id="20" name="Text 17"/>
          <p:cNvSpPr/>
          <p:nvPr/>
        </p:nvSpPr>
        <p:spPr>
          <a:xfrm>
            <a:off x="531924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03</a:t>
            </a:r>
            <a:endParaRPr lang="en-US" sz="1200" dirty="0"/>
          </a:p>
        </p:txBody>
      </p:sp>
      <p:sp>
        <p:nvSpPr>
          <p:cNvPr id="21" name="Text 18"/>
          <p:cNvSpPr/>
          <p:nvPr/>
        </p:nvSpPr>
        <p:spPr>
          <a:xfrm>
            <a:off x="531924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Trimmed-mean</a:t>
            </a:r>
            <a:endParaRPr lang="en-US" sz="1500" dirty="0"/>
          </a:p>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aggregation</a:t>
            </a:r>
            <a:endParaRPr lang="en-US" sz="1500" dirty="0"/>
          </a:p>
        </p:txBody>
      </p:sp>
      <p:sp>
        <p:nvSpPr>
          <p:cNvPr id="22" name="Text 19"/>
          <p:cNvSpPr/>
          <p:nvPr/>
        </p:nvSpPr>
        <p:spPr>
          <a:xfrm>
            <a:off x="5319248" y="3493008"/>
            <a:ext cx="1553200" cy="329184"/>
          </a:xfrm>
          <a:prstGeom prst="rect">
            <a:avLst/>
          </a:prstGeom>
          <a:noFill/>
          <a:ln/>
        </p:spPr>
        <p:txBody>
          <a:bodyPr wrap="square" lIns="0" tIns="0" rIns="0" bIns="0" rtlCol="0" anchor="ctr"/>
          <a:lstStyle/>
          <a:p>
            <a:pPr marL="0" indent="0">
              <a:buNone/>
            </a:pPr>
            <a:r>
              <a:rPr lang="en-US" sz="1050" dirty="0">
                <a:solidFill>
                  <a:srgbClr val="8FA0C0"/>
                </a:solidFill>
                <a:latin typeface="IBM Plex Mono" pitchFamily="34" charset="0"/>
                <a:ea typeface="IBM Plex Mono" pitchFamily="34" charset="-122"/>
                <a:cs typeface="IBM Plex Mono" pitchFamily="34" charset="-120"/>
              </a:rPr>
              <a:t>outliers dropped</a:t>
            </a:r>
            <a:endParaRPr lang="en-US" sz="1050" dirty="0"/>
          </a:p>
        </p:txBody>
      </p:sp>
      <p:sp>
        <p:nvSpPr>
          <p:cNvPr id="23" name="flow arrow 2">
            <a:extLst>
              <a:ext uri="{C183D7F6-B498-43B3-948B-1728B52AA6E4}">
                <adec:decorative xmlns:adec="http://schemas.microsoft.com/office/drawing/2017/decorative" val="1"/>
              </a:ext>
            </a:extLst>
          </p:cNvPr>
          <p:cNvSpPr/>
          <p:nvPr/>
        </p:nvSpPr>
        <p:spPr>
          <a:xfrm>
            <a:off x="7137624" y="3108960"/>
            <a:ext cx="292608" cy="0"/>
          </a:xfrm>
          <a:prstGeom prst="line">
            <a:avLst/>
          </a:prstGeom>
          <a:noFill/>
          <a:ln w="22225">
            <a:solidFill>
              <a:srgbClr val="B08A3E"/>
            </a:solidFill>
            <a:prstDash val="solid"/>
            <a:tailEnd type="triangle"/>
          </a:ln>
        </p:spPr>
        <p:txBody>
          <a:bodyPr/>
          <a:lstStyle/>
          <a:p>
            <a:endParaRPr lang="en-BD"/>
          </a:p>
        </p:txBody>
      </p:sp>
      <p:sp>
        <p:nvSpPr>
          <p:cNvPr id="24" name="flow step 3">
            <a:extLst>
              <a:ext uri="{C183D7F6-B498-43B3-948B-1728B52AA6E4}">
                <adec:decorative xmlns:adec="http://schemas.microsoft.com/office/drawing/2017/decorative" val="1"/>
              </a:ext>
            </a:extLst>
          </p:cNvPr>
          <p:cNvSpPr/>
          <p:nvPr/>
        </p:nvSpPr>
        <p:spPr>
          <a:xfrm>
            <a:off x="7512528" y="2286000"/>
            <a:ext cx="1918960" cy="1645920"/>
          </a:xfrm>
          <a:prstGeom prst="rect">
            <a:avLst/>
          </a:prstGeom>
          <a:solidFill>
            <a:srgbClr val="2C3A58"/>
          </a:solidFill>
          <a:ln w="12700">
            <a:solidFill>
              <a:srgbClr val="51607E"/>
            </a:solidFill>
            <a:prstDash val="solid"/>
          </a:ln>
        </p:spPr>
        <p:txBody>
          <a:bodyPr/>
          <a:lstStyle/>
          <a:p>
            <a:endParaRPr lang="en-BD"/>
          </a:p>
        </p:txBody>
      </p:sp>
      <p:sp>
        <p:nvSpPr>
          <p:cNvPr id="25" name="flow cap 3">
            <a:extLst>
              <a:ext uri="{C183D7F6-B498-43B3-948B-1728B52AA6E4}">
                <adec:decorative xmlns:adec="http://schemas.microsoft.com/office/drawing/2017/decorative" val="1"/>
              </a:ext>
            </a:extLst>
          </p:cNvPr>
          <p:cNvSpPr/>
          <p:nvPr/>
        </p:nvSpPr>
        <p:spPr>
          <a:xfrm>
            <a:off x="7512528" y="2286000"/>
            <a:ext cx="1918960" cy="50292"/>
          </a:xfrm>
          <a:prstGeom prst="rect">
            <a:avLst/>
          </a:prstGeom>
          <a:solidFill>
            <a:srgbClr val="51607E"/>
          </a:solidFill>
          <a:ln/>
        </p:spPr>
        <p:txBody>
          <a:bodyPr/>
          <a:lstStyle/>
          <a:p>
            <a:endParaRPr lang="en-BD"/>
          </a:p>
        </p:txBody>
      </p:sp>
      <p:sp>
        <p:nvSpPr>
          <p:cNvPr id="26" name="Text 23"/>
          <p:cNvSpPr/>
          <p:nvPr/>
        </p:nvSpPr>
        <p:spPr>
          <a:xfrm>
            <a:off x="7695408"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04</a:t>
            </a:r>
            <a:endParaRPr lang="en-US" sz="1200" dirty="0"/>
          </a:p>
        </p:txBody>
      </p:sp>
      <p:sp>
        <p:nvSpPr>
          <p:cNvPr id="27" name="Text 24"/>
          <p:cNvSpPr/>
          <p:nvPr/>
        </p:nvSpPr>
        <p:spPr>
          <a:xfrm>
            <a:off x="7695408"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Sealed benchmark</a:t>
            </a:r>
            <a:endParaRPr lang="en-US" sz="1500" dirty="0"/>
          </a:p>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evaluation</a:t>
            </a:r>
            <a:endParaRPr lang="en-US" sz="1500" dirty="0"/>
          </a:p>
        </p:txBody>
      </p:sp>
      <p:sp>
        <p:nvSpPr>
          <p:cNvPr id="28" name="Text 25"/>
          <p:cNvSpPr/>
          <p:nvPr/>
        </p:nvSpPr>
        <p:spPr>
          <a:xfrm>
            <a:off x="7695408" y="3493008"/>
            <a:ext cx="1553200" cy="329184"/>
          </a:xfrm>
          <a:prstGeom prst="rect">
            <a:avLst/>
          </a:prstGeom>
          <a:noFill/>
          <a:ln/>
        </p:spPr>
        <p:txBody>
          <a:bodyPr wrap="square" lIns="0" tIns="0" rIns="0" bIns="0" rtlCol="0" anchor="ctr"/>
          <a:lstStyle/>
          <a:p>
            <a:pPr marL="0" indent="0">
              <a:buNone/>
            </a:pPr>
            <a:r>
              <a:rPr lang="en-US" sz="1050" dirty="0">
                <a:solidFill>
                  <a:srgbClr val="8FA0C0"/>
                </a:solidFill>
                <a:latin typeface="IBM Plex Mono" pitchFamily="34" charset="0"/>
                <a:ea typeface="IBM Plex Mono" pitchFamily="34" charset="-122"/>
                <a:cs typeface="IBM Plex Mono" pitchFamily="34" charset="-120"/>
              </a:rPr>
              <a:t>hash committed</a:t>
            </a:r>
            <a:endParaRPr lang="en-US" sz="1050" dirty="0"/>
          </a:p>
        </p:txBody>
      </p:sp>
      <p:sp>
        <p:nvSpPr>
          <p:cNvPr id="29" name="flow arrow 3">
            <a:extLst>
              <a:ext uri="{C183D7F6-B498-43B3-948B-1728B52AA6E4}">
                <adec:decorative xmlns:adec="http://schemas.microsoft.com/office/drawing/2017/decorative" val="1"/>
              </a:ext>
            </a:extLst>
          </p:cNvPr>
          <p:cNvSpPr/>
          <p:nvPr/>
        </p:nvSpPr>
        <p:spPr>
          <a:xfrm>
            <a:off x="9513783" y="3108960"/>
            <a:ext cx="292608" cy="0"/>
          </a:xfrm>
          <a:prstGeom prst="line">
            <a:avLst/>
          </a:prstGeom>
          <a:noFill/>
          <a:ln w="22225">
            <a:solidFill>
              <a:srgbClr val="B08A3E"/>
            </a:solidFill>
            <a:prstDash val="solid"/>
            <a:tailEnd type="triangle"/>
          </a:ln>
        </p:spPr>
        <p:txBody>
          <a:bodyPr/>
          <a:lstStyle/>
          <a:p>
            <a:endParaRPr lang="en-BD"/>
          </a:p>
        </p:txBody>
      </p:sp>
      <p:sp>
        <p:nvSpPr>
          <p:cNvPr id="30" name="flow step 4">
            <a:extLst>
              <a:ext uri="{C183D7F6-B498-43B3-948B-1728B52AA6E4}">
                <adec:decorative xmlns:adec="http://schemas.microsoft.com/office/drawing/2017/decorative" val="1"/>
              </a:ext>
            </a:extLst>
          </p:cNvPr>
          <p:cNvSpPr/>
          <p:nvPr/>
        </p:nvSpPr>
        <p:spPr>
          <a:xfrm>
            <a:off x="9888687" y="2286000"/>
            <a:ext cx="1918960" cy="1645920"/>
          </a:xfrm>
          <a:prstGeom prst="rect">
            <a:avLst/>
          </a:prstGeom>
          <a:solidFill>
            <a:srgbClr val="2C3A58"/>
          </a:solidFill>
          <a:ln w="12700">
            <a:solidFill>
              <a:srgbClr val="51607E"/>
            </a:solidFill>
            <a:prstDash val="solid"/>
          </a:ln>
        </p:spPr>
        <p:txBody>
          <a:bodyPr/>
          <a:lstStyle/>
          <a:p>
            <a:endParaRPr lang="en-BD"/>
          </a:p>
        </p:txBody>
      </p:sp>
      <p:sp>
        <p:nvSpPr>
          <p:cNvPr id="31" name="flow cap 4">
            <a:extLst>
              <a:ext uri="{C183D7F6-B498-43B3-948B-1728B52AA6E4}">
                <adec:decorative xmlns:adec="http://schemas.microsoft.com/office/drawing/2017/decorative" val="1"/>
              </a:ext>
            </a:extLst>
          </p:cNvPr>
          <p:cNvSpPr/>
          <p:nvPr/>
        </p:nvSpPr>
        <p:spPr>
          <a:xfrm>
            <a:off x="9888687" y="2286000"/>
            <a:ext cx="1918960" cy="50292"/>
          </a:xfrm>
          <a:prstGeom prst="rect">
            <a:avLst/>
          </a:prstGeom>
          <a:solidFill>
            <a:srgbClr val="B08A3E"/>
          </a:solidFill>
          <a:ln/>
        </p:spPr>
        <p:txBody>
          <a:bodyPr/>
          <a:lstStyle/>
          <a:p>
            <a:endParaRPr lang="en-BD"/>
          </a:p>
        </p:txBody>
      </p:sp>
      <p:sp>
        <p:nvSpPr>
          <p:cNvPr id="32" name="Text 29"/>
          <p:cNvSpPr/>
          <p:nvPr/>
        </p:nvSpPr>
        <p:spPr>
          <a:xfrm>
            <a:off x="10071567" y="2432304"/>
            <a:ext cx="731520" cy="274320"/>
          </a:xfrm>
          <a:prstGeom prst="rect">
            <a:avLst/>
          </a:prstGeom>
          <a:noFill/>
          <a:ln/>
        </p:spPr>
        <p:txBody>
          <a:bodyPr wrap="square" lIns="0" tIns="0" rIns="0" bIns="0" rtlCol="0" anchor="ctr"/>
          <a:lstStyle/>
          <a:p>
            <a:pPr marL="0" indent="0">
              <a:buNone/>
            </a:pPr>
            <a:r>
              <a:rPr lang="en-US" sz="1200" dirty="0">
                <a:solidFill>
                  <a:srgbClr val="B08A3E"/>
                </a:solidFill>
                <a:latin typeface="IBM Plex Mono" pitchFamily="34" charset="0"/>
                <a:ea typeface="IBM Plex Mono" pitchFamily="34" charset="-122"/>
                <a:cs typeface="IBM Plex Mono" pitchFamily="34" charset="-120"/>
              </a:rPr>
              <a:t>05</a:t>
            </a:r>
            <a:endParaRPr lang="en-US" sz="1200" dirty="0"/>
          </a:p>
        </p:txBody>
      </p:sp>
      <p:sp>
        <p:nvSpPr>
          <p:cNvPr id="33" name="Text 30"/>
          <p:cNvSpPr/>
          <p:nvPr/>
        </p:nvSpPr>
        <p:spPr>
          <a:xfrm>
            <a:off x="10071567" y="2743200"/>
            <a:ext cx="1553200" cy="731520"/>
          </a:xfrm>
          <a:prstGeom prst="rect">
            <a:avLst/>
          </a:prstGeom>
          <a:noFill/>
          <a:ln/>
        </p:spPr>
        <p:txBody>
          <a:bodyPr wrap="square" lIns="0" tIns="0" rIns="0" bIns="0" rtlCol="0" anchor="ctr"/>
          <a:lstStyle/>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Chaincode gate</a:t>
            </a:r>
            <a:endParaRPr lang="en-US" sz="1500" dirty="0"/>
          </a:p>
          <a:p>
            <a:pPr marL="0" indent="0">
              <a:lnSpc>
                <a:spcPct val="110000"/>
              </a:lnSpc>
              <a:buNone/>
            </a:pPr>
            <a:r>
              <a:rPr lang="en-US" sz="1500" b="1" dirty="0">
                <a:solidFill>
                  <a:srgbClr val="EDEAE0"/>
                </a:solidFill>
                <a:latin typeface="Inter" pitchFamily="34" charset="0"/>
                <a:ea typeface="Inter" pitchFamily="34" charset="-122"/>
                <a:cs typeface="Inter" pitchFamily="34" charset="-120"/>
              </a:rPr>
              <a:t>decides</a:t>
            </a:r>
            <a:endParaRPr lang="en-US" sz="1500" dirty="0"/>
          </a:p>
        </p:txBody>
      </p:sp>
      <p:sp>
        <p:nvSpPr>
          <p:cNvPr id="34" name="Text 31"/>
          <p:cNvSpPr/>
          <p:nvPr/>
        </p:nvSpPr>
        <p:spPr>
          <a:xfrm>
            <a:off x="10071567" y="3493008"/>
            <a:ext cx="1553200" cy="329184"/>
          </a:xfrm>
          <a:prstGeom prst="rect">
            <a:avLst/>
          </a:prstGeom>
          <a:noFill/>
          <a:ln/>
        </p:spPr>
        <p:txBody>
          <a:bodyPr wrap="square" lIns="0" tIns="0" rIns="0" bIns="0" rtlCol="0" anchor="ctr"/>
          <a:lstStyle/>
          <a:p>
            <a:pPr marL="0" indent="0">
              <a:buNone/>
            </a:pPr>
            <a:r>
              <a:rPr lang="en-US" sz="1050" dirty="0">
                <a:solidFill>
                  <a:srgbClr val="8FA0C0"/>
                </a:solidFill>
                <a:latin typeface="IBM Plex Mono" pitchFamily="34" charset="0"/>
                <a:ea typeface="IBM Plex Mono" pitchFamily="34" charset="-122"/>
                <a:cs typeface="IBM Plex Mono" pitchFamily="34" charset="-120"/>
              </a:rPr>
              <a:t>no human veto</a:t>
            </a:r>
            <a:endParaRPr lang="en-US" sz="1050" dirty="0"/>
          </a:p>
        </p:txBody>
      </p:sp>
      <p:sp>
        <p:nvSpPr>
          <p:cNvPr id="35" name="outcome chip">
            <a:extLst>
              <a:ext uri="{C183D7F6-B498-43B3-948B-1728B52AA6E4}">
                <adec:decorative xmlns:adec="http://schemas.microsoft.com/office/drawing/2017/decorative" val="1"/>
              </a:ext>
            </a:extLst>
          </p:cNvPr>
          <p:cNvSpPr/>
          <p:nvPr/>
        </p:nvSpPr>
        <p:spPr>
          <a:xfrm>
            <a:off x="384048" y="4206240"/>
            <a:ext cx="5394960" cy="777240"/>
          </a:xfrm>
          <a:prstGeom prst="rect">
            <a:avLst/>
          </a:prstGeom>
          <a:solidFill>
            <a:srgbClr val="2E6B5E"/>
          </a:solidFill>
          <a:ln/>
        </p:spPr>
        <p:txBody>
          <a:bodyPr/>
          <a:lstStyle/>
          <a:p>
            <a:endParaRPr lang="en-BD"/>
          </a:p>
        </p:txBody>
      </p:sp>
      <p:sp>
        <p:nvSpPr>
          <p:cNvPr id="36" name="Text 33"/>
          <p:cNvSpPr/>
          <p:nvPr/>
        </p:nvSpPr>
        <p:spPr>
          <a:xfrm>
            <a:off x="658368" y="4306824"/>
            <a:ext cx="4846320" cy="310896"/>
          </a:xfrm>
          <a:prstGeom prst="rect">
            <a:avLst/>
          </a:prstGeom>
          <a:noFill/>
          <a:ln/>
        </p:spPr>
        <p:txBody>
          <a:bodyPr wrap="square" lIns="0" tIns="0" rIns="0" bIns="0" rtlCol="0" anchor="ctr"/>
          <a:lstStyle/>
          <a:p>
            <a:pPr marL="0" indent="0">
              <a:buNone/>
            </a:pPr>
            <a:r>
              <a:rPr lang="en-US" sz="1400" b="1" kern="0" spc="200" dirty="0">
                <a:solidFill>
                  <a:srgbClr val="FFFFFF"/>
                </a:solidFill>
                <a:latin typeface="IBM Plex Mono" pitchFamily="34" charset="0"/>
                <a:ea typeface="IBM Plex Mono" pitchFamily="34" charset="-122"/>
                <a:cs typeface="IBM Plex Mono" pitchFamily="34" charset="-120"/>
              </a:rPr>
              <a:t>PROMOTED</a:t>
            </a:r>
            <a:endParaRPr lang="en-US" sz="1400" dirty="0"/>
          </a:p>
        </p:txBody>
      </p:sp>
      <p:sp>
        <p:nvSpPr>
          <p:cNvPr id="37" name="Text 34"/>
          <p:cNvSpPr/>
          <p:nvPr/>
        </p:nvSpPr>
        <p:spPr>
          <a:xfrm>
            <a:off x="658368" y="4617720"/>
            <a:ext cx="4846320" cy="310896"/>
          </a:xfrm>
          <a:prstGeom prst="rect">
            <a:avLst/>
          </a:prstGeom>
          <a:noFill/>
          <a:ln/>
        </p:spPr>
        <p:txBody>
          <a:bodyPr wrap="square" lIns="0" tIns="0" rIns="0" bIns="0" rtlCol="0" anchor="ctr"/>
          <a:lstStyle/>
          <a:p>
            <a:pPr marL="0" indent="0">
              <a:buNone/>
            </a:pPr>
            <a:r>
              <a:rPr lang="en-US" sz="1400" dirty="0">
                <a:solidFill>
                  <a:srgbClr val="F2ECE2"/>
                </a:solidFill>
                <a:latin typeface="Inter" pitchFamily="34" charset="0"/>
                <a:ea typeface="Inter" pitchFamily="34" charset="-122"/>
                <a:cs typeface="Inter" pitchFamily="34" charset="-120"/>
              </a:rPr>
              <a:t>Improves now, holds on every past task.</a:t>
            </a:r>
            <a:endParaRPr lang="en-US" sz="1400" dirty="0"/>
          </a:p>
        </p:txBody>
      </p:sp>
      <p:sp>
        <p:nvSpPr>
          <p:cNvPr id="38" name="outcome chip">
            <a:extLst>
              <a:ext uri="{C183D7F6-B498-43B3-948B-1728B52AA6E4}">
                <adec:decorative xmlns:adec="http://schemas.microsoft.com/office/drawing/2017/decorative" val="1"/>
              </a:ext>
            </a:extLst>
          </p:cNvPr>
          <p:cNvSpPr/>
          <p:nvPr/>
        </p:nvSpPr>
        <p:spPr>
          <a:xfrm>
            <a:off x="6419088" y="4206240"/>
            <a:ext cx="5394960" cy="777240"/>
          </a:xfrm>
          <a:prstGeom prst="rect">
            <a:avLst/>
          </a:prstGeom>
          <a:solidFill>
            <a:srgbClr val="9C4A34"/>
          </a:solidFill>
          <a:ln/>
        </p:spPr>
        <p:txBody>
          <a:bodyPr/>
          <a:lstStyle/>
          <a:p>
            <a:endParaRPr lang="en-BD"/>
          </a:p>
        </p:txBody>
      </p:sp>
      <p:sp>
        <p:nvSpPr>
          <p:cNvPr id="39" name="Text 36"/>
          <p:cNvSpPr/>
          <p:nvPr/>
        </p:nvSpPr>
        <p:spPr>
          <a:xfrm>
            <a:off x="6693408" y="4306824"/>
            <a:ext cx="4846320" cy="310896"/>
          </a:xfrm>
          <a:prstGeom prst="rect">
            <a:avLst/>
          </a:prstGeom>
          <a:noFill/>
          <a:ln/>
        </p:spPr>
        <p:txBody>
          <a:bodyPr wrap="square" lIns="0" tIns="0" rIns="0" bIns="0" rtlCol="0" anchor="ctr"/>
          <a:lstStyle/>
          <a:p>
            <a:pPr marL="0" indent="0">
              <a:buNone/>
            </a:pPr>
            <a:r>
              <a:rPr lang="en-US" sz="1400" b="1" kern="0" spc="200" dirty="0">
                <a:solidFill>
                  <a:srgbClr val="FFFFFF"/>
                </a:solidFill>
                <a:latin typeface="IBM Plex Mono" pitchFamily="34" charset="0"/>
                <a:ea typeface="IBM Plex Mono" pitchFamily="34" charset="-122"/>
                <a:cs typeface="IBM Plex Mono" pitchFamily="34" charset="-120"/>
              </a:rPr>
              <a:t>REJECTED</a:t>
            </a:r>
            <a:endParaRPr lang="en-US" sz="1400" dirty="0"/>
          </a:p>
        </p:txBody>
      </p:sp>
      <p:sp>
        <p:nvSpPr>
          <p:cNvPr id="40" name="Text 37"/>
          <p:cNvSpPr/>
          <p:nvPr/>
        </p:nvSpPr>
        <p:spPr>
          <a:xfrm>
            <a:off x="6693408" y="4617720"/>
            <a:ext cx="4846320" cy="310896"/>
          </a:xfrm>
          <a:prstGeom prst="rect">
            <a:avLst/>
          </a:prstGeom>
          <a:noFill/>
          <a:ln/>
        </p:spPr>
        <p:txBody>
          <a:bodyPr wrap="square" lIns="0" tIns="0" rIns="0" bIns="0" rtlCol="0" anchor="ctr"/>
          <a:lstStyle/>
          <a:p>
            <a:pPr marL="0" indent="0">
              <a:buNone/>
            </a:pPr>
            <a:r>
              <a:rPr lang="en-US" sz="1400" dirty="0">
                <a:solidFill>
                  <a:srgbClr val="F2ECE2"/>
                </a:solidFill>
                <a:latin typeface="Inter" pitchFamily="34" charset="0"/>
                <a:ea typeface="Inter" pitchFamily="34" charset="-122"/>
                <a:cs typeface="Inter" pitchFamily="34" charset="-120"/>
              </a:rPr>
              <a:t>Recorded just as permanently as a pass.</a:t>
            </a:r>
            <a:endParaRPr lang="en-US" sz="1400" dirty="0"/>
          </a:p>
        </p:txBody>
      </p:sp>
      <p:sp>
        <p:nvSpPr>
          <p:cNvPr id="41" name="Text 38"/>
          <p:cNvSpPr/>
          <p:nvPr/>
        </p:nvSpPr>
        <p:spPr>
          <a:xfrm>
            <a:off x="384048" y="5349240"/>
            <a:ext cx="10515600" cy="411480"/>
          </a:xfrm>
          <a:prstGeom prst="rect">
            <a:avLst/>
          </a:prstGeom>
          <a:noFill/>
          <a:ln/>
        </p:spPr>
        <p:txBody>
          <a:bodyPr wrap="square" lIns="0" tIns="0" rIns="0" bIns="0" rtlCol="0" anchor="ctr"/>
          <a:lstStyle/>
          <a:p>
            <a:pPr marL="0" indent="0">
              <a:buNone/>
            </a:pPr>
            <a:r>
              <a:rPr lang="en-US" sz="1900" dirty="0">
                <a:solidFill>
                  <a:srgbClr val="EDEAE0"/>
                </a:solidFill>
                <a:latin typeface="Inter" pitchFamily="34" charset="0"/>
                <a:ea typeface="Inter" pitchFamily="34" charset="-122"/>
                <a:cs typeface="Inter" pitchFamily="34" charset="-120"/>
              </a:rPr>
              <a:t>The ledger does not run the learning. It decides what the learning may publish.</a:t>
            </a:r>
            <a:endParaRPr lang="en-US" sz="1900" dirty="0"/>
          </a:p>
        </p:txBody>
      </p:sp>
      <p:sp>
        <p:nvSpPr>
          <p:cNvPr id="42" name="Text 39"/>
          <p:cNvSpPr/>
          <p:nvPr/>
        </p:nvSpPr>
        <p:spPr>
          <a:xfrm>
            <a:off x="384048" y="5897880"/>
            <a:ext cx="10515600" cy="411480"/>
          </a:xfrm>
          <a:prstGeom prst="rect">
            <a:avLst/>
          </a:prstGeom>
          <a:noFill/>
          <a:ln/>
        </p:spPr>
        <p:txBody>
          <a:bodyPr wrap="square" lIns="0" tIns="0" rIns="0" bIns="0" rtlCol="0" anchor="ctr"/>
          <a:lstStyle/>
          <a:p>
            <a:pPr marL="0" indent="0">
              <a:buNone/>
            </a:pPr>
            <a:r>
              <a:rPr lang="en-US" sz="1400" dirty="0">
                <a:solidFill>
                  <a:srgbClr val="8FA0C0"/>
                </a:solidFill>
                <a:latin typeface="IBM Plex Mono" pitchFamily="34" charset="0"/>
                <a:ea typeface="IBM Plex Mono" pitchFamily="34" charset="-122"/>
                <a:cs typeface="IBM Plex Mono" pitchFamily="34" charset="-120"/>
              </a:rPr>
              <a:t>Endorsement counts organisations, not signatures  ·  3 of 5 required</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A44"/>
        </a:solidFill>
        <a:effectLst/>
      </p:bgPr>
    </p:bg>
    <p:spTree>
      <p:nvGrpSpPr>
        <p:cNvPr id="1" name=""/>
        <p:cNvGrpSpPr/>
        <p:nvPr/>
      </p:nvGrpSpPr>
      <p:grpSpPr>
        <a:xfrm>
          <a:off x="0" y="0"/>
          <a:ext cx="0" cy="0"/>
          <a:chOff x="0" y="0"/>
          <a:chExt cx="0" cy="0"/>
        </a:xfrm>
      </p:grpSpPr>
      <p:sp>
        <p:nvSpPr>
          <p:cNvPr id="3" name="Text 0"/>
          <p:cNvSpPr/>
          <p:nvPr/>
        </p:nvSpPr>
        <p:spPr>
          <a:xfrm>
            <a:off x="777240" y="685800"/>
            <a:ext cx="3657600" cy="868680"/>
          </a:xfrm>
          <a:prstGeom prst="rect">
            <a:avLst/>
          </a:prstGeom>
          <a:noFill/>
          <a:ln/>
        </p:spPr>
        <p:txBody>
          <a:bodyPr wrap="square" lIns="0" tIns="0" rIns="0" bIns="0" rtlCol="0" anchor="t"/>
          <a:lstStyle/>
          <a:p>
            <a:pPr marL="0" indent="0" algn="l">
              <a:lnSpc>
                <a:spcPct val="105000"/>
              </a:lnSpc>
              <a:buNone/>
            </a:pPr>
            <a:r>
              <a:rPr lang="en-US" sz="5200" b="1" dirty="0">
                <a:solidFill>
                  <a:srgbClr val="EDEAE0"/>
                </a:solidFill>
                <a:latin typeface="Fraunces" pitchFamily="34" charset="0"/>
                <a:ea typeface="Fraunces" pitchFamily="34" charset="-122"/>
                <a:cs typeface="Fraunces" pitchFamily="34" charset="-120"/>
              </a:rPr>
              <a:t>It runs.</a:t>
            </a:r>
            <a:endParaRPr lang="en-US" sz="5200" dirty="0"/>
          </a:p>
        </p:txBody>
      </p:sp>
      <p:sp>
        <p:nvSpPr>
          <p:cNvPr id="4" name="accent rule">
            <a:extLst>
              <a:ext uri="{C183D7F6-B498-43B3-948B-1728B52AA6E4}">
                <adec:decorative xmlns:adec="http://schemas.microsoft.com/office/drawing/2017/decorative" val="1"/>
              </a:ext>
            </a:extLst>
          </p:cNvPr>
          <p:cNvSpPr/>
          <p:nvPr/>
        </p:nvSpPr>
        <p:spPr>
          <a:xfrm>
            <a:off x="822960" y="411480"/>
            <a:ext cx="1005840" cy="50292"/>
          </a:xfrm>
          <a:prstGeom prst="rect">
            <a:avLst/>
          </a:prstGeom>
          <a:solidFill>
            <a:srgbClr val="B08A3E"/>
          </a:solidFill>
          <a:ln/>
        </p:spPr>
        <p:txBody>
          <a:bodyPr/>
          <a:lstStyle/>
          <a:p>
            <a:endParaRPr lang="en-BD"/>
          </a:p>
        </p:txBody>
      </p:sp>
      <p:sp>
        <p:nvSpPr>
          <p:cNvPr id="5" name="Text 2">
            <a:extLst>
              <a:ext uri="{C183D7F6-B498-43B3-948B-1728B52AA6E4}">
                <adec:decorative xmlns:adec="http://schemas.microsoft.com/office/drawing/2017/decorative" val="0"/>
              </a:ext>
            </a:extLst>
          </p:cNvPr>
          <p:cNvSpPr/>
          <p:nvPr/>
        </p:nvSpPr>
        <p:spPr>
          <a:xfrm>
            <a:off x="777240" y="2148840"/>
            <a:ext cx="2468880" cy="685800"/>
          </a:xfrm>
          <a:prstGeom prst="rect">
            <a:avLst/>
          </a:prstGeom>
          <a:noFill/>
          <a:ln/>
        </p:spPr>
        <p:txBody>
          <a:bodyPr wrap="square" lIns="0" tIns="0" rIns="0" bIns="0" rtlCol="0" anchor="ctr"/>
          <a:lstStyle/>
          <a:p>
            <a:pPr marL="0" indent="0">
              <a:buNone/>
            </a:pPr>
            <a:r>
              <a:rPr lang="en-US" sz="3400" b="1" dirty="0">
                <a:solidFill>
                  <a:srgbClr val="B08A3E"/>
                </a:solidFill>
                <a:latin typeface="IBM Plex Mono" pitchFamily="34" charset="0"/>
                <a:ea typeface="IBM Plex Mono" pitchFamily="34" charset="-122"/>
                <a:cs typeface="IBM Plex Mono" pitchFamily="34" charset="-120"/>
              </a:rPr>
              <a:t>69</a:t>
            </a:r>
            <a:endParaRPr lang="en-US" sz="3400" dirty="0"/>
          </a:p>
        </p:txBody>
      </p:sp>
      <p:sp>
        <p:nvSpPr>
          <p:cNvPr id="6" name="Text 3"/>
          <p:cNvSpPr/>
          <p:nvPr/>
        </p:nvSpPr>
        <p:spPr>
          <a:xfrm>
            <a:off x="777240" y="286207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tests passing</a:t>
            </a:r>
            <a:endParaRPr lang="en-US" sz="1600" dirty="0"/>
          </a:p>
        </p:txBody>
      </p:sp>
      <p:sp>
        <p:nvSpPr>
          <p:cNvPr id="7" name="Text 4"/>
          <p:cNvSpPr/>
          <p:nvPr/>
        </p:nvSpPr>
        <p:spPr>
          <a:xfrm>
            <a:off x="3520440" y="2148840"/>
            <a:ext cx="2468880" cy="685800"/>
          </a:xfrm>
          <a:prstGeom prst="rect">
            <a:avLst/>
          </a:prstGeom>
          <a:noFill/>
          <a:ln/>
        </p:spPr>
        <p:txBody>
          <a:bodyPr wrap="square" lIns="0" tIns="0" rIns="0" bIns="0" rtlCol="0" anchor="ctr"/>
          <a:lstStyle/>
          <a:p>
            <a:pPr marL="0" indent="0">
              <a:buNone/>
            </a:pPr>
            <a:r>
              <a:rPr lang="en-US" sz="3400" b="1" dirty="0">
                <a:solidFill>
                  <a:srgbClr val="EDEAE0"/>
                </a:solidFill>
                <a:latin typeface="IBM Plex Mono" pitchFamily="34" charset="0"/>
                <a:ea typeface="IBM Plex Mono" pitchFamily="34" charset="-122"/>
                <a:cs typeface="IBM Plex Mono" pitchFamily="34" charset="-120"/>
              </a:rPr>
              <a:t>2</a:t>
            </a:r>
            <a:endParaRPr lang="en-US" sz="3400" dirty="0"/>
          </a:p>
        </p:txBody>
      </p:sp>
      <p:sp>
        <p:nvSpPr>
          <p:cNvPr id="8" name="Text 5">
            <a:extLst>
              <a:ext uri="{C183D7F6-B498-43B3-948B-1728B52AA6E4}">
                <adec:decorative xmlns:adec="http://schemas.microsoft.com/office/drawing/2017/decorative" val="0"/>
              </a:ext>
            </a:extLst>
          </p:cNvPr>
          <p:cNvSpPr/>
          <p:nvPr/>
        </p:nvSpPr>
        <p:spPr>
          <a:xfrm>
            <a:off x="3520440" y="286207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channels</a:t>
            </a:r>
            <a:endParaRPr lang="en-US" sz="1600" dirty="0"/>
          </a:p>
        </p:txBody>
      </p:sp>
      <p:sp>
        <p:nvSpPr>
          <p:cNvPr id="9" name="Text 6">
            <a:extLst>
              <a:ext uri="{C183D7F6-B498-43B3-948B-1728B52AA6E4}">
                <adec:decorative xmlns:adec="http://schemas.microsoft.com/office/drawing/2017/decorative" val="0"/>
              </a:ext>
            </a:extLst>
          </p:cNvPr>
          <p:cNvSpPr/>
          <p:nvPr/>
        </p:nvSpPr>
        <p:spPr>
          <a:xfrm>
            <a:off x="777240" y="3703320"/>
            <a:ext cx="2468880" cy="685800"/>
          </a:xfrm>
          <a:prstGeom prst="rect">
            <a:avLst/>
          </a:prstGeom>
          <a:noFill/>
          <a:ln/>
        </p:spPr>
        <p:txBody>
          <a:bodyPr wrap="square" lIns="0" tIns="0" rIns="0" bIns="0" rtlCol="0" anchor="ctr"/>
          <a:lstStyle/>
          <a:p>
            <a:pPr marL="0" indent="0">
              <a:buNone/>
            </a:pPr>
            <a:r>
              <a:rPr lang="en-US" sz="3400" b="1" dirty="0">
                <a:solidFill>
                  <a:srgbClr val="EDEAE0"/>
                </a:solidFill>
                <a:latin typeface="IBM Plex Mono" pitchFamily="34" charset="0"/>
                <a:ea typeface="IBM Plex Mono" pitchFamily="34" charset="-122"/>
                <a:cs typeface="IBM Plex Mono" pitchFamily="34" charset="-120"/>
              </a:rPr>
              <a:t>3</a:t>
            </a:r>
            <a:endParaRPr lang="en-US" sz="3400" dirty="0"/>
          </a:p>
        </p:txBody>
      </p:sp>
      <p:sp>
        <p:nvSpPr>
          <p:cNvPr id="10" name="Text 7"/>
          <p:cNvSpPr/>
          <p:nvPr/>
        </p:nvSpPr>
        <p:spPr>
          <a:xfrm>
            <a:off x="777240" y="441655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chaincodes</a:t>
            </a:r>
            <a:endParaRPr lang="en-US" sz="1600" dirty="0"/>
          </a:p>
        </p:txBody>
      </p:sp>
      <p:sp>
        <p:nvSpPr>
          <p:cNvPr id="11" name="Text 8"/>
          <p:cNvSpPr/>
          <p:nvPr/>
        </p:nvSpPr>
        <p:spPr>
          <a:xfrm>
            <a:off x="3520440" y="3703320"/>
            <a:ext cx="2468880" cy="685800"/>
          </a:xfrm>
          <a:prstGeom prst="rect">
            <a:avLst/>
          </a:prstGeom>
          <a:noFill/>
          <a:ln/>
        </p:spPr>
        <p:txBody>
          <a:bodyPr wrap="square" lIns="0" tIns="0" rIns="0" bIns="0" rtlCol="0" anchor="ctr"/>
          <a:lstStyle/>
          <a:p>
            <a:pPr marL="0" indent="0">
              <a:buNone/>
            </a:pPr>
            <a:r>
              <a:rPr lang="en-US" sz="3400" b="1" dirty="0">
                <a:solidFill>
                  <a:srgbClr val="EDEAE0"/>
                </a:solidFill>
                <a:latin typeface="IBM Plex Mono" pitchFamily="34" charset="0"/>
                <a:ea typeface="IBM Plex Mono" pitchFamily="34" charset="-122"/>
                <a:cs typeface="IBM Plex Mono" pitchFamily="34" charset="-120"/>
              </a:rPr>
              <a:t>50,000</a:t>
            </a:r>
            <a:endParaRPr lang="en-US" sz="3400" dirty="0"/>
          </a:p>
        </p:txBody>
      </p:sp>
      <p:sp>
        <p:nvSpPr>
          <p:cNvPr id="12" name="Text 9"/>
          <p:cNvSpPr/>
          <p:nvPr/>
        </p:nvSpPr>
        <p:spPr>
          <a:xfrm>
            <a:off x="3520440" y="441655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generated documents</a:t>
            </a:r>
            <a:endParaRPr lang="en-US" sz="1600" dirty="0"/>
          </a:p>
        </p:txBody>
      </p:sp>
      <p:sp>
        <p:nvSpPr>
          <p:cNvPr id="13" name="Text 10"/>
          <p:cNvSpPr/>
          <p:nvPr/>
        </p:nvSpPr>
        <p:spPr>
          <a:xfrm>
            <a:off x="777240" y="5349240"/>
            <a:ext cx="5212080" cy="822960"/>
          </a:xfrm>
          <a:prstGeom prst="rect">
            <a:avLst/>
          </a:prstGeom>
          <a:noFill/>
          <a:ln/>
        </p:spPr>
        <p:txBody>
          <a:bodyPr wrap="square" lIns="0" tIns="0" rIns="0" bIns="0" rtlCol="0" anchor="ctr"/>
          <a:lstStyle/>
          <a:p>
            <a:pPr marL="0" indent="0">
              <a:lnSpc>
                <a:spcPct val="120000"/>
              </a:lnSpc>
              <a:buNone/>
            </a:pPr>
            <a:r>
              <a:rPr lang="en-US" sz="1700" dirty="0">
                <a:solidFill>
                  <a:srgbClr val="C6CCDA"/>
                </a:solidFill>
                <a:latin typeface="Inter" pitchFamily="34" charset="0"/>
                <a:ea typeface="Inter" pitchFamily="34" charset="-122"/>
                <a:cs typeface="Inter" pitchFamily="34" charset="-120"/>
              </a:rPr>
              <a:t>Ported to Hyperledger Fabric. Tamper with a block and verification fails.</a:t>
            </a:r>
            <a:endParaRPr lang="en-US" sz="1700" dirty="0"/>
          </a:p>
        </p:txBody>
      </p:sp>
      <p:sp>
        <p:nvSpPr>
          <p:cNvPr id="14" name="terminal panel">
            <a:extLst>
              <a:ext uri="{C183D7F6-B498-43B3-948B-1728B52AA6E4}">
                <adec:decorative xmlns:adec="http://schemas.microsoft.com/office/drawing/2017/decorative" val="1"/>
              </a:ext>
            </a:extLst>
          </p:cNvPr>
          <p:cNvSpPr/>
          <p:nvPr/>
        </p:nvSpPr>
        <p:spPr>
          <a:xfrm>
            <a:off x="6537960" y="914400"/>
            <a:ext cx="4892040" cy="5029200"/>
          </a:xfrm>
          <a:prstGeom prst="rect">
            <a:avLst/>
          </a:prstGeom>
          <a:solidFill>
            <a:srgbClr val="121A2C"/>
          </a:solidFill>
          <a:ln w="15875">
            <a:solidFill>
              <a:srgbClr val="B08A3E"/>
            </a:solidFill>
            <a:prstDash val="solid"/>
          </a:ln>
          <a:effectLst>
            <a:outerShdw blurRad="127000" dist="38100" dir="8100000" algn="bl" rotWithShape="0">
              <a:srgbClr val="000000">
                <a:alpha val="22000"/>
              </a:srgbClr>
            </a:outerShdw>
          </a:effectLst>
        </p:spPr>
        <p:txBody>
          <a:bodyPr/>
          <a:lstStyle/>
          <a:p>
            <a:endParaRPr lang="en-BD"/>
          </a:p>
        </p:txBody>
      </p:sp>
      <p:sp>
        <p:nvSpPr>
          <p:cNvPr id="15" name="Text 12"/>
          <p:cNvSpPr/>
          <p:nvPr/>
        </p:nvSpPr>
        <p:spPr>
          <a:xfrm>
            <a:off x="6858000" y="1325880"/>
            <a:ext cx="4251960" cy="2377440"/>
          </a:xfrm>
          <a:prstGeom prst="rect">
            <a:avLst/>
          </a:prstGeom>
          <a:noFill/>
          <a:ln/>
        </p:spPr>
        <p:txBody>
          <a:bodyPr wrap="square" lIns="0" tIns="0" rIns="0" bIns="0" rtlCol="0" anchor="ctr"/>
          <a:lstStyle/>
          <a:p>
            <a:pPr marL="0" indent="0">
              <a:lnSpc>
                <a:spcPct val="135000"/>
              </a:lnSpc>
              <a:buNone/>
            </a:pPr>
            <a:r>
              <a:rPr lang="en-US" sz="1250" dirty="0">
                <a:solidFill>
                  <a:srgbClr val="8FA0C0"/>
                </a:solidFill>
                <a:latin typeface="IBM Plex Mono" pitchFamily="34" charset="0"/>
                <a:ea typeface="IBM Plex Mono" pitchFamily="34" charset="-122"/>
                <a:cs typeface="IBM Plex Mono" pitchFamily="34" charset="-120"/>
              </a:rPr>
              <a:t>$ breadcrumbs gate evaluate --round 7
</a:t>
            </a:r>
            <a:r>
              <a:rPr lang="en-US" sz="1250" dirty="0">
                <a:solidFill>
                  <a:srgbClr val="9BC7B8"/>
                </a:solidFill>
                <a:latin typeface="IBM Plex Mono" pitchFamily="34" charset="0"/>
                <a:ea typeface="IBM Plex Mono" pitchFamily="34" charset="-122"/>
                <a:cs typeface="IBM Plex Mono" pitchFamily="34" charset="-120"/>
              </a:rPr>
              <a:t>  forged_certificate        1.000  ▲
  chemical_misreporting     1.000  ▲
</a:t>
            </a:r>
            <a:r>
              <a:rPr lang="en-US" sz="1250" dirty="0">
                <a:solidFill>
                  <a:srgbClr val="E0A18E"/>
                </a:solidFill>
                <a:latin typeface="IBM Plex Mono" pitchFamily="34" charset="0"/>
                <a:ea typeface="IBM Plex Mono" pitchFamily="34" charset="-122"/>
                <a:cs typeface="IBM Plex Mono" pitchFamily="34" charset="-120"/>
              </a:rPr>
              <a:t>  wage_register_inconsist.  0.735  ▼
</a:t>
            </a:r>
            <a:r>
              <a:rPr lang="en-US" sz="1250" dirty="0">
                <a:solidFill>
                  <a:srgbClr val="8FA0C0"/>
                </a:solidFill>
                <a:latin typeface="IBM Plex Mono" pitchFamily="34" charset="0"/>
                <a:ea typeface="IBM Plex Mono" pitchFamily="34" charset="-122"/>
                <a:cs typeface="IBM Plex Mono" pitchFamily="34" charset="-120"/>
              </a:rPr>
              <a:t>  tolerance 500 bp · observed 1805 bp
</a:t>
            </a:r>
            <a:endParaRPr lang="en-US" sz="1250" dirty="0"/>
          </a:p>
        </p:txBody>
      </p:sp>
      <p:sp>
        <p:nvSpPr>
          <p:cNvPr id="16" name="terminal verdict">
            <a:extLst>
              <a:ext uri="{C183D7F6-B498-43B3-948B-1728B52AA6E4}">
                <adec:decorative xmlns:adec="http://schemas.microsoft.com/office/drawing/2017/decorative" val="1"/>
              </a:ext>
            </a:extLst>
          </p:cNvPr>
          <p:cNvSpPr/>
          <p:nvPr/>
        </p:nvSpPr>
        <p:spPr>
          <a:xfrm>
            <a:off x="6858000" y="3886200"/>
            <a:ext cx="4251960" cy="777240"/>
          </a:xfrm>
          <a:prstGeom prst="rect">
            <a:avLst/>
          </a:prstGeom>
          <a:solidFill>
            <a:srgbClr val="9C4A34"/>
          </a:solidFill>
          <a:ln/>
        </p:spPr>
        <p:txBody>
          <a:bodyPr/>
          <a:lstStyle/>
          <a:p>
            <a:endParaRPr lang="en-BD"/>
          </a:p>
        </p:txBody>
      </p:sp>
      <p:sp>
        <p:nvSpPr>
          <p:cNvPr id="17" name="Text 14"/>
          <p:cNvSpPr/>
          <p:nvPr/>
        </p:nvSpPr>
        <p:spPr>
          <a:xfrm>
            <a:off x="6858000" y="4041648"/>
            <a:ext cx="4251960" cy="502920"/>
          </a:xfrm>
          <a:prstGeom prst="rect">
            <a:avLst/>
          </a:prstGeom>
          <a:noFill/>
          <a:ln/>
        </p:spPr>
        <p:txBody>
          <a:bodyPr wrap="square" lIns="0" tIns="0" rIns="0" bIns="0" rtlCol="0" anchor="ctr"/>
          <a:lstStyle/>
          <a:p>
            <a:pPr marL="0" indent="0" algn="ctr">
              <a:buNone/>
            </a:pPr>
            <a:r>
              <a:rPr lang="en-US" sz="2600" b="1" kern="0" spc="300" dirty="0">
                <a:solidFill>
                  <a:srgbClr val="FFFFFF"/>
                </a:solidFill>
                <a:latin typeface="IBM Plex Mono" pitchFamily="34" charset="0"/>
                <a:ea typeface="IBM Plex Mono" pitchFamily="34" charset="-122"/>
                <a:cs typeface="IBM Plex Mono" pitchFamily="34" charset="-120"/>
              </a:rPr>
              <a:t>REJECTED</a:t>
            </a:r>
            <a:endParaRPr lang="en-US" sz="2600" dirty="0"/>
          </a:p>
        </p:txBody>
      </p:sp>
      <p:sp>
        <p:nvSpPr>
          <p:cNvPr id="18" name="Text 15"/>
          <p:cNvSpPr/>
          <p:nvPr/>
        </p:nvSpPr>
        <p:spPr>
          <a:xfrm>
            <a:off x="6858000" y="4892040"/>
            <a:ext cx="4251960" cy="457200"/>
          </a:xfrm>
          <a:prstGeom prst="rect">
            <a:avLst/>
          </a:prstGeom>
          <a:noFill/>
          <a:ln/>
        </p:spPr>
        <p:txBody>
          <a:bodyPr wrap="square" lIns="0" tIns="0" rIns="0" bIns="0" rtlCol="0" anchor="ctr"/>
          <a:lstStyle/>
          <a:p>
            <a:pPr marL="0" indent="0">
              <a:buNone/>
            </a:pPr>
            <a:r>
              <a:rPr lang="en-US" sz="1200" dirty="0">
                <a:solidFill>
                  <a:srgbClr val="8FA0C0"/>
                </a:solidFill>
                <a:latin typeface="IBM Plex Mono" pitchFamily="34" charset="0"/>
                <a:ea typeface="IBM Plex Mono" pitchFamily="34" charset="-122"/>
                <a:cs typeface="IBM Plex Mono" pitchFamily="34" charset="-120"/>
              </a:rPr>
              <a:t>block 0x7ac9…31f  ·  endorsed 3/5  ·  committed</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640080"/>
            <a:ext cx="7863840" cy="1188720"/>
          </a:xfrm>
          <a:prstGeom prst="rect">
            <a:avLst/>
          </a:prstGeom>
          <a:noFill/>
          <a:ln/>
        </p:spPr>
        <p:txBody>
          <a:bodyPr wrap="square" lIns="0" tIns="0" rIns="0" bIns="0" rtlCol="0" anchor="t"/>
          <a:lstStyle/>
          <a:p>
            <a:pPr marL="0" indent="0" algn="l">
              <a:lnSpc>
                <a:spcPct val="105000"/>
              </a:lnSpc>
              <a:buNone/>
            </a:pPr>
            <a:r>
              <a:rPr lang="en-US" sz="4200" b="1" dirty="0">
                <a:solidFill>
                  <a:srgbClr val="162034"/>
                </a:solidFill>
                <a:latin typeface="Fraunces" pitchFamily="34" charset="0"/>
                <a:ea typeface="Fraunces" pitchFamily="34" charset="-122"/>
                <a:cs typeface="Fraunces" pitchFamily="34" charset="-120"/>
              </a:rPr>
              <a:t>The exam is sealed</a:t>
            </a:r>
            <a:endParaRPr lang="en-US" sz="4200" dirty="0"/>
          </a:p>
          <a:p>
            <a:pPr marL="0" indent="0" algn="l">
              <a:lnSpc>
                <a:spcPct val="105000"/>
              </a:lnSpc>
              <a:buNone/>
            </a:pPr>
            <a:r>
              <a:rPr lang="en-US" sz="4200" b="1" dirty="0">
                <a:solidFill>
                  <a:srgbClr val="162034"/>
                </a:solidFill>
                <a:latin typeface="Fraunces" pitchFamily="34" charset="0"/>
                <a:ea typeface="Fraunces" pitchFamily="34" charset="-122"/>
                <a:cs typeface="Fraunces" pitchFamily="34" charset="-120"/>
              </a:rPr>
              <a:t>before anyone studies.</a:t>
            </a:r>
            <a:endParaRPr lang="en-US" sz="4200" dirty="0"/>
          </a:p>
        </p:txBody>
      </p:sp>
      <p:sp>
        <p:nvSpPr>
          <p:cNvPr id="4" name="accent rule">
            <a:extLst>
              <a:ext uri="{C183D7F6-B498-43B3-948B-1728B52AA6E4}">
                <adec:decorative xmlns:adec="http://schemas.microsoft.com/office/drawing/2017/decorative" val="1"/>
              </a:ext>
            </a:extLst>
          </p:cNvPr>
          <p:cNvSpPr/>
          <p:nvPr/>
        </p:nvSpPr>
        <p:spPr>
          <a:xfrm>
            <a:off x="777240" y="365760"/>
            <a:ext cx="1005840" cy="50292"/>
          </a:xfrm>
          <a:prstGeom prst="rect">
            <a:avLst/>
          </a:prstGeom>
          <a:solidFill>
            <a:srgbClr val="B08A3E"/>
          </a:solidFill>
          <a:ln/>
        </p:spPr>
        <p:txBody>
          <a:bodyPr/>
          <a:lstStyle/>
          <a:p>
            <a:endParaRPr lang="en-BD"/>
          </a:p>
        </p:txBody>
      </p:sp>
      <p:sp>
        <p:nvSpPr>
          <p:cNvPr id="5" name="timeline track">
            <a:extLst>
              <a:ext uri="{C183D7F6-B498-43B3-948B-1728B52AA6E4}">
                <adec:decorative xmlns:adec="http://schemas.microsoft.com/office/drawing/2017/decorative" val="1"/>
              </a:ext>
            </a:extLst>
          </p:cNvPr>
          <p:cNvSpPr/>
          <p:nvPr/>
        </p:nvSpPr>
        <p:spPr>
          <a:xfrm>
            <a:off x="1051560" y="3730752"/>
            <a:ext cx="9875520" cy="41148"/>
          </a:xfrm>
          <a:prstGeom prst="rect">
            <a:avLst/>
          </a:prstGeom>
          <a:solidFill>
            <a:srgbClr val="C3BCAC"/>
          </a:solidFill>
          <a:ln/>
        </p:spPr>
        <p:txBody>
          <a:bodyPr/>
          <a:lstStyle/>
          <a:p>
            <a:endParaRPr lang="en-BD"/>
          </a:p>
        </p:txBody>
      </p:sp>
      <p:sp>
        <p:nvSpPr>
          <p:cNvPr id="6" name="timeline node">
            <a:extLst>
              <a:ext uri="{C183D7F6-B498-43B3-948B-1728B52AA6E4}">
                <adec:decorative xmlns:adec="http://schemas.microsoft.com/office/drawing/2017/decorative" val="1"/>
              </a:ext>
            </a:extLst>
          </p:cNvPr>
          <p:cNvSpPr/>
          <p:nvPr/>
        </p:nvSpPr>
        <p:spPr>
          <a:xfrm>
            <a:off x="896112" y="3593592"/>
            <a:ext cx="310896" cy="310896"/>
          </a:xfrm>
          <a:prstGeom prst="ellipse">
            <a:avLst/>
          </a:prstGeom>
          <a:solidFill>
            <a:srgbClr val="B08A3E"/>
          </a:solidFill>
          <a:ln/>
        </p:spPr>
        <p:txBody>
          <a:bodyPr/>
          <a:lstStyle/>
          <a:p>
            <a:endParaRPr lang="en-BD"/>
          </a:p>
        </p:txBody>
      </p:sp>
      <p:sp>
        <p:nvSpPr>
          <p:cNvPr id="7" name="Text 4"/>
          <p:cNvSpPr/>
          <p:nvPr/>
        </p:nvSpPr>
        <p:spPr>
          <a:xfrm>
            <a:off x="137160" y="2514600"/>
            <a:ext cx="1828800" cy="914400"/>
          </a:xfrm>
          <a:prstGeom prst="rect">
            <a:avLst/>
          </a:prstGeom>
          <a:noFill/>
          <a:ln/>
        </p:spPr>
        <p:txBody>
          <a:bodyPr wrap="square" lIns="0" tIns="0" rIns="0" bIns="0" rtlCol="0" anchor="b"/>
          <a:lstStyle/>
          <a:p>
            <a:pPr marL="0" indent="0" algn="ctr">
              <a:buNone/>
            </a:pPr>
            <a:r>
              <a:rPr lang="en-US" sz="1600" dirty="0">
                <a:solidFill>
                  <a:srgbClr val="162034"/>
                </a:solidFill>
                <a:latin typeface="Inter" pitchFamily="34" charset="0"/>
                <a:ea typeface="Inter" pitchFamily="34" charset="-122"/>
                <a:cs typeface="Inter" pitchFamily="34" charset="-120"/>
              </a:rPr>
              <a:t>Benchmark hash committed</a:t>
            </a:r>
            <a:endParaRPr lang="en-US" sz="1600" dirty="0"/>
          </a:p>
        </p:txBody>
      </p:sp>
      <p:sp>
        <p:nvSpPr>
          <p:cNvPr id="8" name="timeline node">
            <a:extLst>
              <a:ext uri="{C183D7F6-B498-43B3-948B-1728B52AA6E4}">
                <adec:decorative xmlns:adec="http://schemas.microsoft.com/office/drawing/2017/decorative" val="1"/>
              </a:ext>
            </a:extLst>
          </p:cNvPr>
          <p:cNvSpPr/>
          <p:nvPr/>
        </p:nvSpPr>
        <p:spPr>
          <a:xfrm>
            <a:off x="2871216" y="3593592"/>
            <a:ext cx="310896" cy="310896"/>
          </a:xfrm>
          <a:prstGeom prst="ellipse">
            <a:avLst/>
          </a:prstGeom>
          <a:solidFill>
            <a:srgbClr val="1E2A44"/>
          </a:solidFill>
          <a:ln/>
        </p:spPr>
        <p:txBody>
          <a:bodyPr/>
          <a:lstStyle/>
          <a:p>
            <a:endParaRPr lang="en-BD"/>
          </a:p>
        </p:txBody>
      </p:sp>
      <p:sp>
        <p:nvSpPr>
          <p:cNvPr id="9" name="Text 6"/>
          <p:cNvSpPr/>
          <p:nvPr/>
        </p:nvSpPr>
        <p:spPr>
          <a:xfrm>
            <a:off x="2112264" y="4133088"/>
            <a:ext cx="1828800" cy="914400"/>
          </a:xfrm>
          <a:prstGeom prst="rect">
            <a:avLst/>
          </a:prstGeom>
          <a:noFill/>
          <a:ln/>
        </p:spPr>
        <p:txBody>
          <a:bodyPr wrap="square" lIns="0" tIns="0" rIns="0" bIns="0" rtlCol="0" anchor="t"/>
          <a:lstStyle/>
          <a:p>
            <a:pPr marL="0" indent="0" algn="ctr">
              <a:buNone/>
            </a:pPr>
            <a:r>
              <a:rPr lang="en-US" sz="1600" dirty="0">
                <a:solidFill>
                  <a:srgbClr val="162034"/>
                </a:solidFill>
                <a:latin typeface="Inter" pitchFamily="34" charset="0"/>
                <a:ea typeface="Inter" pitchFamily="34" charset="-122"/>
                <a:cs typeface="Inter" pitchFamily="34" charset="-120"/>
              </a:rPr>
              <a:t>Round opens</a:t>
            </a:r>
            <a:endParaRPr lang="en-US" sz="1600" dirty="0"/>
          </a:p>
        </p:txBody>
      </p:sp>
      <p:sp>
        <p:nvSpPr>
          <p:cNvPr id="10" name="timeline node">
            <a:extLst>
              <a:ext uri="{C183D7F6-B498-43B3-948B-1728B52AA6E4}">
                <adec:decorative xmlns:adec="http://schemas.microsoft.com/office/drawing/2017/decorative" val="1"/>
              </a:ext>
            </a:extLst>
          </p:cNvPr>
          <p:cNvSpPr/>
          <p:nvPr/>
        </p:nvSpPr>
        <p:spPr>
          <a:xfrm>
            <a:off x="4846320" y="3593592"/>
            <a:ext cx="310896" cy="310896"/>
          </a:xfrm>
          <a:prstGeom prst="ellipse">
            <a:avLst/>
          </a:prstGeom>
          <a:solidFill>
            <a:srgbClr val="1E2A44"/>
          </a:solidFill>
          <a:ln/>
        </p:spPr>
        <p:txBody>
          <a:bodyPr/>
          <a:lstStyle/>
          <a:p>
            <a:endParaRPr lang="en-BD"/>
          </a:p>
        </p:txBody>
      </p:sp>
      <p:sp>
        <p:nvSpPr>
          <p:cNvPr id="11" name="Text 8"/>
          <p:cNvSpPr/>
          <p:nvPr/>
        </p:nvSpPr>
        <p:spPr>
          <a:xfrm>
            <a:off x="4087368" y="2514600"/>
            <a:ext cx="1828800" cy="914400"/>
          </a:xfrm>
          <a:prstGeom prst="rect">
            <a:avLst/>
          </a:prstGeom>
          <a:noFill/>
          <a:ln/>
        </p:spPr>
        <p:txBody>
          <a:bodyPr wrap="square" lIns="0" tIns="0" rIns="0" bIns="0" rtlCol="0" anchor="b"/>
          <a:lstStyle/>
          <a:p>
            <a:pPr marL="0" indent="0" algn="ctr">
              <a:buNone/>
            </a:pPr>
            <a:r>
              <a:rPr lang="en-US" sz="1600" dirty="0">
                <a:solidFill>
                  <a:srgbClr val="162034"/>
                </a:solidFill>
                <a:latin typeface="Inter" pitchFamily="34" charset="0"/>
                <a:ea typeface="Inter" pitchFamily="34" charset="-122"/>
                <a:cs typeface="Inter" pitchFamily="34" charset="-120"/>
              </a:rPr>
              <a:t>Factories train</a:t>
            </a:r>
            <a:endParaRPr lang="en-US" sz="1600" dirty="0"/>
          </a:p>
        </p:txBody>
      </p:sp>
      <p:sp>
        <p:nvSpPr>
          <p:cNvPr id="12" name="timeline node">
            <a:extLst>
              <a:ext uri="{C183D7F6-B498-43B3-948B-1728B52AA6E4}">
                <adec:decorative xmlns:adec="http://schemas.microsoft.com/office/drawing/2017/decorative" val="1"/>
              </a:ext>
            </a:extLst>
          </p:cNvPr>
          <p:cNvSpPr/>
          <p:nvPr/>
        </p:nvSpPr>
        <p:spPr>
          <a:xfrm>
            <a:off x="6821424" y="3593592"/>
            <a:ext cx="310896" cy="310896"/>
          </a:xfrm>
          <a:prstGeom prst="ellipse">
            <a:avLst/>
          </a:prstGeom>
          <a:solidFill>
            <a:srgbClr val="1E2A44"/>
          </a:solidFill>
          <a:ln/>
        </p:spPr>
        <p:txBody>
          <a:bodyPr/>
          <a:lstStyle/>
          <a:p>
            <a:endParaRPr lang="en-BD"/>
          </a:p>
        </p:txBody>
      </p:sp>
      <p:sp>
        <p:nvSpPr>
          <p:cNvPr id="13" name="Text 10"/>
          <p:cNvSpPr/>
          <p:nvPr/>
        </p:nvSpPr>
        <p:spPr>
          <a:xfrm>
            <a:off x="6062472" y="4133088"/>
            <a:ext cx="1828800" cy="914400"/>
          </a:xfrm>
          <a:prstGeom prst="rect">
            <a:avLst/>
          </a:prstGeom>
          <a:noFill/>
          <a:ln/>
        </p:spPr>
        <p:txBody>
          <a:bodyPr wrap="square" lIns="0" tIns="0" rIns="0" bIns="0" rtlCol="0" anchor="t"/>
          <a:lstStyle/>
          <a:p>
            <a:pPr marL="0" indent="0" algn="ctr">
              <a:buNone/>
            </a:pPr>
            <a:r>
              <a:rPr lang="en-US" sz="1600" dirty="0">
                <a:solidFill>
                  <a:srgbClr val="162034"/>
                </a:solidFill>
                <a:latin typeface="Inter" pitchFamily="34" charset="0"/>
                <a:ea typeface="Inter" pitchFamily="34" charset="-122"/>
                <a:cs typeface="Inter" pitchFamily="34" charset="-120"/>
              </a:rPr>
              <a:t>Endorsers evaluate and sign</a:t>
            </a:r>
            <a:endParaRPr lang="en-US" sz="1600" dirty="0"/>
          </a:p>
        </p:txBody>
      </p:sp>
      <p:sp>
        <p:nvSpPr>
          <p:cNvPr id="14" name="timeline node">
            <a:extLst>
              <a:ext uri="{C183D7F6-B498-43B3-948B-1728B52AA6E4}">
                <adec:decorative xmlns:adec="http://schemas.microsoft.com/office/drawing/2017/decorative" val="1"/>
              </a:ext>
            </a:extLst>
          </p:cNvPr>
          <p:cNvSpPr/>
          <p:nvPr/>
        </p:nvSpPr>
        <p:spPr>
          <a:xfrm>
            <a:off x="8796528" y="3593592"/>
            <a:ext cx="310896" cy="310896"/>
          </a:xfrm>
          <a:prstGeom prst="ellipse">
            <a:avLst/>
          </a:prstGeom>
          <a:solidFill>
            <a:srgbClr val="1E2A44"/>
          </a:solidFill>
          <a:ln/>
        </p:spPr>
        <p:txBody>
          <a:bodyPr/>
          <a:lstStyle/>
          <a:p>
            <a:endParaRPr lang="en-BD"/>
          </a:p>
        </p:txBody>
      </p:sp>
      <p:sp>
        <p:nvSpPr>
          <p:cNvPr id="15" name="Text 12"/>
          <p:cNvSpPr/>
          <p:nvPr/>
        </p:nvSpPr>
        <p:spPr>
          <a:xfrm>
            <a:off x="8037576" y="2514600"/>
            <a:ext cx="1828800" cy="914400"/>
          </a:xfrm>
          <a:prstGeom prst="rect">
            <a:avLst/>
          </a:prstGeom>
          <a:noFill/>
          <a:ln/>
        </p:spPr>
        <p:txBody>
          <a:bodyPr wrap="square" lIns="0" tIns="0" rIns="0" bIns="0" rtlCol="0" anchor="b"/>
          <a:lstStyle/>
          <a:p>
            <a:pPr marL="0" indent="0" algn="ctr">
              <a:buNone/>
            </a:pPr>
            <a:r>
              <a:rPr lang="en-US" sz="1600" dirty="0">
                <a:solidFill>
                  <a:srgbClr val="162034"/>
                </a:solidFill>
                <a:latin typeface="Inter" pitchFamily="34" charset="0"/>
                <a:ea typeface="Inter" pitchFamily="34" charset="-122"/>
                <a:cs typeface="Inter" pitchFamily="34" charset="-120"/>
              </a:rPr>
              <a:t>Contract decides</a:t>
            </a:r>
            <a:endParaRPr lang="en-US" sz="1600" dirty="0"/>
          </a:p>
        </p:txBody>
      </p:sp>
      <p:sp>
        <p:nvSpPr>
          <p:cNvPr id="16" name="timeline node">
            <a:extLst>
              <a:ext uri="{C183D7F6-B498-43B3-948B-1728B52AA6E4}">
                <adec:decorative xmlns:adec="http://schemas.microsoft.com/office/drawing/2017/decorative" val="1"/>
              </a:ext>
            </a:extLst>
          </p:cNvPr>
          <p:cNvSpPr/>
          <p:nvPr/>
        </p:nvSpPr>
        <p:spPr>
          <a:xfrm>
            <a:off x="10771632" y="3593592"/>
            <a:ext cx="310896" cy="310896"/>
          </a:xfrm>
          <a:prstGeom prst="ellipse">
            <a:avLst/>
          </a:prstGeom>
          <a:solidFill>
            <a:srgbClr val="B08A3E"/>
          </a:solidFill>
          <a:ln/>
        </p:spPr>
        <p:txBody>
          <a:bodyPr/>
          <a:lstStyle/>
          <a:p>
            <a:endParaRPr lang="en-BD"/>
          </a:p>
        </p:txBody>
      </p:sp>
      <p:sp>
        <p:nvSpPr>
          <p:cNvPr id="17" name="Text 14">
            <a:extLst>
              <a:ext uri="{C183D7F6-B498-43B3-948B-1728B52AA6E4}">
                <adec:decorative xmlns:adec="http://schemas.microsoft.com/office/drawing/2017/decorative" val="0"/>
              </a:ext>
            </a:extLst>
          </p:cNvPr>
          <p:cNvSpPr/>
          <p:nvPr/>
        </p:nvSpPr>
        <p:spPr>
          <a:xfrm>
            <a:off x="10012680" y="4133088"/>
            <a:ext cx="1828800" cy="914400"/>
          </a:xfrm>
          <a:prstGeom prst="rect">
            <a:avLst/>
          </a:prstGeom>
          <a:noFill/>
          <a:ln/>
        </p:spPr>
        <p:txBody>
          <a:bodyPr wrap="square" lIns="0" tIns="0" rIns="0" bIns="0" rtlCol="0" anchor="t"/>
          <a:lstStyle/>
          <a:p>
            <a:pPr marL="0" indent="0" algn="ctr">
              <a:buNone/>
            </a:pPr>
            <a:r>
              <a:rPr lang="en-US" sz="1600" dirty="0">
                <a:solidFill>
                  <a:srgbClr val="162034"/>
                </a:solidFill>
                <a:latin typeface="Inter" pitchFamily="34" charset="0"/>
                <a:ea typeface="Inter" pitchFamily="34" charset="-122"/>
                <a:cs typeface="Inter" pitchFamily="34" charset="-120"/>
              </a:rPr>
              <a:t>Benchmark revealed</a:t>
            </a:r>
            <a:endParaRPr lang="en-US" sz="1600" dirty="0"/>
          </a:p>
        </p:txBody>
      </p:sp>
      <p:sp>
        <p:nvSpPr>
          <p:cNvPr id="18" name="Text 15"/>
          <p:cNvSpPr/>
          <p:nvPr/>
        </p:nvSpPr>
        <p:spPr>
          <a:xfrm>
            <a:off x="274320" y="4206240"/>
            <a:ext cx="1554480" cy="365760"/>
          </a:xfrm>
          <a:prstGeom prst="rect">
            <a:avLst/>
          </a:prstGeom>
          <a:noFill/>
          <a:ln/>
        </p:spPr>
        <p:txBody>
          <a:bodyPr wrap="square" lIns="0" tIns="0" rIns="0" bIns="0" rtlCol="0" anchor="ctr"/>
          <a:lstStyle/>
          <a:p>
            <a:pPr marL="0" indent="0" algn="ctr">
              <a:buNone/>
            </a:pPr>
            <a:r>
              <a:rPr lang="en-US" sz="1400" b="1" dirty="0">
                <a:solidFill>
                  <a:srgbClr val="B08A3E"/>
                </a:solidFill>
                <a:latin typeface="IBM Plex Mono" pitchFamily="34" charset="0"/>
                <a:ea typeface="IBM Plex Mono" pitchFamily="34" charset="-122"/>
                <a:cs typeface="IBM Plex Mono" pitchFamily="34" charset="-120"/>
              </a:rPr>
              <a:t>SEALED</a:t>
            </a:r>
            <a:endParaRPr lang="en-US" sz="1400" dirty="0"/>
          </a:p>
        </p:txBody>
      </p:sp>
      <p:sp>
        <p:nvSpPr>
          <p:cNvPr id="19" name="Text 16"/>
          <p:cNvSpPr/>
          <p:nvPr/>
        </p:nvSpPr>
        <p:spPr>
          <a:xfrm>
            <a:off x="10149840" y="2834640"/>
            <a:ext cx="1554480" cy="365760"/>
          </a:xfrm>
          <a:prstGeom prst="rect">
            <a:avLst/>
          </a:prstGeom>
          <a:noFill/>
          <a:ln/>
        </p:spPr>
        <p:txBody>
          <a:bodyPr wrap="square" lIns="0" tIns="0" rIns="0" bIns="0" rtlCol="0" anchor="ctr"/>
          <a:lstStyle/>
          <a:p>
            <a:pPr marL="0" indent="0" algn="ctr">
              <a:buNone/>
            </a:pPr>
            <a:r>
              <a:rPr lang="en-US" sz="1400" b="1" dirty="0">
                <a:solidFill>
                  <a:srgbClr val="B08A3E"/>
                </a:solidFill>
                <a:latin typeface="IBM Plex Mono" pitchFamily="34" charset="0"/>
                <a:ea typeface="IBM Plex Mono" pitchFamily="34" charset="-122"/>
                <a:cs typeface="IBM Plex Mono" pitchFamily="34" charset="-120"/>
              </a:rPr>
              <a:t>OPENED</a:t>
            </a:r>
            <a:endParaRPr lang="en-US" sz="1400" dirty="0"/>
          </a:p>
        </p:txBody>
      </p:sp>
      <p:sp>
        <p:nvSpPr>
          <p:cNvPr id="20" name="Text 17"/>
          <p:cNvSpPr/>
          <p:nvPr/>
        </p:nvSpPr>
        <p:spPr>
          <a:xfrm>
            <a:off x="822960" y="5943600"/>
            <a:ext cx="10515600" cy="411480"/>
          </a:xfrm>
          <a:prstGeom prst="rect">
            <a:avLst/>
          </a:prstGeom>
          <a:noFill/>
          <a:ln/>
        </p:spPr>
        <p:txBody>
          <a:bodyPr wrap="square" lIns="0" tIns="0" rIns="0" bIns="0" rtlCol="0" anchor="ctr"/>
          <a:lstStyle/>
          <a:p>
            <a:pPr marL="0" indent="0">
              <a:buNone/>
            </a:pPr>
            <a:r>
              <a:rPr lang="en-US" sz="1800" dirty="0">
                <a:solidFill>
                  <a:srgbClr val="5A6377"/>
                </a:solidFill>
                <a:latin typeface="Inter" pitchFamily="34" charset="0"/>
                <a:ea typeface="Inter" pitchFamily="34" charset="-122"/>
                <a:cs typeface="Inter" pitchFamily="34" charset="-120"/>
              </a:rPr>
              <a:t>Committed by hash before the round. Revealed only after the decision.</a:t>
            </a:r>
            <a:endParaRPr lang="en-US" sz="1800" dirty="0"/>
          </a:p>
        </p:txBody>
      </p:sp>
      <p:sp>
        <p:nvSpPr>
          <p:cNvPr id="24" name="row rule">
            <a:extLst>
              <a:ext uri="{C183D7F6-B498-43B3-948B-1728B52AA6E4}">
                <adec:decorative xmlns:adec="http://schemas.microsoft.com/office/drawing/2017/decorative" val="1"/>
              </a:ext>
            </a:extLst>
          </p:cNvPr>
          <p:cNvSpPr/>
          <p:nvPr/>
        </p:nvSpPr>
        <p:spPr>
          <a:xfrm>
            <a:off x="822960" y="3474720"/>
            <a:ext cx="10515600" cy="13716"/>
          </a:xfrm>
          <a:prstGeom prst="rect">
            <a:avLst/>
          </a:prstGeom>
          <a:solidFill>
            <a:srgbClr val="D6D0C2"/>
          </a:solidFill>
          <a:ln/>
        </p:spPr>
        <p:txBody>
          <a:bodyPr/>
          <a:lstStyle/>
          <a:p>
            <a:endParaRPr lang="en-BD"/>
          </a:p>
        </p:txBody>
      </p:sp>
      <p:sp>
        <p:nvSpPr>
          <p:cNvPr id="31" name="row rule">
            <a:extLst>
              <a:ext uri="{C183D7F6-B498-43B3-948B-1728B52AA6E4}">
                <adec:decorative xmlns:adec="http://schemas.microsoft.com/office/drawing/2017/decorative" val="1"/>
              </a:ext>
            </a:extLst>
          </p:cNvPr>
          <p:cNvSpPr/>
          <p:nvPr/>
        </p:nvSpPr>
        <p:spPr>
          <a:xfrm>
            <a:off x="822960" y="4023360"/>
            <a:ext cx="10515600" cy="13716"/>
          </a:xfrm>
          <a:prstGeom prst="rect">
            <a:avLst/>
          </a:prstGeom>
          <a:solidFill>
            <a:srgbClr val="D6D0C2"/>
          </a:solidFill>
          <a:ln/>
        </p:spPr>
        <p:txBody>
          <a:bodyPr/>
          <a:lstStyle/>
          <a:p>
            <a:endParaRPr lang="en-BD"/>
          </a:p>
        </p:txBody>
      </p:sp>
      <p:sp>
        <p:nvSpPr>
          <p:cNvPr id="38" name="row rule">
            <a:extLst>
              <a:ext uri="{C183D7F6-B498-43B3-948B-1728B52AA6E4}">
                <adec:decorative xmlns:adec="http://schemas.microsoft.com/office/drawing/2017/decorative" val="1"/>
              </a:ext>
            </a:extLst>
          </p:cNvPr>
          <p:cNvSpPr/>
          <p:nvPr/>
        </p:nvSpPr>
        <p:spPr>
          <a:xfrm>
            <a:off x="822960" y="4572000"/>
            <a:ext cx="10515600" cy="13716"/>
          </a:xfrm>
          <a:prstGeom prst="rect">
            <a:avLst/>
          </a:prstGeom>
          <a:solidFill>
            <a:srgbClr val="D6D0C2"/>
          </a:solidFill>
          <a:ln/>
        </p:spPr>
        <p:txBody>
          <a:bodyPr/>
          <a:lstStyle/>
          <a:p>
            <a:endParaRPr lang="en-BD"/>
          </a:p>
        </p:txBody>
      </p:sp>
      <p:sp>
        <p:nvSpPr>
          <p:cNvPr id="45" name="row rule">
            <a:extLst>
              <a:ext uri="{C183D7F6-B498-43B3-948B-1728B52AA6E4}">
                <adec:decorative xmlns:adec="http://schemas.microsoft.com/office/drawing/2017/decorative" val="1"/>
              </a:ext>
            </a:extLst>
          </p:cNvPr>
          <p:cNvSpPr/>
          <p:nvPr/>
        </p:nvSpPr>
        <p:spPr>
          <a:xfrm>
            <a:off x="822960" y="5120640"/>
            <a:ext cx="10515600" cy="13716"/>
          </a:xfrm>
          <a:prstGeom prst="rect">
            <a:avLst/>
          </a:prstGeom>
          <a:solidFill>
            <a:srgbClr val="D6D0C2"/>
          </a:solidFill>
          <a:ln/>
        </p:spPr>
        <p:txBody>
          <a:bodyPr/>
          <a:lstStyle/>
          <a:p>
            <a:endParaRPr lang="en-BD"/>
          </a:p>
        </p:txBody>
      </p:sp>
      <p:sp>
        <p:nvSpPr>
          <p:cNvPr id="52" name="row rule">
            <a:extLst>
              <a:ext uri="{C183D7F6-B498-43B3-948B-1728B52AA6E4}">
                <adec:decorative xmlns:adec="http://schemas.microsoft.com/office/drawing/2017/decorative" val="1"/>
              </a:ext>
            </a:extLst>
          </p:cNvPr>
          <p:cNvSpPr/>
          <p:nvPr/>
        </p:nvSpPr>
        <p:spPr>
          <a:xfrm>
            <a:off x="822960" y="5669280"/>
            <a:ext cx="10515600" cy="13716"/>
          </a:xfrm>
          <a:prstGeom prst="rect">
            <a:avLst/>
          </a:prstGeom>
          <a:solidFill>
            <a:srgbClr val="D6D0C2"/>
          </a:solidFill>
          <a:ln/>
        </p:spPr>
        <p:txBody>
          <a:bodyPr/>
          <a:lstStyle/>
          <a:p>
            <a:endParaRPr lang="en-BD"/>
          </a:p>
        </p:txBody>
      </p:sp>
      <p:sp>
        <p:nvSpPr>
          <p:cNvPr id="59" name="row rule">
            <a:extLst>
              <a:ext uri="{C183D7F6-B498-43B3-948B-1728B52AA6E4}">
                <adec:decorative xmlns:adec="http://schemas.microsoft.com/office/drawing/2017/decorative" val="1"/>
              </a:ext>
            </a:extLst>
          </p:cNvPr>
          <p:cNvSpPr/>
          <p:nvPr/>
        </p:nvSpPr>
        <p:spPr>
          <a:xfrm>
            <a:off x="822960" y="6217920"/>
            <a:ext cx="10515600" cy="13716"/>
          </a:xfrm>
          <a:prstGeom prst="rect">
            <a:avLst/>
          </a:prstGeom>
          <a:solidFill>
            <a:srgbClr val="D6D0C2"/>
          </a:solidFill>
          <a:ln/>
        </p:spPr>
        <p:txBody>
          <a:bodyPr/>
          <a:lstStyle/>
          <a:p>
            <a:endParaRPr lang="en-BD"/>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A44"/>
        </a:solidFill>
        <a:effectLst/>
      </p:bgPr>
    </p:bg>
    <p:spTree>
      <p:nvGrpSpPr>
        <p:cNvPr id="1" name=""/>
        <p:cNvGrpSpPr/>
        <p:nvPr/>
      </p:nvGrpSpPr>
      <p:grpSpPr>
        <a:xfrm>
          <a:off x="0" y="0"/>
          <a:ext cx="0" cy="0"/>
          <a:chOff x="0" y="0"/>
          <a:chExt cx="0" cy="0"/>
        </a:xfrm>
      </p:grpSpPr>
      <p:sp>
        <p:nvSpPr>
          <p:cNvPr id="3" name="Text 0"/>
          <p:cNvSpPr/>
          <p:nvPr/>
        </p:nvSpPr>
        <p:spPr>
          <a:xfrm>
            <a:off x="777240" y="685800"/>
            <a:ext cx="3657600" cy="868680"/>
          </a:xfrm>
          <a:prstGeom prst="rect">
            <a:avLst/>
          </a:prstGeom>
          <a:noFill/>
          <a:ln/>
        </p:spPr>
        <p:txBody>
          <a:bodyPr wrap="square" lIns="0" tIns="0" rIns="0" bIns="0" rtlCol="0" anchor="t"/>
          <a:lstStyle/>
          <a:p>
            <a:pPr marL="0" indent="0" algn="l">
              <a:lnSpc>
                <a:spcPct val="105000"/>
              </a:lnSpc>
              <a:buNone/>
            </a:pPr>
            <a:r>
              <a:rPr lang="en-US" sz="5200" b="1" dirty="0">
                <a:solidFill>
                  <a:srgbClr val="EDEAE0"/>
                </a:solidFill>
                <a:latin typeface="Fraunces" pitchFamily="34" charset="0"/>
                <a:ea typeface="Fraunces" pitchFamily="34" charset="-122"/>
                <a:cs typeface="Fraunces" pitchFamily="34" charset="-120"/>
              </a:rPr>
              <a:t>It runs.</a:t>
            </a:r>
            <a:endParaRPr lang="en-US" sz="5200" dirty="0"/>
          </a:p>
        </p:txBody>
      </p:sp>
      <p:sp>
        <p:nvSpPr>
          <p:cNvPr id="4" name="accent rule">
            <a:extLst>
              <a:ext uri="{C183D7F6-B498-43B3-948B-1728B52AA6E4}">
                <adec:decorative xmlns:adec="http://schemas.microsoft.com/office/drawing/2017/decorative" val="1"/>
              </a:ext>
            </a:extLst>
          </p:cNvPr>
          <p:cNvSpPr/>
          <p:nvPr/>
        </p:nvSpPr>
        <p:spPr>
          <a:xfrm>
            <a:off x="822960" y="411480"/>
            <a:ext cx="1005840" cy="50292"/>
          </a:xfrm>
          <a:prstGeom prst="rect">
            <a:avLst/>
          </a:prstGeom>
          <a:solidFill>
            <a:srgbClr val="B08A3E"/>
          </a:solidFill>
          <a:ln/>
        </p:spPr>
        <p:txBody>
          <a:bodyPr/>
          <a:lstStyle/>
          <a:p>
            <a:endParaRPr lang="en-BD"/>
          </a:p>
        </p:txBody>
      </p:sp>
      <p:sp>
        <p:nvSpPr>
          <p:cNvPr id="5" name="Text 2">
            <a:extLst>
              <a:ext uri="{C183D7F6-B498-43B3-948B-1728B52AA6E4}">
                <adec:decorative xmlns:adec="http://schemas.microsoft.com/office/drawing/2017/decorative" val="0"/>
              </a:ext>
            </a:extLst>
          </p:cNvPr>
          <p:cNvSpPr/>
          <p:nvPr/>
        </p:nvSpPr>
        <p:spPr>
          <a:xfrm>
            <a:off x="777240" y="2148840"/>
            <a:ext cx="2468880" cy="685800"/>
          </a:xfrm>
          <a:prstGeom prst="rect">
            <a:avLst/>
          </a:prstGeom>
          <a:noFill/>
          <a:ln/>
        </p:spPr>
        <p:txBody>
          <a:bodyPr wrap="square" lIns="0" tIns="0" rIns="0" bIns="0" rtlCol="0" anchor="ctr"/>
          <a:lstStyle/>
          <a:p>
            <a:pPr marL="0" indent="0">
              <a:buNone/>
            </a:pPr>
            <a:r>
              <a:rPr lang="en-US" sz="3400" b="1" dirty="0">
                <a:solidFill>
                  <a:srgbClr val="B08A3E"/>
                </a:solidFill>
                <a:latin typeface="IBM Plex Mono" pitchFamily="34" charset="0"/>
                <a:ea typeface="IBM Plex Mono" pitchFamily="34" charset="-122"/>
                <a:cs typeface="IBM Plex Mono" pitchFamily="34" charset="-120"/>
              </a:rPr>
              <a:t>69</a:t>
            </a:r>
            <a:endParaRPr lang="en-US" sz="3400" dirty="0"/>
          </a:p>
        </p:txBody>
      </p:sp>
      <p:sp>
        <p:nvSpPr>
          <p:cNvPr id="6" name="Text 3">
            <a:extLst>
              <a:ext uri="{C183D7F6-B498-43B3-948B-1728B52AA6E4}">
                <adec:decorative xmlns:adec="http://schemas.microsoft.com/office/drawing/2017/decorative" val="0"/>
              </a:ext>
            </a:extLst>
          </p:cNvPr>
          <p:cNvSpPr/>
          <p:nvPr/>
        </p:nvSpPr>
        <p:spPr>
          <a:xfrm>
            <a:off x="777240" y="286207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tests passing</a:t>
            </a:r>
            <a:endParaRPr lang="en-US" sz="1600" dirty="0"/>
          </a:p>
        </p:txBody>
      </p:sp>
      <p:sp>
        <p:nvSpPr>
          <p:cNvPr id="7" name="Text 4"/>
          <p:cNvSpPr/>
          <p:nvPr/>
        </p:nvSpPr>
        <p:spPr>
          <a:xfrm>
            <a:off x="3520440" y="2148840"/>
            <a:ext cx="2468880" cy="685800"/>
          </a:xfrm>
          <a:prstGeom prst="rect">
            <a:avLst/>
          </a:prstGeom>
          <a:noFill/>
          <a:ln/>
        </p:spPr>
        <p:txBody>
          <a:bodyPr wrap="square" lIns="0" tIns="0" rIns="0" bIns="0" rtlCol="0" anchor="ctr"/>
          <a:lstStyle/>
          <a:p>
            <a:pPr marL="0" indent="0">
              <a:buNone/>
            </a:pPr>
            <a:r>
              <a:rPr lang="en-US" sz="3400" b="1" dirty="0">
                <a:solidFill>
                  <a:srgbClr val="EDEAE0"/>
                </a:solidFill>
                <a:latin typeface="IBM Plex Mono" pitchFamily="34" charset="0"/>
                <a:ea typeface="IBM Plex Mono" pitchFamily="34" charset="-122"/>
                <a:cs typeface="IBM Plex Mono" pitchFamily="34" charset="-120"/>
              </a:rPr>
              <a:t>2</a:t>
            </a:r>
            <a:endParaRPr lang="en-US" sz="3400" dirty="0"/>
          </a:p>
        </p:txBody>
      </p:sp>
      <p:sp>
        <p:nvSpPr>
          <p:cNvPr id="8" name="Text 5">
            <a:extLst>
              <a:ext uri="{C183D7F6-B498-43B3-948B-1728B52AA6E4}">
                <adec:decorative xmlns:adec="http://schemas.microsoft.com/office/drawing/2017/decorative" val="0"/>
              </a:ext>
            </a:extLst>
          </p:cNvPr>
          <p:cNvSpPr/>
          <p:nvPr/>
        </p:nvSpPr>
        <p:spPr>
          <a:xfrm>
            <a:off x="3520440" y="286207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channels</a:t>
            </a:r>
            <a:endParaRPr lang="en-US" sz="1600" dirty="0"/>
          </a:p>
        </p:txBody>
      </p:sp>
      <p:sp>
        <p:nvSpPr>
          <p:cNvPr id="9" name="Text 6">
            <a:extLst>
              <a:ext uri="{C183D7F6-B498-43B3-948B-1728B52AA6E4}">
                <adec:decorative xmlns:adec="http://schemas.microsoft.com/office/drawing/2017/decorative" val="0"/>
              </a:ext>
            </a:extLst>
          </p:cNvPr>
          <p:cNvSpPr/>
          <p:nvPr/>
        </p:nvSpPr>
        <p:spPr>
          <a:xfrm>
            <a:off x="777240" y="3703320"/>
            <a:ext cx="2468880" cy="685800"/>
          </a:xfrm>
          <a:prstGeom prst="rect">
            <a:avLst/>
          </a:prstGeom>
          <a:noFill/>
          <a:ln/>
        </p:spPr>
        <p:txBody>
          <a:bodyPr wrap="square" lIns="0" tIns="0" rIns="0" bIns="0" rtlCol="0" anchor="ctr"/>
          <a:lstStyle/>
          <a:p>
            <a:pPr marL="0" indent="0">
              <a:buNone/>
            </a:pPr>
            <a:r>
              <a:rPr lang="en-US" sz="3400" b="1" dirty="0">
                <a:solidFill>
                  <a:srgbClr val="EDEAE0"/>
                </a:solidFill>
                <a:latin typeface="IBM Plex Mono" pitchFamily="34" charset="0"/>
                <a:ea typeface="IBM Plex Mono" pitchFamily="34" charset="-122"/>
                <a:cs typeface="IBM Plex Mono" pitchFamily="34" charset="-120"/>
              </a:rPr>
              <a:t>3</a:t>
            </a:r>
            <a:endParaRPr lang="en-US" sz="3400" dirty="0"/>
          </a:p>
        </p:txBody>
      </p:sp>
      <p:sp>
        <p:nvSpPr>
          <p:cNvPr id="10" name="Text 7">
            <a:extLst>
              <a:ext uri="{C183D7F6-B498-43B3-948B-1728B52AA6E4}">
                <adec:decorative xmlns:adec="http://schemas.microsoft.com/office/drawing/2017/decorative" val="0"/>
              </a:ext>
            </a:extLst>
          </p:cNvPr>
          <p:cNvSpPr/>
          <p:nvPr/>
        </p:nvSpPr>
        <p:spPr>
          <a:xfrm>
            <a:off x="777240" y="441655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chaincodes</a:t>
            </a:r>
            <a:endParaRPr lang="en-US" sz="1600" dirty="0"/>
          </a:p>
        </p:txBody>
      </p:sp>
      <p:sp>
        <p:nvSpPr>
          <p:cNvPr id="11" name="Text 8"/>
          <p:cNvSpPr/>
          <p:nvPr/>
        </p:nvSpPr>
        <p:spPr>
          <a:xfrm>
            <a:off x="3520440" y="3703320"/>
            <a:ext cx="2468880" cy="685800"/>
          </a:xfrm>
          <a:prstGeom prst="rect">
            <a:avLst/>
          </a:prstGeom>
          <a:noFill/>
          <a:ln/>
        </p:spPr>
        <p:txBody>
          <a:bodyPr wrap="square" lIns="0" tIns="0" rIns="0" bIns="0" rtlCol="0" anchor="ctr"/>
          <a:lstStyle/>
          <a:p>
            <a:pPr marL="0" indent="0">
              <a:buNone/>
            </a:pPr>
            <a:r>
              <a:rPr lang="en-US" sz="3400" b="1" dirty="0">
                <a:solidFill>
                  <a:srgbClr val="EDEAE0"/>
                </a:solidFill>
                <a:latin typeface="IBM Plex Mono" pitchFamily="34" charset="0"/>
                <a:ea typeface="IBM Plex Mono" pitchFamily="34" charset="-122"/>
                <a:cs typeface="IBM Plex Mono" pitchFamily="34" charset="-120"/>
              </a:rPr>
              <a:t>50,000</a:t>
            </a:r>
            <a:endParaRPr lang="en-US" sz="3400" dirty="0"/>
          </a:p>
        </p:txBody>
      </p:sp>
      <p:sp>
        <p:nvSpPr>
          <p:cNvPr id="12" name="Text 9"/>
          <p:cNvSpPr/>
          <p:nvPr/>
        </p:nvSpPr>
        <p:spPr>
          <a:xfrm>
            <a:off x="3520440" y="4416552"/>
            <a:ext cx="2468880" cy="411480"/>
          </a:xfrm>
          <a:prstGeom prst="rect">
            <a:avLst/>
          </a:prstGeom>
          <a:noFill/>
          <a:ln/>
        </p:spPr>
        <p:txBody>
          <a:bodyPr wrap="square" lIns="0" tIns="0" rIns="0" bIns="0" rtlCol="0" anchor="ctr"/>
          <a:lstStyle/>
          <a:p>
            <a:pPr marL="0" indent="0">
              <a:buNone/>
            </a:pPr>
            <a:r>
              <a:rPr lang="en-US" sz="1600" dirty="0">
                <a:solidFill>
                  <a:srgbClr val="C6CCDA"/>
                </a:solidFill>
                <a:latin typeface="Inter" pitchFamily="34" charset="0"/>
                <a:ea typeface="Inter" pitchFamily="34" charset="-122"/>
                <a:cs typeface="Inter" pitchFamily="34" charset="-120"/>
              </a:rPr>
              <a:t>generated documents</a:t>
            </a:r>
            <a:endParaRPr lang="en-US" sz="1600" dirty="0"/>
          </a:p>
        </p:txBody>
      </p:sp>
      <p:sp>
        <p:nvSpPr>
          <p:cNvPr id="13" name="Text 10"/>
          <p:cNvSpPr/>
          <p:nvPr/>
        </p:nvSpPr>
        <p:spPr>
          <a:xfrm>
            <a:off x="777240" y="5349240"/>
            <a:ext cx="5212080" cy="822960"/>
          </a:xfrm>
          <a:prstGeom prst="rect">
            <a:avLst/>
          </a:prstGeom>
          <a:noFill/>
          <a:ln/>
        </p:spPr>
        <p:txBody>
          <a:bodyPr wrap="square" lIns="0" tIns="0" rIns="0" bIns="0" rtlCol="0" anchor="ctr"/>
          <a:lstStyle/>
          <a:p>
            <a:pPr marL="0" indent="0">
              <a:lnSpc>
                <a:spcPct val="120000"/>
              </a:lnSpc>
              <a:buNone/>
            </a:pPr>
            <a:r>
              <a:rPr lang="en-US" sz="1700" dirty="0">
                <a:solidFill>
                  <a:srgbClr val="C6CCDA"/>
                </a:solidFill>
                <a:latin typeface="Inter" pitchFamily="34" charset="0"/>
                <a:ea typeface="Inter" pitchFamily="34" charset="-122"/>
                <a:cs typeface="Inter" pitchFamily="34" charset="-120"/>
              </a:rPr>
              <a:t>Ported to Hyperledger Fabric. Tamper with a block and verification fails.</a:t>
            </a:r>
            <a:endParaRPr lang="en-US" sz="1700" dirty="0"/>
          </a:p>
        </p:txBody>
      </p:sp>
      <p:sp>
        <p:nvSpPr>
          <p:cNvPr id="14" name="terminal panel">
            <a:extLst>
              <a:ext uri="{C183D7F6-B498-43B3-948B-1728B52AA6E4}">
                <adec:decorative xmlns:adec="http://schemas.microsoft.com/office/drawing/2017/decorative" val="1"/>
              </a:ext>
            </a:extLst>
          </p:cNvPr>
          <p:cNvSpPr/>
          <p:nvPr/>
        </p:nvSpPr>
        <p:spPr>
          <a:xfrm>
            <a:off x="6537960" y="914400"/>
            <a:ext cx="4892040" cy="5029200"/>
          </a:xfrm>
          <a:prstGeom prst="rect">
            <a:avLst/>
          </a:prstGeom>
          <a:solidFill>
            <a:srgbClr val="121A2C"/>
          </a:solidFill>
          <a:ln w="15875">
            <a:solidFill>
              <a:srgbClr val="B08A3E"/>
            </a:solidFill>
            <a:prstDash val="solid"/>
          </a:ln>
          <a:effectLst>
            <a:outerShdw blurRad="127000" dist="38100" dir="8100000" algn="bl" rotWithShape="0">
              <a:srgbClr val="000000">
                <a:alpha val="22000"/>
              </a:srgbClr>
            </a:outerShdw>
          </a:effectLst>
        </p:spPr>
        <p:txBody>
          <a:bodyPr/>
          <a:lstStyle/>
          <a:p>
            <a:endParaRPr lang="en-BD"/>
          </a:p>
        </p:txBody>
      </p:sp>
      <p:sp>
        <p:nvSpPr>
          <p:cNvPr id="15" name="Text 12"/>
          <p:cNvSpPr/>
          <p:nvPr/>
        </p:nvSpPr>
        <p:spPr>
          <a:xfrm>
            <a:off x="6858000" y="1325880"/>
            <a:ext cx="4251960" cy="2377440"/>
          </a:xfrm>
          <a:prstGeom prst="rect">
            <a:avLst/>
          </a:prstGeom>
          <a:noFill/>
          <a:ln/>
        </p:spPr>
        <p:txBody>
          <a:bodyPr wrap="square" lIns="0" tIns="0" rIns="0" bIns="0" rtlCol="0" anchor="ctr"/>
          <a:lstStyle/>
          <a:p>
            <a:pPr marL="0" indent="0">
              <a:lnSpc>
                <a:spcPct val="135000"/>
              </a:lnSpc>
              <a:buNone/>
            </a:pPr>
            <a:r>
              <a:rPr lang="en-US" sz="1250" dirty="0">
                <a:solidFill>
                  <a:srgbClr val="8FA0C0"/>
                </a:solidFill>
                <a:latin typeface="IBM Plex Mono" pitchFamily="34" charset="0"/>
                <a:ea typeface="IBM Plex Mono" pitchFamily="34" charset="-122"/>
                <a:cs typeface="IBM Plex Mono" pitchFamily="34" charset="-120"/>
              </a:rPr>
              <a:t>$ breadcrumbs gate evaluate --round 7
</a:t>
            </a:r>
            <a:r>
              <a:rPr lang="en-US" sz="1250" dirty="0">
                <a:solidFill>
                  <a:srgbClr val="9BC7B8"/>
                </a:solidFill>
                <a:latin typeface="IBM Plex Mono" pitchFamily="34" charset="0"/>
                <a:ea typeface="IBM Plex Mono" pitchFamily="34" charset="-122"/>
                <a:cs typeface="IBM Plex Mono" pitchFamily="34" charset="-120"/>
              </a:rPr>
              <a:t>  forged_certificate        1.000  ▲
  chemical_misreporting     1.000  ▲
</a:t>
            </a:r>
            <a:r>
              <a:rPr lang="en-US" sz="1250" dirty="0">
                <a:solidFill>
                  <a:srgbClr val="E0A18E"/>
                </a:solidFill>
                <a:latin typeface="IBM Plex Mono" pitchFamily="34" charset="0"/>
                <a:ea typeface="IBM Plex Mono" pitchFamily="34" charset="-122"/>
                <a:cs typeface="IBM Plex Mono" pitchFamily="34" charset="-120"/>
              </a:rPr>
              <a:t>  wage_register_inconsist.  0.735  ▼
</a:t>
            </a:r>
            <a:r>
              <a:rPr lang="en-US" sz="1250" dirty="0">
                <a:solidFill>
                  <a:srgbClr val="8FA0C0"/>
                </a:solidFill>
                <a:latin typeface="IBM Plex Mono" pitchFamily="34" charset="0"/>
                <a:ea typeface="IBM Plex Mono" pitchFamily="34" charset="-122"/>
                <a:cs typeface="IBM Plex Mono" pitchFamily="34" charset="-120"/>
              </a:rPr>
              <a:t>  tolerance 500 bp · observed 1805 bp
</a:t>
            </a:r>
            <a:endParaRPr lang="en-US" sz="1250" dirty="0"/>
          </a:p>
        </p:txBody>
      </p:sp>
      <p:sp>
        <p:nvSpPr>
          <p:cNvPr id="16" name="terminal verdict">
            <a:extLst>
              <a:ext uri="{C183D7F6-B498-43B3-948B-1728B52AA6E4}">
                <adec:decorative xmlns:adec="http://schemas.microsoft.com/office/drawing/2017/decorative" val="1"/>
              </a:ext>
            </a:extLst>
          </p:cNvPr>
          <p:cNvSpPr/>
          <p:nvPr/>
        </p:nvSpPr>
        <p:spPr>
          <a:xfrm>
            <a:off x="6858000" y="3886200"/>
            <a:ext cx="4251960" cy="777240"/>
          </a:xfrm>
          <a:prstGeom prst="rect">
            <a:avLst/>
          </a:prstGeom>
          <a:solidFill>
            <a:srgbClr val="9C4A34"/>
          </a:solidFill>
          <a:ln/>
        </p:spPr>
        <p:txBody>
          <a:bodyPr/>
          <a:lstStyle/>
          <a:p>
            <a:endParaRPr lang="en-BD"/>
          </a:p>
        </p:txBody>
      </p:sp>
      <p:sp>
        <p:nvSpPr>
          <p:cNvPr id="17" name="Text 14"/>
          <p:cNvSpPr/>
          <p:nvPr/>
        </p:nvSpPr>
        <p:spPr>
          <a:xfrm>
            <a:off x="6858000" y="4041648"/>
            <a:ext cx="4251960" cy="502920"/>
          </a:xfrm>
          <a:prstGeom prst="rect">
            <a:avLst/>
          </a:prstGeom>
          <a:noFill/>
          <a:ln/>
        </p:spPr>
        <p:txBody>
          <a:bodyPr wrap="square" lIns="0" tIns="0" rIns="0" bIns="0" rtlCol="0" anchor="ctr"/>
          <a:lstStyle/>
          <a:p>
            <a:pPr marL="0" indent="0" algn="ctr">
              <a:buNone/>
            </a:pPr>
            <a:r>
              <a:rPr lang="en-US" sz="2600" b="1" kern="0" spc="300" dirty="0">
                <a:solidFill>
                  <a:srgbClr val="FFFFFF"/>
                </a:solidFill>
                <a:latin typeface="IBM Plex Mono" pitchFamily="34" charset="0"/>
                <a:ea typeface="IBM Plex Mono" pitchFamily="34" charset="-122"/>
                <a:cs typeface="IBM Plex Mono" pitchFamily="34" charset="-120"/>
              </a:rPr>
              <a:t>REJECTED</a:t>
            </a:r>
            <a:endParaRPr lang="en-US" sz="2600" dirty="0"/>
          </a:p>
        </p:txBody>
      </p:sp>
      <p:sp>
        <p:nvSpPr>
          <p:cNvPr id="18" name="Text 15"/>
          <p:cNvSpPr/>
          <p:nvPr/>
        </p:nvSpPr>
        <p:spPr>
          <a:xfrm>
            <a:off x="6858000" y="4892040"/>
            <a:ext cx="4251960" cy="457200"/>
          </a:xfrm>
          <a:prstGeom prst="rect">
            <a:avLst/>
          </a:prstGeom>
          <a:noFill/>
          <a:ln/>
        </p:spPr>
        <p:txBody>
          <a:bodyPr wrap="square" lIns="0" tIns="0" rIns="0" bIns="0" rtlCol="0" anchor="ctr"/>
          <a:lstStyle/>
          <a:p>
            <a:pPr marL="0" indent="0">
              <a:buNone/>
            </a:pPr>
            <a:r>
              <a:rPr lang="en-US" sz="1200" dirty="0">
                <a:solidFill>
                  <a:srgbClr val="8FA0C0"/>
                </a:solidFill>
                <a:latin typeface="IBM Plex Mono" pitchFamily="34" charset="0"/>
                <a:ea typeface="IBM Plex Mono" pitchFamily="34" charset="-122"/>
                <a:cs typeface="IBM Plex Mono" pitchFamily="34" charset="-120"/>
              </a:rPr>
              <a:t>block 0x7ac9…31f  ·  endorsed 3/5  ·  committed</a:t>
            </a:r>
            <a:endParaRPr lang="en-US" sz="12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502920"/>
            <a:ext cx="9326880" cy="1234440"/>
          </a:xfrm>
          <a:prstGeom prst="rect">
            <a:avLst/>
          </a:prstGeom>
          <a:noFill/>
          <a:ln/>
        </p:spPr>
        <p:txBody>
          <a:bodyPr wrap="square" lIns="0" tIns="0" rIns="0" bIns="0" rtlCol="0" anchor="t"/>
          <a:lstStyle/>
          <a:p>
            <a:pPr marL="0" indent="0" algn="l">
              <a:lnSpc>
                <a:spcPct val="105000"/>
              </a:lnSpc>
              <a:buNone/>
            </a:pPr>
            <a:r>
              <a:rPr lang="en-US" sz="3600" b="1" dirty="0">
                <a:solidFill>
                  <a:srgbClr val="162034"/>
                </a:solidFill>
                <a:latin typeface="Fraunces" pitchFamily="34" charset="0"/>
                <a:ea typeface="Fraunces" pitchFamily="34" charset="-122"/>
                <a:cs typeface="Fraunces" pitchFamily="34" charset="-120"/>
              </a:rPr>
              <a:t>We lose most of these columns.</a:t>
            </a:r>
            <a:endParaRPr lang="en-US" sz="3600" dirty="0"/>
          </a:p>
          <a:p>
            <a:pPr marL="0" indent="0" algn="l">
              <a:lnSpc>
                <a:spcPct val="105000"/>
              </a:lnSpc>
              <a:buNone/>
            </a:pPr>
            <a:r>
              <a:rPr lang="en-US" sz="3600" b="1" dirty="0">
                <a:solidFill>
                  <a:srgbClr val="162034"/>
                </a:solidFill>
                <a:latin typeface="Fraunces" pitchFamily="34" charset="0"/>
                <a:ea typeface="Fraunces" pitchFamily="34" charset="-122"/>
                <a:cs typeface="Fraunces" pitchFamily="34" charset="-120"/>
              </a:rPr>
              <a:t>We only need the last one.</a:t>
            </a:r>
            <a:endParaRPr lang="en-US" sz="3600" dirty="0"/>
          </a:p>
        </p:txBody>
      </p:sp>
      <p:sp>
        <p:nvSpPr>
          <p:cNvPr id="4" name="accent rule">
            <a:extLst>
              <a:ext uri="{C183D7F6-B498-43B3-948B-1728B52AA6E4}">
                <adec:decorative xmlns:adec="http://schemas.microsoft.com/office/drawing/2017/decorative" val="1"/>
              </a:ext>
            </a:extLst>
          </p:cNvPr>
          <p:cNvSpPr/>
          <p:nvPr/>
        </p:nvSpPr>
        <p:spPr>
          <a:xfrm>
            <a:off x="777240" y="274320"/>
            <a:ext cx="1005840" cy="50292"/>
          </a:xfrm>
          <a:prstGeom prst="rect">
            <a:avLst/>
          </a:prstGeom>
          <a:solidFill>
            <a:srgbClr val="B08A3E"/>
          </a:solidFill>
          <a:ln/>
        </p:spPr>
        <p:txBody>
          <a:bodyPr/>
          <a:lstStyle/>
          <a:p>
            <a:endParaRPr lang="en-BD"/>
          </a:p>
        </p:txBody>
      </p:sp>
      <p:sp>
        <p:nvSpPr>
          <p:cNvPr id="5" name="Text 2"/>
          <p:cNvSpPr/>
          <p:nvPr/>
        </p:nvSpPr>
        <p:spPr>
          <a:xfrm>
            <a:off x="4754880" y="1719072"/>
            <a:ext cx="1417320" cy="603504"/>
          </a:xfrm>
          <a:prstGeom prst="rect">
            <a:avLst/>
          </a:prstGeom>
          <a:noFill/>
          <a:ln/>
        </p:spPr>
        <p:txBody>
          <a:bodyPr wrap="square" lIns="0" tIns="0" rIns="0" bIns="0" rtlCol="0" anchor="b"/>
          <a:lstStyle/>
          <a:p>
            <a:pPr marL="0" indent="0" algn="ctr">
              <a:buNone/>
            </a:pPr>
            <a:r>
              <a:rPr lang="en-US" sz="1150" kern="0" spc="100" dirty="0">
                <a:solidFill>
                  <a:srgbClr val="5A6377"/>
                </a:solidFill>
                <a:latin typeface="IBM Plex Mono" pitchFamily="34" charset="0"/>
                <a:ea typeface="IBM Plex Mono" pitchFamily="34" charset="-122"/>
                <a:cs typeface="IBM Plex Mono" pitchFamily="34" charset="-120"/>
              </a:rPr>
              <a:t>Ledger</a:t>
            </a:r>
            <a:endParaRPr lang="en-US" sz="1150" dirty="0"/>
          </a:p>
        </p:txBody>
      </p:sp>
      <p:sp>
        <p:nvSpPr>
          <p:cNvPr id="6" name="Text 3">
            <a:extLst>
              <a:ext uri="{C183D7F6-B498-43B3-948B-1728B52AA6E4}">
                <adec:decorative xmlns:adec="http://schemas.microsoft.com/office/drawing/2017/decorative" val="0"/>
              </a:ext>
            </a:extLst>
          </p:cNvPr>
          <p:cNvSpPr/>
          <p:nvPr/>
        </p:nvSpPr>
        <p:spPr>
          <a:xfrm>
            <a:off x="6172200" y="1719072"/>
            <a:ext cx="1417320" cy="603504"/>
          </a:xfrm>
          <a:prstGeom prst="rect">
            <a:avLst/>
          </a:prstGeom>
          <a:noFill/>
          <a:ln/>
        </p:spPr>
        <p:txBody>
          <a:bodyPr wrap="square" lIns="0" tIns="0" rIns="0" bIns="0" rtlCol="0" anchor="b"/>
          <a:lstStyle/>
          <a:p>
            <a:pPr marL="0" indent="0" algn="ctr">
              <a:buNone/>
            </a:pPr>
            <a:r>
              <a:rPr lang="en-US" sz="1150" kern="0" spc="100" dirty="0">
                <a:solidFill>
                  <a:srgbClr val="5A6377"/>
                </a:solidFill>
                <a:latin typeface="IBM Plex Mono" pitchFamily="34" charset="0"/>
                <a:ea typeface="IBM Plex Mono" pitchFamily="34" charset="-122"/>
                <a:cs typeface="IBM Plex Mono" pitchFamily="34" charset="-120"/>
              </a:rPr>
              <a:t>Internal records</a:t>
            </a:r>
            <a:endParaRPr lang="en-US" sz="1150" dirty="0"/>
          </a:p>
        </p:txBody>
      </p:sp>
      <p:sp>
        <p:nvSpPr>
          <p:cNvPr id="7" name="Text 4"/>
          <p:cNvSpPr/>
          <p:nvPr/>
        </p:nvSpPr>
        <p:spPr>
          <a:xfrm>
            <a:off x="7589520" y="1719072"/>
            <a:ext cx="1417320" cy="603504"/>
          </a:xfrm>
          <a:prstGeom prst="rect">
            <a:avLst/>
          </a:prstGeom>
          <a:noFill/>
          <a:ln/>
        </p:spPr>
        <p:txBody>
          <a:bodyPr wrap="square" lIns="0" tIns="0" rIns="0" bIns="0" rtlCol="0" anchor="b"/>
          <a:lstStyle/>
          <a:p>
            <a:pPr marL="0" indent="0" algn="ctr">
              <a:buNone/>
            </a:pPr>
            <a:r>
              <a:rPr lang="en-US" sz="1150" kern="0" spc="100" dirty="0">
                <a:solidFill>
                  <a:srgbClr val="5A6377"/>
                </a:solidFill>
                <a:latin typeface="IBM Plex Mono" pitchFamily="34" charset="0"/>
                <a:ea typeface="IBM Plex Mono" pitchFamily="34" charset="-122"/>
                <a:cs typeface="IBM Plex Mono" pitchFamily="34" charset="-120"/>
              </a:rPr>
              <a:t>Shared model</a:t>
            </a:r>
            <a:endParaRPr lang="en-US" sz="1150" dirty="0"/>
          </a:p>
        </p:txBody>
      </p:sp>
      <p:sp>
        <p:nvSpPr>
          <p:cNvPr id="8" name="Text 5"/>
          <p:cNvSpPr/>
          <p:nvPr/>
        </p:nvSpPr>
        <p:spPr>
          <a:xfrm>
            <a:off x="9006840" y="1719072"/>
            <a:ext cx="1417320" cy="603504"/>
          </a:xfrm>
          <a:prstGeom prst="rect">
            <a:avLst/>
          </a:prstGeom>
          <a:noFill/>
          <a:ln/>
        </p:spPr>
        <p:txBody>
          <a:bodyPr wrap="square" lIns="0" tIns="0" rIns="0" bIns="0" rtlCol="0" anchor="b"/>
          <a:lstStyle/>
          <a:p>
            <a:pPr marL="0" indent="0" algn="ctr">
              <a:buNone/>
            </a:pPr>
            <a:r>
              <a:rPr lang="en-US" sz="1150" kern="0" spc="100" dirty="0">
                <a:solidFill>
                  <a:srgbClr val="5A6377"/>
                </a:solidFill>
                <a:latin typeface="IBM Plex Mono" pitchFamily="34" charset="0"/>
                <a:ea typeface="IBM Plex Mono" pitchFamily="34" charset="-122"/>
                <a:cs typeface="IBM Plex Mono" pitchFamily="34" charset="-120"/>
              </a:rPr>
              <a:t>Learns over time</a:t>
            </a:r>
            <a:endParaRPr lang="en-US" sz="1150" dirty="0"/>
          </a:p>
        </p:txBody>
      </p:sp>
      <p:sp>
        <p:nvSpPr>
          <p:cNvPr id="9" name="Text 6"/>
          <p:cNvSpPr/>
          <p:nvPr/>
        </p:nvSpPr>
        <p:spPr>
          <a:xfrm>
            <a:off x="10424160" y="1719072"/>
            <a:ext cx="1417320" cy="603504"/>
          </a:xfrm>
          <a:prstGeom prst="rect">
            <a:avLst/>
          </a:prstGeom>
          <a:noFill/>
          <a:ln/>
        </p:spPr>
        <p:txBody>
          <a:bodyPr wrap="square" lIns="0" tIns="0" rIns="0" bIns="0" rtlCol="0" anchor="b"/>
          <a:lstStyle/>
          <a:p>
            <a:pPr marL="0" indent="0" algn="ctr">
              <a:buNone/>
            </a:pPr>
            <a:r>
              <a:rPr lang="en-US" sz="1150" kern="0" spc="100" dirty="0">
                <a:solidFill>
                  <a:srgbClr val="B08A3E"/>
                </a:solidFill>
                <a:latin typeface="IBM Plex Mono" pitchFamily="34" charset="0"/>
                <a:ea typeface="IBM Plex Mono" pitchFamily="34" charset="-122"/>
                <a:cs typeface="IBM Plex Mono" pitchFamily="34" charset="-120"/>
              </a:rPr>
              <a:t>Gate on past tasks</a:t>
            </a:r>
            <a:endParaRPr lang="en-US" sz="1150" dirty="0"/>
          </a:p>
        </p:txBody>
      </p:sp>
      <p:sp>
        <p:nvSpPr>
          <p:cNvPr id="10" name="row rule">
            <a:extLst>
              <a:ext uri="{C183D7F6-B498-43B3-948B-1728B52AA6E4}">
                <adec:decorative xmlns:adec="http://schemas.microsoft.com/office/drawing/2017/decorative" val="1"/>
              </a:ext>
            </a:extLst>
          </p:cNvPr>
          <p:cNvSpPr/>
          <p:nvPr/>
        </p:nvSpPr>
        <p:spPr>
          <a:xfrm>
            <a:off x="822960" y="2377440"/>
            <a:ext cx="10515600" cy="13716"/>
          </a:xfrm>
          <a:prstGeom prst="rect">
            <a:avLst/>
          </a:prstGeom>
          <a:solidFill>
            <a:srgbClr val="D6D0C2"/>
          </a:solidFill>
          <a:ln/>
        </p:spPr>
        <p:txBody>
          <a:bodyPr/>
          <a:lstStyle/>
          <a:p>
            <a:endParaRPr lang="en-BD"/>
          </a:p>
        </p:txBody>
      </p:sp>
      <p:sp>
        <p:nvSpPr>
          <p:cNvPr id="11" name="Text 8"/>
          <p:cNvSpPr/>
          <p:nvPr/>
        </p:nvSpPr>
        <p:spPr>
          <a:xfrm>
            <a:off x="822960" y="2468880"/>
            <a:ext cx="3749040" cy="411480"/>
          </a:xfrm>
          <a:prstGeom prst="rect">
            <a:avLst/>
          </a:prstGeom>
          <a:noFill/>
          <a:ln/>
        </p:spPr>
        <p:txBody>
          <a:bodyPr wrap="square" lIns="0" tIns="0" rIns="0" bIns="0" rtlCol="0" anchor="ctr"/>
          <a:lstStyle/>
          <a:p>
            <a:pPr marL="0" indent="0">
              <a:buNone/>
            </a:pPr>
            <a:r>
              <a:rPr lang="en-US" sz="1500" dirty="0">
                <a:solidFill>
                  <a:srgbClr val="162034"/>
                </a:solidFill>
                <a:latin typeface="Inter" pitchFamily="34" charset="0"/>
                <a:ea typeface="Inter" pitchFamily="34" charset="-122"/>
                <a:cs typeface="Inter" pitchFamily="34" charset="-120"/>
              </a:rPr>
              <a:t>TextileGenesis / TrusTrace</a:t>
            </a:r>
            <a:endParaRPr lang="en-US" sz="1500" dirty="0"/>
          </a:p>
        </p:txBody>
      </p:sp>
      <p:sp>
        <p:nvSpPr>
          <p:cNvPr id="12" name="Text 9"/>
          <p:cNvSpPr/>
          <p:nvPr/>
        </p:nvSpPr>
        <p:spPr>
          <a:xfrm>
            <a:off x="4754880" y="246888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13" name="Text 10"/>
          <p:cNvSpPr/>
          <p:nvPr/>
        </p:nvSpPr>
        <p:spPr>
          <a:xfrm>
            <a:off x="6172200" y="246888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14" name="Text 11"/>
          <p:cNvSpPr/>
          <p:nvPr/>
        </p:nvSpPr>
        <p:spPr>
          <a:xfrm>
            <a:off x="7589520" y="246888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15" name="Text 12"/>
          <p:cNvSpPr/>
          <p:nvPr/>
        </p:nvSpPr>
        <p:spPr>
          <a:xfrm>
            <a:off x="9006840" y="246888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16" name="Text 13"/>
          <p:cNvSpPr/>
          <p:nvPr/>
        </p:nvSpPr>
        <p:spPr>
          <a:xfrm>
            <a:off x="10424160" y="246888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17" name="row rule">
            <a:extLst>
              <a:ext uri="{C183D7F6-B498-43B3-948B-1728B52AA6E4}">
                <adec:decorative xmlns:adec="http://schemas.microsoft.com/office/drawing/2017/decorative" val="1"/>
              </a:ext>
            </a:extLst>
          </p:cNvPr>
          <p:cNvSpPr/>
          <p:nvPr/>
        </p:nvSpPr>
        <p:spPr>
          <a:xfrm>
            <a:off x="822960" y="2926080"/>
            <a:ext cx="10515600" cy="13716"/>
          </a:xfrm>
          <a:prstGeom prst="rect">
            <a:avLst/>
          </a:prstGeom>
          <a:solidFill>
            <a:srgbClr val="D6D0C2"/>
          </a:solidFill>
          <a:ln/>
        </p:spPr>
        <p:txBody>
          <a:bodyPr/>
          <a:lstStyle/>
          <a:p>
            <a:endParaRPr lang="en-BD"/>
          </a:p>
        </p:txBody>
      </p:sp>
      <p:sp>
        <p:nvSpPr>
          <p:cNvPr id="18" name="Text 15"/>
          <p:cNvSpPr/>
          <p:nvPr/>
        </p:nvSpPr>
        <p:spPr>
          <a:xfrm>
            <a:off x="822960" y="3017520"/>
            <a:ext cx="3749040" cy="411480"/>
          </a:xfrm>
          <a:prstGeom prst="rect">
            <a:avLst/>
          </a:prstGeom>
          <a:noFill/>
          <a:ln/>
        </p:spPr>
        <p:txBody>
          <a:bodyPr wrap="square" lIns="0" tIns="0" rIns="0" bIns="0" rtlCol="0" anchor="ctr"/>
          <a:lstStyle/>
          <a:p>
            <a:pPr marL="0" indent="0">
              <a:buNone/>
            </a:pPr>
            <a:r>
              <a:rPr lang="en-US" sz="1500" dirty="0">
                <a:solidFill>
                  <a:srgbClr val="162034"/>
                </a:solidFill>
                <a:latin typeface="Inter" pitchFamily="34" charset="0"/>
                <a:ea typeface="Inter" pitchFamily="34" charset="-122"/>
                <a:cs typeface="Inter" pitchFamily="34" charset="-120"/>
              </a:rPr>
              <a:t>AWARE &amp; DigiProd Pass (BGMEA)</a:t>
            </a:r>
            <a:endParaRPr lang="en-US" sz="1500" dirty="0"/>
          </a:p>
        </p:txBody>
      </p:sp>
      <p:sp>
        <p:nvSpPr>
          <p:cNvPr id="19" name="Text 16"/>
          <p:cNvSpPr/>
          <p:nvPr/>
        </p:nvSpPr>
        <p:spPr>
          <a:xfrm>
            <a:off x="4754880" y="301752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20" name="Text 17"/>
          <p:cNvSpPr/>
          <p:nvPr/>
        </p:nvSpPr>
        <p:spPr>
          <a:xfrm>
            <a:off x="6172200" y="301752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21" name="Text 18"/>
          <p:cNvSpPr/>
          <p:nvPr/>
        </p:nvSpPr>
        <p:spPr>
          <a:xfrm>
            <a:off x="7589520" y="301752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22" name="Text 19"/>
          <p:cNvSpPr/>
          <p:nvPr/>
        </p:nvSpPr>
        <p:spPr>
          <a:xfrm>
            <a:off x="9006840" y="301752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23" name="Text 20"/>
          <p:cNvSpPr/>
          <p:nvPr/>
        </p:nvSpPr>
        <p:spPr>
          <a:xfrm>
            <a:off x="10424160" y="301752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24" name="row rule">
            <a:extLst>
              <a:ext uri="{C183D7F6-B498-43B3-948B-1728B52AA6E4}">
                <adec:decorative xmlns:adec="http://schemas.microsoft.com/office/drawing/2017/decorative" val="1"/>
              </a:ext>
            </a:extLst>
          </p:cNvPr>
          <p:cNvSpPr/>
          <p:nvPr/>
        </p:nvSpPr>
        <p:spPr>
          <a:xfrm>
            <a:off x="822960" y="3474720"/>
            <a:ext cx="10515600" cy="13716"/>
          </a:xfrm>
          <a:prstGeom prst="rect">
            <a:avLst/>
          </a:prstGeom>
          <a:solidFill>
            <a:srgbClr val="D6D0C2"/>
          </a:solidFill>
          <a:ln/>
        </p:spPr>
        <p:txBody>
          <a:bodyPr/>
          <a:lstStyle/>
          <a:p>
            <a:endParaRPr lang="en-BD"/>
          </a:p>
        </p:txBody>
      </p:sp>
      <p:sp>
        <p:nvSpPr>
          <p:cNvPr id="25" name="Text 22"/>
          <p:cNvSpPr/>
          <p:nvPr/>
        </p:nvSpPr>
        <p:spPr>
          <a:xfrm>
            <a:off x="822960" y="3566160"/>
            <a:ext cx="3749040" cy="411480"/>
          </a:xfrm>
          <a:prstGeom prst="rect">
            <a:avLst/>
          </a:prstGeom>
          <a:noFill/>
          <a:ln/>
        </p:spPr>
        <p:txBody>
          <a:bodyPr wrap="square" lIns="0" tIns="0" rIns="0" bIns="0" rtlCol="0" anchor="ctr"/>
          <a:lstStyle/>
          <a:p>
            <a:pPr marL="0" indent="0">
              <a:buNone/>
            </a:pPr>
            <a:r>
              <a:rPr lang="en-US" sz="1500" dirty="0">
                <a:solidFill>
                  <a:srgbClr val="162034"/>
                </a:solidFill>
                <a:latin typeface="Inter" pitchFamily="34" charset="0"/>
                <a:ea typeface="Inter" pitchFamily="34" charset="-122"/>
                <a:cs typeface="Inter" pitchFamily="34" charset="-120"/>
              </a:rPr>
              <a:t>Guardtime &amp; OpenTimestamps</a:t>
            </a:r>
            <a:endParaRPr lang="en-US" sz="1500" dirty="0"/>
          </a:p>
        </p:txBody>
      </p:sp>
      <p:sp>
        <p:nvSpPr>
          <p:cNvPr id="26" name="Text 23"/>
          <p:cNvSpPr/>
          <p:nvPr/>
        </p:nvSpPr>
        <p:spPr>
          <a:xfrm>
            <a:off x="4754880" y="356616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27" name="Text 24"/>
          <p:cNvSpPr/>
          <p:nvPr/>
        </p:nvSpPr>
        <p:spPr>
          <a:xfrm>
            <a:off x="6172200" y="356616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28" name="Text 25"/>
          <p:cNvSpPr/>
          <p:nvPr/>
        </p:nvSpPr>
        <p:spPr>
          <a:xfrm>
            <a:off x="7589520" y="356616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29" name="Text 26"/>
          <p:cNvSpPr/>
          <p:nvPr/>
        </p:nvSpPr>
        <p:spPr>
          <a:xfrm>
            <a:off x="9006840" y="356616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30" name="Text 27"/>
          <p:cNvSpPr/>
          <p:nvPr/>
        </p:nvSpPr>
        <p:spPr>
          <a:xfrm>
            <a:off x="10424160" y="356616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31" name="row rule">
            <a:extLst>
              <a:ext uri="{C183D7F6-B498-43B3-948B-1728B52AA6E4}">
                <adec:decorative xmlns:adec="http://schemas.microsoft.com/office/drawing/2017/decorative" val="1"/>
              </a:ext>
            </a:extLst>
          </p:cNvPr>
          <p:cNvSpPr/>
          <p:nvPr/>
        </p:nvSpPr>
        <p:spPr>
          <a:xfrm>
            <a:off x="822960" y="4023360"/>
            <a:ext cx="10515600" cy="13716"/>
          </a:xfrm>
          <a:prstGeom prst="rect">
            <a:avLst/>
          </a:prstGeom>
          <a:solidFill>
            <a:srgbClr val="D6D0C2"/>
          </a:solidFill>
          <a:ln/>
        </p:spPr>
        <p:txBody>
          <a:bodyPr/>
          <a:lstStyle/>
          <a:p>
            <a:endParaRPr lang="en-BD"/>
          </a:p>
        </p:txBody>
      </p:sp>
      <p:sp>
        <p:nvSpPr>
          <p:cNvPr id="32" name="Text 29"/>
          <p:cNvSpPr/>
          <p:nvPr/>
        </p:nvSpPr>
        <p:spPr>
          <a:xfrm>
            <a:off x="822960" y="4114800"/>
            <a:ext cx="3749040" cy="411480"/>
          </a:xfrm>
          <a:prstGeom prst="rect">
            <a:avLst/>
          </a:prstGeom>
          <a:noFill/>
          <a:ln/>
        </p:spPr>
        <p:txBody>
          <a:bodyPr wrap="square" lIns="0" tIns="0" rIns="0" bIns="0" rtlCol="0" anchor="ctr"/>
          <a:lstStyle/>
          <a:p>
            <a:pPr marL="0" indent="0">
              <a:buNone/>
            </a:pPr>
            <a:r>
              <a:rPr lang="en-US" sz="1500" dirty="0">
                <a:solidFill>
                  <a:srgbClr val="162034"/>
                </a:solidFill>
                <a:latin typeface="Inter" pitchFamily="34" charset="0"/>
                <a:ea typeface="Inter" pitchFamily="34" charset="-122"/>
                <a:cs typeface="Inter" pitchFamily="34" charset="-120"/>
              </a:rPr>
              <a:t>Swarm Learning</a:t>
            </a:r>
            <a:endParaRPr lang="en-US" sz="1500" dirty="0"/>
          </a:p>
        </p:txBody>
      </p:sp>
      <p:sp>
        <p:nvSpPr>
          <p:cNvPr id="33" name="Text 30"/>
          <p:cNvSpPr/>
          <p:nvPr/>
        </p:nvSpPr>
        <p:spPr>
          <a:xfrm>
            <a:off x="4754880" y="411480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34" name="Text 31"/>
          <p:cNvSpPr/>
          <p:nvPr/>
        </p:nvSpPr>
        <p:spPr>
          <a:xfrm>
            <a:off x="6172200" y="411480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35" name="Text 32"/>
          <p:cNvSpPr/>
          <p:nvPr/>
        </p:nvSpPr>
        <p:spPr>
          <a:xfrm>
            <a:off x="7589520" y="411480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36" name="Text 33"/>
          <p:cNvSpPr/>
          <p:nvPr/>
        </p:nvSpPr>
        <p:spPr>
          <a:xfrm>
            <a:off x="9006840" y="411480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37" name="Text 34"/>
          <p:cNvSpPr/>
          <p:nvPr/>
        </p:nvSpPr>
        <p:spPr>
          <a:xfrm>
            <a:off x="10424160" y="411480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38" name="row rule">
            <a:extLst>
              <a:ext uri="{C183D7F6-B498-43B3-948B-1728B52AA6E4}">
                <adec:decorative xmlns:adec="http://schemas.microsoft.com/office/drawing/2017/decorative" val="1"/>
              </a:ext>
            </a:extLst>
          </p:cNvPr>
          <p:cNvSpPr/>
          <p:nvPr/>
        </p:nvSpPr>
        <p:spPr>
          <a:xfrm>
            <a:off x="822960" y="4572000"/>
            <a:ext cx="10515600" cy="13716"/>
          </a:xfrm>
          <a:prstGeom prst="rect">
            <a:avLst/>
          </a:prstGeom>
          <a:solidFill>
            <a:srgbClr val="D6D0C2"/>
          </a:solidFill>
          <a:ln/>
        </p:spPr>
        <p:txBody>
          <a:bodyPr/>
          <a:lstStyle/>
          <a:p>
            <a:endParaRPr lang="en-BD"/>
          </a:p>
        </p:txBody>
      </p:sp>
      <p:sp>
        <p:nvSpPr>
          <p:cNvPr id="39" name="Text 36"/>
          <p:cNvSpPr/>
          <p:nvPr/>
        </p:nvSpPr>
        <p:spPr>
          <a:xfrm>
            <a:off x="822960" y="4663440"/>
            <a:ext cx="3749040" cy="411480"/>
          </a:xfrm>
          <a:prstGeom prst="rect">
            <a:avLst/>
          </a:prstGeom>
          <a:noFill/>
          <a:ln/>
        </p:spPr>
        <p:txBody>
          <a:bodyPr wrap="square" lIns="0" tIns="0" rIns="0" bIns="0" rtlCol="0" anchor="ctr"/>
          <a:lstStyle/>
          <a:p>
            <a:pPr marL="0" indent="0">
              <a:buNone/>
            </a:pPr>
            <a:r>
              <a:rPr lang="en-US" sz="1500" dirty="0">
                <a:solidFill>
                  <a:srgbClr val="162034"/>
                </a:solidFill>
                <a:latin typeface="Inter" pitchFamily="34" charset="0"/>
                <a:ea typeface="Inter" pitchFamily="34" charset="-122"/>
                <a:cs typeface="Inter" pitchFamily="34" charset="-120"/>
              </a:rPr>
              <a:t>LiFeChain</a:t>
            </a:r>
            <a:endParaRPr lang="en-US" sz="1500" dirty="0"/>
          </a:p>
        </p:txBody>
      </p:sp>
      <p:sp>
        <p:nvSpPr>
          <p:cNvPr id="40" name="Text 37"/>
          <p:cNvSpPr/>
          <p:nvPr/>
        </p:nvSpPr>
        <p:spPr>
          <a:xfrm>
            <a:off x="4754880" y="466344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41" name="Text 38"/>
          <p:cNvSpPr/>
          <p:nvPr/>
        </p:nvSpPr>
        <p:spPr>
          <a:xfrm>
            <a:off x="6172200" y="466344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42" name="Text 39"/>
          <p:cNvSpPr/>
          <p:nvPr/>
        </p:nvSpPr>
        <p:spPr>
          <a:xfrm>
            <a:off x="7589520" y="466344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43" name="Text 40"/>
          <p:cNvSpPr/>
          <p:nvPr/>
        </p:nvSpPr>
        <p:spPr>
          <a:xfrm>
            <a:off x="9006840" y="466344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44" name="Text 41"/>
          <p:cNvSpPr/>
          <p:nvPr/>
        </p:nvSpPr>
        <p:spPr>
          <a:xfrm>
            <a:off x="10424160" y="466344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45" name="row rule">
            <a:extLst>
              <a:ext uri="{C183D7F6-B498-43B3-948B-1728B52AA6E4}">
                <adec:decorative xmlns:adec="http://schemas.microsoft.com/office/drawing/2017/decorative" val="1"/>
              </a:ext>
            </a:extLst>
          </p:cNvPr>
          <p:cNvSpPr/>
          <p:nvPr/>
        </p:nvSpPr>
        <p:spPr>
          <a:xfrm>
            <a:off x="822960" y="5120640"/>
            <a:ext cx="10515600" cy="13716"/>
          </a:xfrm>
          <a:prstGeom prst="rect">
            <a:avLst/>
          </a:prstGeom>
          <a:solidFill>
            <a:srgbClr val="D6D0C2"/>
          </a:solidFill>
          <a:ln/>
        </p:spPr>
        <p:txBody>
          <a:bodyPr/>
          <a:lstStyle/>
          <a:p>
            <a:endParaRPr lang="en-BD"/>
          </a:p>
        </p:txBody>
      </p:sp>
      <p:sp>
        <p:nvSpPr>
          <p:cNvPr id="46" name="Text 43"/>
          <p:cNvSpPr/>
          <p:nvPr/>
        </p:nvSpPr>
        <p:spPr>
          <a:xfrm>
            <a:off x="822960" y="5212080"/>
            <a:ext cx="3749040" cy="411480"/>
          </a:xfrm>
          <a:prstGeom prst="rect">
            <a:avLst/>
          </a:prstGeom>
          <a:noFill/>
          <a:ln/>
        </p:spPr>
        <p:txBody>
          <a:bodyPr wrap="square" lIns="0" tIns="0" rIns="0" bIns="0" rtlCol="0" anchor="ctr"/>
          <a:lstStyle/>
          <a:p>
            <a:pPr marL="0" indent="0">
              <a:buNone/>
            </a:pPr>
            <a:r>
              <a:rPr lang="en-US" sz="1500" dirty="0">
                <a:solidFill>
                  <a:srgbClr val="162034"/>
                </a:solidFill>
                <a:latin typeface="Inter" pitchFamily="34" charset="0"/>
                <a:ea typeface="Inter" pitchFamily="34" charset="-122"/>
                <a:cs typeface="Inter" pitchFamily="34" charset="-120"/>
              </a:rPr>
              <a:t>IBM US 11,157,833</a:t>
            </a:r>
            <a:endParaRPr lang="en-US" sz="1500" dirty="0"/>
          </a:p>
        </p:txBody>
      </p:sp>
      <p:sp>
        <p:nvSpPr>
          <p:cNvPr id="47" name="Text 44"/>
          <p:cNvSpPr/>
          <p:nvPr/>
        </p:nvSpPr>
        <p:spPr>
          <a:xfrm>
            <a:off x="4754880" y="521208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48" name="Text 45"/>
          <p:cNvSpPr/>
          <p:nvPr/>
        </p:nvSpPr>
        <p:spPr>
          <a:xfrm>
            <a:off x="6172200" y="521208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49" name="Text 46"/>
          <p:cNvSpPr/>
          <p:nvPr/>
        </p:nvSpPr>
        <p:spPr>
          <a:xfrm>
            <a:off x="7589520" y="5212080"/>
            <a:ext cx="1417320" cy="411480"/>
          </a:xfrm>
          <a:prstGeom prst="rect">
            <a:avLst/>
          </a:prstGeom>
          <a:noFill/>
          <a:ln/>
        </p:spPr>
        <p:txBody>
          <a:bodyPr wrap="square" lIns="0" tIns="0" rIns="0" bIns="0" rtlCol="0" anchor="ctr"/>
          <a:lstStyle/>
          <a:p>
            <a:pPr marL="0" indent="0" algn="ctr">
              <a:buNone/>
            </a:pPr>
            <a:r>
              <a:rPr lang="en-US" sz="1500" dirty="0">
                <a:solidFill>
                  <a:srgbClr val="162034"/>
                </a:solidFill>
                <a:latin typeface="IBM Plex Mono" pitchFamily="34" charset="0"/>
                <a:ea typeface="IBM Plex Mono" pitchFamily="34" charset="-122"/>
                <a:cs typeface="IBM Plex Mono" pitchFamily="34" charset="-120"/>
              </a:rPr>
              <a:t>✓</a:t>
            </a:r>
            <a:endParaRPr lang="en-US" sz="1500" dirty="0"/>
          </a:p>
        </p:txBody>
      </p:sp>
      <p:sp>
        <p:nvSpPr>
          <p:cNvPr id="50" name="Text 47"/>
          <p:cNvSpPr/>
          <p:nvPr/>
        </p:nvSpPr>
        <p:spPr>
          <a:xfrm>
            <a:off x="9006840" y="5212080"/>
            <a:ext cx="1417320" cy="411480"/>
          </a:xfrm>
          <a:prstGeom prst="rect">
            <a:avLst/>
          </a:prstGeom>
          <a:noFill/>
          <a:ln/>
        </p:spPr>
        <p:txBody>
          <a:bodyPr wrap="square" lIns="0" tIns="0" rIns="0" bIns="0" rtlCol="0" anchor="ctr"/>
          <a:lstStyle/>
          <a:p>
            <a:pPr marL="0" indent="0" algn="ctr">
              <a:buNone/>
            </a:pPr>
            <a:r>
              <a:rPr lang="en-US" sz="1500" dirty="0">
                <a:solidFill>
                  <a:srgbClr val="A8A091"/>
                </a:solidFill>
                <a:latin typeface="IBM Plex Mono" pitchFamily="34" charset="0"/>
                <a:ea typeface="IBM Plex Mono" pitchFamily="34" charset="-122"/>
                <a:cs typeface="IBM Plex Mono" pitchFamily="34" charset="-120"/>
              </a:rPr>
              <a:t>·</a:t>
            </a:r>
            <a:endParaRPr lang="en-US" sz="1500" dirty="0"/>
          </a:p>
        </p:txBody>
      </p:sp>
      <p:sp>
        <p:nvSpPr>
          <p:cNvPr id="51" name="Text 48"/>
          <p:cNvSpPr/>
          <p:nvPr/>
        </p:nvSpPr>
        <p:spPr>
          <a:xfrm>
            <a:off x="10424160" y="5212080"/>
            <a:ext cx="1417320" cy="411480"/>
          </a:xfrm>
          <a:prstGeom prst="rect">
            <a:avLst/>
          </a:prstGeom>
          <a:noFill/>
          <a:ln/>
        </p:spPr>
        <p:txBody>
          <a:bodyPr wrap="square" lIns="0" tIns="0" rIns="0" bIns="0" rtlCol="0" anchor="ctr"/>
          <a:lstStyle/>
          <a:p>
            <a:pPr marL="0" indent="0" algn="ctr">
              <a:buNone/>
            </a:pPr>
            <a:r>
              <a:rPr lang="en-US" sz="1200" dirty="0">
                <a:solidFill>
                  <a:srgbClr val="162034"/>
                </a:solidFill>
                <a:latin typeface="IBM Plex Mono" pitchFamily="34" charset="0"/>
                <a:ea typeface="IBM Plex Mono" pitchFamily="34" charset="-122"/>
                <a:cs typeface="IBM Plex Mono" pitchFamily="34" charset="-120"/>
              </a:rPr>
              <a:t>partial</a:t>
            </a:r>
            <a:endParaRPr lang="en-US" sz="1200" dirty="0"/>
          </a:p>
        </p:txBody>
      </p:sp>
      <p:sp>
        <p:nvSpPr>
          <p:cNvPr id="52" name="row rule">
            <a:extLst>
              <a:ext uri="{C183D7F6-B498-43B3-948B-1728B52AA6E4}">
                <adec:decorative xmlns:adec="http://schemas.microsoft.com/office/drawing/2017/decorative" val="1"/>
              </a:ext>
            </a:extLst>
          </p:cNvPr>
          <p:cNvSpPr/>
          <p:nvPr/>
        </p:nvSpPr>
        <p:spPr>
          <a:xfrm>
            <a:off x="822960" y="5669280"/>
            <a:ext cx="10515600" cy="13716"/>
          </a:xfrm>
          <a:prstGeom prst="rect">
            <a:avLst/>
          </a:prstGeom>
          <a:solidFill>
            <a:srgbClr val="D6D0C2"/>
          </a:solidFill>
          <a:ln/>
        </p:spPr>
        <p:txBody>
          <a:bodyPr/>
          <a:lstStyle/>
          <a:p>
            <a:endParaRPr lang="en-BD"/>
          </a:p>
        </p:txBody>
      </p:sp>
      <p:sp>
        <p:nvSpPr>
          <p:cNvPr id="53" name="Text 50"/>
          <p:cNvSpPr/>
          <p:nvPr/>
        </p:nvSpPr>
        <p:spPr>
          <a:xfrm>
            <a:off x="822960" y="5760720"/>
            <a:ext cx="3749040" cy="411480"/>
          </a:xfrm>
          <a:prstGeom prst="rect">
            <a:avLst/>
          </a:prstGeom>
          <a:noFill/>
          <a:ln/>
        </p:spPr>
        <p:txBody>
          <a:bodyPr wrap="square" lIns="0" tIns="0" rIns="0" bIns="0" rtlCol="0" anchor="ctr"/>
          <a:lstStyle/>
          <a:p>
            <a:pPr marL="0" indent="0">
              <a:buNone/>
            </a:pPr>
            <a:r>
              <a:rPr lang="en-US" sz="1500" b="1" dirty="0">
                <a:solidFill>
                  <a:srgbClr val="B08A3E"/>
                </a:solidFill>
                <a:latin typeface="Inter" pitchFamily="34" charset="0"/>
                <a:ea typeface="Inter" pitchFamily="34" charset="-122"/>
                <a:cs typeface="Inter" pitchFamily="34" charset="-120"/>
              </a:rPr>
              <a:t>Breadcrumbs</a:t>
            </a:r>
            <a:endParaRPr lang="en-US" sz="1500" dirty="0"/>
          </a:p>
        </p:txBody>
      </p:sp>
      <p:sp>
        <p:nvSpPr>
          <p:cNvPr id="54" name="Text 51"/>
          <p:cNvSpPr/>
          <p:nvPr/>
        </p:nvSpPr>
        <p:spPr>
          <a:xfrm>
            <a:off x="4754880" y="5760720"/>
            <a:ext cx="1417320" cy="411480"/>
          </a:xfrm>
          <a:prstGeom prst="rect">
            <a:avLst/>
          </a:prstGeom>
          <a:noFill/>
          <a:ln/>
        </p:spPr>
        <p:txBody>
          <a:bodyPr wrap="square" lIns="0" tIns="0" rIns="0" bIns="0" rtlCol="0" anchor="ctr"/>
          <a:lstStyle/>
          <a:p>
            <a:pPr marL="0" indent="0" algn="ctr">
              <a:buNone/>
            </a:pPr>
            <a:r>
              <a:rPr lang="en-US" sz="1500" b="1" dirty="0">
                <a:solidFill>
                  <a:srgbClr val="B08A3E"/>
                </a:solidFill>
                <a:latin typeface="IBM Plex Mono" pitchFamily="34" charset="0"/>
                <a:ea typeface="IBM Plex Mono" pitchFamily="34" charset="-122"/>
                <a:cs typeface="IBM Plex Mono" pitchFamily="34" charset="-120"/>
              </a:rPr>
              <a:t>✓</a:t>
            </a:r>
            <a:endParaRPr lang="en-US" sz="1500" dirty="0"/>
          </a:p>
        </p:txBody>
      </p:sp>
      <p:sp>
        <p:nvSpPr>
          <p:cNvPr id="55" name="Text 52"/>
          <p:cNvSpPr/>
          <p:nvPr/>
        </p:nvSpPr>
        <p:spPr>
          <a:xfrm>
            <a:off x="6172200" y="5760720"/>
            <a:ext cx="1417320" cy="411480"/>
          </a:xfrm>
          <a:prstGeom prst="rect">
            <a:avLst/>
          </a:prstGeom>
          <a:noFill/>
          <a:ln/>
        </p:spPr>
        <p:txBody>
          <a:bodyPr wrap="square" lIns="0" tIns="0" rIns="0" bIns="0" rtlCol="0" anchor="ctr"/>
          <a:lstStyle/>
          <a:p>
            <a:pPr marL="0" indent="0" algn="ctr">
              <a:buNone/>
            </a:pPr>
            <a:r>
              <a:rPr lang="en-US" sz="1500" b="1" dirty="0">
                <a:solidFill>
                  <a:srgbClr val="B08A3E"/>
                </a:solidFill>
                <a:latin typeface="IBM Plex Mono" pitchFamily="34" charset="0"/>
                <a:ea typeface="IBM Plex Mono" pitchFamily="34" charset="-122"/>
                <a:cs typeface="IBM Plex Mono" pitchFamily="34" charset="-120"/>
              </a:rPr>
              <a:t>✓</a:t>
            </a:r>
            <a:endParaRPr lang="en-US" sz="1500" dirty="0"/>
          </a:p>
        </p:txBody>
      </p:sp>
      <p:sp>
        <p:nvSpPr>
          <p:cNvPr id="56" name="Text 53"/>
          <p:cNvSpPr/>
          <p:nvPr/>
        </p:nvSpPr>
        <p:spPr>
          <a:xfrm>
            <a:off x="7589520" y="5760720"/>
            <a:ext cx="1417320" cy="411480"/>
          </a:xfrm>
          <a:prstGeom prst="rect">
            <a:avLst/>
          </a:prstGeom>
          <a:noFill/>
          <a:ln/>
        </p:spPr>
        <p:txBody>
          <a:bodyPr wrap="square" lIns="0" tIns="0" rIns="0" bIns="0" rtlCol="0" anchor="ctr"/>
          <a:lstStyle/>
          <a:p>
            <a:pPr marL="0" indent="0" algn="ctr">
              <a:buNone/>
            </a:pPr>
            <a:r>
              <a:rPr lang="en-US" sz="1500" b="1" dirty="0">
                <a:solidFill>
                  <a:srgbClr val="B08A3E"/>
                </a:solidFill>
                <a:latin typeface="IBM Plex Mono" pitchFamily="34" charset="0"/>
                <a:ea typeface="IBM Plex Mono" pitchFamily="34" charset="-122"/>
                <a:cs typeface="IBM Plex Mono" pitchFamily="34" charset="-120"/>
              </a:rPr>
              <a:t>✓</a:t>
            </a:r>
            <a:endParaRPr lang="en-US" sz="1500" dirty="0"/>
          </a:p>
        </p:txBody>
      </p:sp>
      <p:sp>
        <p:nvSpPr>
          <p:cNvPr id="57" name="Text 54"/>
          <p:cNvSpPr/>
          <p:nvPr/>
        </p:nvSpPr>
        <p:spPr>
          <a:xfrm>
            <a:off x="9006840" y="5760720"/>
            <a:ext cx="1417320" cy="411480"/>
          </a:xfrm>
          <a:prstGeom prst="rect">
            <a:avLst/>
          </a:prstGeom>
          <a:noFill/>
          <a:ln/>
        </p:spPr>
        <p:txBody>
          <a:bodyPr wrap="square" lIns="0" tIns="0" rIns="0" bIns="0" rtlCol="0" anchor="ctr"/>
          <a:lstStyle/>
          <a:p>
            <a:pPr marL="0" indent="0" algn="ctr">
              <a:buNone/>
            </a:pPr>
            <a:r>
              <a:rPr lang="en-US" sz="1500" b="1" dirty="0">
                <a:solidFill>
                  <a:srgbClr val="B08A3E"/>
                </a:solidFill>
                <a:latin typeface="IBM Plex Mono" pitchFamily="34" charset="0"/>
                <a:ea typeface="IBM Plex Mono" pitchFamily="34" charset="-122"/>
                <a:cs typeface="IBM Plex Mono" pitchFamily="34" charset="-120"/>
              </a:rPr>
              <a:t>✓</a:t>
            </a:r>
            <a:endParaRPr lang="en-US" sz="1500" dirty="0"/>
          </a:p>
        </p:txBody>
      </p:sp>
      <p:sp>
        <p:nvSpPr>
          <p:cNvPr id="58" name="Text 55"/>
          <p:cNvSpPr/>
          <p:nvPr/>
        </p:nvSpPr>
        <p:spPr>
          <a:xfrm>
            <a:off x="10424160" y="5760720"/>
            <a:ext cx="1417320" cy="411480"/>
          </a:xfrm>
          <a:prstGeom prst="rect">
            <a:avLst/>
          </a:prstGeom>
          <a:noFill/>
          <a:ln/>
        </p:spPr>
        <p:txBody>
          <a:bodyPr wrap="square" lIns="0" tIns="0" rIns="0" bIns="0" rtlCol="0" anchor="ctr"/>
          <a:lstStyle/>
          <a:p>
            <a:pPr marL="0" indent="0" algn="ctr">
              <a:buNone/>
            </a:pPr>
            <a:r>
              <a:rPr lang="en-US" sz="1500" b="1" dirty="0">
                <a:solidFill>
                  <a:srgbClr val="B08A3E"/>
                </a:solidFill>
                <a:latin typeface="IBM Plex Mono" pitchFamily="34" charset="0"/>
                <a:ea typeface="IBM Plex Mono" pitchFamily="34" charset="-122"/>
                <a:cs typeface="IBM Plex Mono" pitchFamily="34" charset="-120"/>
              </a:rPr>
              <a:t>✓</a:t>
            </a:r>
            <a:endParaRPr lang="en-US" sz="1500" dirty="0"/>
          </a:p>
        </p:txBody>
      </p:sp>
      <p:sp>
        <p:nvSpPr>
          <p:cNvPr id="59" name="row rule">
            <a:extLst>
              <a:ext uri="{C183D7F6-B498-43B3-948B-1728B52AA6E4}">
                <adec:decorative xmlns:adec="http://schemas.microsoft.com/office/drawing/2017/decorative" val="1"/>
              </a:ext>
            </a:extLst>
          </p:cNvPr>
          <p:cNvSpPr/>
          <p:nvPr/>
        </p:nvSpPr>
        <p:spPr>
          <a:xfrm>
            <a:off x="822960" y="6217920"/>
            <a:ext cx="10515600" cy="13716"/>
          </a:xfrm>
          <a:prstGeom prst="rect">
            <a:avLst/>
          </a:prstGeom>
          <a:solidFill>
            <a:srgbClr val="D6D0C2"/>
          </a:solidFill>
          <a:ln/>
        </p:spPr>
        <p:txBody>
          <a:bodyPr/>
          <a:lstStyle/>
          <a:p>
            <a:endParaRPr lang="en-BD"/>
          </a:p>
        </p:txBody>
      </p:sp>
      <p:sp>
        <p:nvSpPr>
          <p:cNvPr id="60" name="Text 57"/>
          <p:cNvSpPr/>
          <p:nvPr/>
        </p:nvSpPr>
        <p:spPr>
          <a:xfrm>
            <a:off x="822960" y="6446520"/>
            <a:ext cx="10515600" cy="411480"/>
          </a:xfrm>
          <a:prstGeom prst="rect">
            <a:avLst/>
          </a:prstGeom>
          <a:noFill/>
          <a:ln/>
        </p:spPr>
        <p:txBody>
          <a:bodyPr wrap="square" lIns="0" tIns="0" rIns="0" bIns="0" rtlCol="0" anchor="ctr"/>
          <a:lstStyle/>
          <a:p>
            <a:pPr marL="0" indent="0">
              <a:buNone/>
            </a:pPr>
            <a:r>
              <a:rPr lang="en-US" sz="1800" dirty="0">
                <a:solidFill>
                  <a:srgbClr val="5A6377"/>
                </a:solidFill>
                <a:latin typeface="Inter" pitchFamily="34" charset="0"/>
                <a:ea typeface="Inter" pitchFamily="34" charset="-122"/>
                <a:cs typeface="Inter" pitchFamily="34" charset="-120"/>
              </a:rPr>
              <a:t>Our narrow claim: a backward-looking promotion rule, enforced collectively.</a:t>
            </a:r>
            <a:endParaRPr lang="en-US" sz="1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A44"/>
        </a:solidFill>
        <a:effectLst/>
      </p:bgPr>
    </p:bg>
    <p:spTree>
      <p:nvGrpSpPr>
        <p:cNvPr id="1" name=""/>
        <p:cNvGrpSpPr/>
        <p:nvPr/>
      </p:nvGrpSpPr>
      <p:grpSpPr>
        <a:xfrm>
          <a:off x="0" y="0"/>
          <a:ext cx="0" cy="0"/>
          <a:chOff x="0" y="0"/>
          <a:chExt cx="0" cy="0"/>
        </a:xfrm>
      </p:grpSpPr>
      <p:sp>
        <p:nvSpPr>
          <p:cNvPr id="3" name="Text 0"/>
          <p:cNvSpPr/>
          <p:nvPr/>
        </p:nvSpPr>
        <p:spPr>
          <a:xfrm>
            <a:off x="777240" y="1234440"/>
            <a:ext cx="4297680" cy="2194560"/>
          </a:xfrm>
          <a:prstGeom prst="rect">
            <a:avLst/>
          </a:prstGeom>
          <a:noFill/>
          <a:ln/>
        </p:spPr>
        <p:txBody>
          <a:bodyPr wrap="square" lIns="0" tIns="0" rIns="0" bIns="0" rtlCol="0" anchor="t"/>
          <a:lstStyle/>
          <a:p>
            <a:pPr marL="0" indent="0" algn="l">
              <a:lnSpc>
                <a:spcPct val="105000"/>
              </a:lnSpc>
              <a:buNone/>
            </a:pPr>
            <a:r>
              <a:rPr lang="en-US" sz="4000" b="1" dirty="0">
                <a:solidFill>
                  <a:srgbClr val="EDEAE0"/>
                </a:solidFill>
                <a:latin typeface="Fraunces" pitchFamily="34" charset="0"/>
                <a:ea typeface="Fraunces" pitchFamily="34" charset="-122"/>
                <a:cs typeface="Fraunces" pitchFamily="34" charset="-120"/>
              </a:rPr>
              <a:t>Underneath the passport, not against it.</a:t>
            </a:r>
            <a:endParaRPr lang="en-US" sz="4000" dirty="0"/>
          </a:p>
        </p:txBody>
      </p:sp>
      <p:sp>
        <p:nvSpPr>
          <p:cNvPr id="4" name="accent rule">
            <a:extLst>
              <a:ext uri="{C183D7F6-B498-43B3-948B-1728B52AA6E4}">
                <adec:decorative xmlns:adec="http://schemas.microsoft.com/office/drawing/2017/decorative" val="1"/>
              </a:ext>
            </a:extLst>
          </p:cNvPr>
          <p:cNvSpPr/>
          <p:nvPr/>
        </p:nvSpPr>
        <p:spPr>
          <a:xfrm>
            <a:off x="822960" y="868680"/>
            <a:ext cx="1005840" cy="50292"/>
          </a:xfrm>
          <a:prstGeom prst="rect">
            <a:avLst/>
          </a:prstGeom>
          <a:solidFill>
            <a:srgbClr val="B08A3E"/>
          </a:solidFill>
          <a:ln/>
        </p:spPr>
        <p:txBody>
          <a:bodyPr/>
          <a:lstStyle/>
          <a:p>
            <a:endParaRPr lang="en-BD"/>
          </a:p>
        </p:txBody>
      </p:sp>
      <p:sp>
        <p:nvSpPr>
          <p:cNvPr id="5" name="Text 2">
            <a:extLst>
              <a:ext uri="{C183D7F6-B498-43B3-948B-1728B52AA6E4}">
                <adec:decorative xmlns:adec="http://schemas.microsoft.com/office/drawing/2017/decorative" val="0"/>
              </a:ext>
            </a:extLst>
          </p:cNvPr>
          <p:cNvSpPr/>
          <p:nvPr/>
        </p:nvSpPr>
        <p:spPr>
          <a:xfrm>
            <a:off x="777240" y="3977640"/>
            <a:ext cx="4297680" cy="1188720"/>
          </a:xfrm>
          <a:prstGeom prst="rect">
            <a:avLst/>
          </a:prstGeom>
          <a:noFill/>
          <a:ln/>
        </p:spPr>
        <p:txBody>
          <a:bodyPr wrap="square" lIns="0" tIns="0" rIns="0" bIns="0" rtlCol="0" anchor="ctr"/>
          <a:lstStyle/>
          <a:p>
            <a:pPr marL="0" indent="0">
              <a:lnSpc>
                <a:spcPct val="120000"/>
              </a:lnSpc>
              <a:buNone/>
            </a:pPr>
            <a:r>
              <a:rPr lang="en-US" sz="1700" dirty="0">
                <a:solidFill>
                  <a:srgbClr val="C6CCDA"/>
                </a:solidFill>
                <a:latin typeface="Inter" pitchFamily="34" charset="0"/>
                <a:ea typeface="Inter" pitchFamily="34" charset="-122"/>
                <a:cs typeface="Inter" pitchFamily="34" charset="-120"/>
              </a:rPr>
              <a:t>Passports answer where the cotton came from, not whether the wage register is real.</a:t>
            </a:r>
            <a:endParaRPr lang="en-US" sz="1700" dirty="0"/>
          </a:p>
        </p:txBody>
      </p:sp>
      <p:sp>
        <p:nvSpPr>
          <p:cNvPr id="6" name="upper layer">
            <a:extLst>
              <a:ext uri="{C183D7F6-B498-43B3-948B-1728B52AA6E4}">
                <adec:decorative xmlns:adec="http://schemas.microsoft.com/office/drawing/2017/decorative" val="1"/>
              </a:ext>
            </a:extLst>
          </p:cNvPr>
          <p:cNvSpPr/>
          <p:nvPr/>
        </p:nvSpPr>
        <p:spPr>
          <a:xfrm>
            <a:off x="5486400" y="1325880"/>
            <a:ext cx="5852160" cy="1600200"/>
          </a:xfrm>
          <a:prstGeom prst="rect">
            <a:avLst/>
          </a:prstGeom>
          <a:solidFill>
            <a:srgbClr val="2C3A58"/>
          </a:solidFill>
          <a:ln w="12700">
            <a:solidFill>
              <a:srgbClr val="51607E"/>
            </a:solidFill>
            <a:prstDash val="solid"/>
          </a:ln>
          <a:effectLst>
            <a:outerShdw blurRad="127000" dist="38100" dir="8100000" algn="bl" rotWithShape="0">
              <a:srgbClr val="000000">
                <a:alpha val="22000"/>
              </a:srgbClr>
            </a:outerShdw>
          </a:effectLst>
        </p:spPr>
        <p:txBody>
          <a:bodyPr/>
          <a:lstStyle/>
          <a:p>
            <a:endParaRPr lang="en-BD"/>
          </a:p>
        </p:txBody>
      </p:sp>
      <p:sp>
        <p:nvSpPr>
          <p:cNvPr id="7" name="Text 4"/>
          <p:cNvSpPr/>
          <p:nvPr/>
        </p:nvSpPr>
        <p:spPr>
          <a:xfrm>
            <a:off x="5897880" y="1600200"/>
            <a:ext cx="5029200" cy="502920"/>
          </a:xfrm>
          <a:prstGeom prst="rect">
            <a:avLst/>
          </a:prstGeom>
          <a:noFill/>
          <a:ln/>
        </p:spPr>
        <p:txBody>
          <a:bodyPr wrap="square" lIns="0" tIns="0" rIns="0" bIns="0" rtlCol="0" anchor="ctr"/>
          <a:lstStyle/>
          <a:p>
            <a:pPr marL="0" indent="0">
              <a:buNone/>
            </a:pPr>
            <a:r>
              <a:rPr lang="en-US" sz="2600" b="1" dirty="0">
                <a:solidFill>
                  <a:srgbClr val="EDEAE0"/>
                </a:solidFill>
                <a:latin typeface="Fraunces" pitchFamily="34" charset="0"/>
                <a:ea typeface="Fraunces" pitchFamily="34" charset="-122"/>
                <a:cs typeface="Fraunces" pitchFamily="34" charset="-120"/>
              </a:rPr>
              <a:t>Digital Product Passport</a:t>
            </a:r>
            <a:endParaRPr lang="en-US" sz="2600" dirty="0"/>
          </a:p>
        </p:txBody>
      </p:sp>
      <p:sp>
        <p:nvSpPr>
          <p:cNvPr id="8" name="Text 5"/>
          <p:cNvSpPr/>
          <p:nvPr/>
        </p:nvSpPr>
        <p:spPr>
          <a:xfrm>
            <a:off x="5897880" y="2148840"/>
            <a:ext cx="5029200" cy="411480"/>
          </a:xfrm>
          <a:prstGeom prst="rect">
            <a:avLst/>
          </a:prstGeom>
          <a:noFill/>
          <a:ln/>
        </p:spPr>
        <p:txBody>
          <a:bodyPr wrap="square" lIns="0" tIns="0" rIns="0" bIns="0" rtlCol="0" anchor="ctr"/>
          <a:lstStyle/>
          <a:p>
            <a:pPr marL="0" indent="0">
              <a:buNone/>
            </a:pPr>
            <a:r>
              <a:rPr lang="en-US" sz="1400" dirty="0">
                <a:solidFill>
                  <a:srgbClr val="C6CCDA"/>
                </a:solidFill>
                <a:latin typeface="IBM Plex Mono" pitchFamily="34" charset="0"/>
                <a:ea typeface="IBM Plex Mono" pitchFamily="34" charset="-122"/>
                <a:cs typeface="IBM Plex Mono" pitchFamily="34" charset="-120"/>
              </a:rPr>
              <a:t>BGMEA + AWARE, May 2026</a:t>
            </a:r>
            <a:endParaRPr lang="en-US" sz="1400" dirty="0"/>
          </a:p>
        </p:txBody>
      </p:sp>
      <p:sp>
        <p:nvSpPr>
          <p:cNvPr id="9" name="rests-on marker">
            <a:extLst>
              <a:ext uri="{C183D7F6-B498-43B3-948B-1728B52AA6E4}">
                <adec:decorative xmlns:adec="http://schemas.microsoft.com/office/drawing/2017/decorative" val="1"/>
              </a:ext>
            </a:extLst>
          </p:cNvPr>
          <p:cNvSpPr/>
          <p:nvPr/>
        </p:nvSpPr>
        <p:spPr>
          <a:xfrm rot="2700000">
            <a:off x="8138160" y="3063240"/>
            <a:ext cx="548640" cy="548640"/>
          </a:xfrm>
          <a:prstGeom prst="rect">
            <a:avLst/>
          </a:prstGeom>
          <a:solidFill>
            <a:srgbClr val="51607E"/>
          </a:solidFill>
          <a:ln/>
        </p:spPr>
        <p:txBody>
          <a:bodyPr/>
          <a:lstStyle/>
          <a:p>
            <a:endParaRPr lang="en-BD"/>
          </a:p>
        </p:txBody>
      </p:sp>
      <p:sp>
        <p:nvSpPr>
          <p:cNvPr id="10" name="foundation layer">
            <a:extLst>
              <a:ext uri="{C183D7F6-B498-43B3-948B-1728B52AA6E4}">
                <adec:decorative xmlns:adec="http://schemas.microsoft.com/office/drawing/2017/decorative" val="1"/>
              </a:ext>
            </a:extLst>
          </p:cNvPr>
          <p:cNvSpPr/>
          <p:nvPr/>
        </p:nvSpPr>
        <p:spPr>
          <a:xfrm>
            <a:off x="5486400" y="3794760"/>
            <a:ext cx="5852160" cy="1828800"/>
          </a:xfrm>
          <a:prstGeom prst="rect">
            <a:avLst/>
          </a:prstGeom>
          <a:solidFill>
            <a:srgbClr val="B08A3E"/>
          </a:solidFill>
          <a:ln/>
          <a:effectLst>
            <a:outerShdw blurRad="127000" dist="38100" dir="8100000" algn="bl" rotWithShape="0">
              <a:srgbClr val="000000">
                <a:alpha val="22000"/>
              </a:srgbClr>
            </a:outerShdw>
          </a:effectLst>
        </p:spPr>
        <p:txBody>
          <a:bodyPr/>
          <a:lstStyle/>
          <a:p>
            <a:endParaRPr lang="en-BD"/>
          </a:p>
        </p:txBody>
      </p:sp>
      <p:sp>
        <p:nvSpPr>
          <p:cNvPr id="11" name="Text 8"/>
          <p:cNvSpPr/>
          <p:nvPr/>
        </p:nvSpPr>
        <p:spPr>
          <a:xfrm>
            <a:off x="5897880" y="4069080"/>
            <a:ext cx="5029200" cy="548640"/>
          </a:xfrm>
          <a:prstGeom prst="rect">
            <a:avLst/>
          </a:prstGeom>
          <a:noFill/>
          <a:ln/>
        </p:spPr>
        <p:txBody>
          <a:bodyPr wrap="square" lIns="0" tIns="0" rIns="0" bIns="0" rtlCol="0" anchor="ctr"/>
          <a:lstStyle/>
          <a:p>
            <a:pPr marL="0" indent="0">
              <a:buNone/>
            </a:pPr>
            <a:r>
              <a:rPr lang="en-US" sz="2800" b="1" dirty="0">
                <a:solidFill>
                  <a:srgbClr val="241C08"/>
                </a:solidFill>
                <a:latin typeface="Fraunces" pitchFamily="34" charset="0"/>
                <a:ea typeface="Fraunces" pitchFamily="34" charset="-122"/>
                <a:cs typeface="Fraunces" pitchFamily="34" charset="-120"/>
              </a:rPr>
              <a:t>Breadcrumbs</a:t>
            </a:r>
            <a:endParaRPr lang="en-US" sz="2800" dirty="0"/>
          </a:p>
        </p:txBody>
      </p:sp>
      <p:sp>
        <p:nvSpPr>
          <p:cNvPr id="12" name="Text 9"/>
          <p:cNvSpPr/>
          <p:nvPr/>
        </p:nvSpPr>
        <p:spPr>
          <a:xfrm>
            <a:off x="5897880" y="4663440"/>
            <a:ext cx="5029200" cy="777240"/>
          </a:xfrm>
          <a:prstGeom prst="rect">
            <a:avLst/>
          </a:prstGeom>
          <a:noFill/>
          <a:ln/>
        </p:spPr>
        <p:txBody>
          <a:bodyPr wrap="square" lIns="0" tIns="0" rIns="0" bIns="0" rtlCol="0" anchor="ctr"/>
          <a:lstStyle/>
          <a:p>
            <a:pPr marL="0" indent="0">
              <a:buNone/>
            </a:pPr>
            <a:r>
              <a:rPr lang="en-US" sz="1800" dirty="0">
                <a:solidFill>
                  <a:srgbClr val="241C08"/>
                </a:solidFill>
                <a:latin typeface="Inter" pitchFamily="34" charset="0"/>
                <a:ea typeface="Inter" pitchFamily="34" charset="-122"/>
                <a:cs typeface="Inter" pitchFamily="34" charset="-120"/>
              </a:rPr>
              <a:t>the internal evidence that makes its claims worth believing</a:t>
            </a:r>
            <a:endParaRPr lang="en-US" sz="1800" dirty="0"/>
          </a:p>
        </p:txBody>
      </p:sp>
      <p:sp>
        <p:nvSpPr>
          <p:cNvPr id="14" name="phase node">
            <a:extLst>
              <a:ext uri="{C183D7F6-B498-43B3-948B-1728B52AA6E4}">
                <adec:decorative xmlns:adec="http://schemas.microsoft.com/office/drawing/2017/decorative" val="1"/>
              </a:ext>
            </a:extLst>
          </p:cNvPr>
          <p:cNvSpPr/>
          <p:nvPr/>
        </p:nvSpPr>
        <p:spPr>
          <a:xfrm>
            <a:off x="8119872" y="2747772"/>
            <a:ext cx="292608" cy="292608"/>
          </a:xfrm>
          <a:prstGeom prst="ellipse">
            <a:avLst/>
          </a:prstGeom>
          <a:solidFill>
            <a:srgbClr val="1E2A44"/>
          </a:solidFill>
          <a:ln/>
        </p:spPr>
        <p:txBody>
          <a:bodyPr/>
          <a:lstStyle/>
          <a:p>
            <a:endParaRPr lang="en-BD"/>
          </a:p>
        </p:txBody>
      </p:sp>
      <p:sp>
        <p:nvSpPr>
          <p:cNvPr id="18" name="progress rule">
            <a:extLst>
              <a:ext uri="{C183D7F6-B498-43B3-948B-1728B52AA6E4}">
                <adec:decorative xmlns:adec="http://schemas.microsoft.com/office/drawing/2017/decorative" val="1"/>
              </a:ext>
            </a:extLst>
          </p:cNvPr>
          <p:cNvSpPr/>
          <p:nvPr/>
        </p:nvSpPr>
        <p:spPr>
          <a:xfrm>
            <a:off x="822960" y="3081528"/>
            <a:ext cx="3337560" cy="54864"/>
          </a:xfrm>
          <a:prstGeom prst="rect">
            <a:avLst/>
          </a:prstGeom>
          <a:solidFill>
            <a:srgbClr val="B08A3E"/>
          </a:solidFill>
          <a:ln/>
        </p:spPr>
        <p:txBody>
          <a:bodyPr/>
          <a:lstStyle/>
          <a:p>
            <a:endParaRPr lang="en-BD"/>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566928"/>
            <a:ext cx="7315200" cy="1051560"/>
          </a:xfrm>
          <a:prstGeom prst="rect">
            <a:avLst/>
          </a:prstGeom>
          <a:noFill/>
          <a:ln/>
        </p:spPr>
        <p:txBody>
          <a:bodyPr wrap="square" lIns="0" tIns="0" rIns="0" bIns="0" rtlCol="0" anchor="t"/>
          <a:lstStyle/>
          <a:p>
            <a:pPr marL="0" indent="0" algn="l">
              <a:lnSpc>
                <a:spcPct val="105000"/>
              </a:lnSpc>
              <a:buNone/>
            </a:pPr>
            <a:r>
              <a:rPr lang="en-US" sz="4400" b="1" dirty="0">
                <a:solidFill>
                  <a:srgbClr val="162034"/>
                </a:solidFill>
                <a:latin typeface="Fraunces" pitchFamily="34" charset="0"/>
                <a:ea typeface="Fraunces" pitchFamily="34" charset="-122"/>
                <a:cs typeface="Fraunces" pitchFamily="34" charset="-120"/>
              </a:rPr>
              <a:t>What we cannot do yet.</a:t>
            </a:r>
            <a:endParaRPr lang="en-US" sz="4400" dirty="0"/>
          </a:p>
        </p:txBody>
      </p:sp>
      <p:sp>
        <p:nvSpPr>
          <p:cNvPr id="4" name="accent rule">
            <a:extLst>
              <a:ext uri="{C183D7F6-B498-43B3-948B-1728B52AA6E4}">
                <adec:decorative xmlns:adec="http://schemas.microsoft.com/office/drawing/2017/decorative" val="1"/>
              </a:ext>
            </a:extLst>
          </p:cNvPr>
          <p:cNvSpPr/>
          <p:nvPr/>
        </p:nvSpPr>
        <p:spPr>
          <a:xfrm>
            <a:off x="777240" y="320040"/>
            <a:ext cx="1005840" cy="50292"/>
          </a:xfrm>
          <a:prstGeom prst="rect">
            <a:avLst/>
          </a:prstGeom>
          <a:solidFill>
            <a:srgbClr val="B08A3E"/>
          </a:solidFill>
          <a:ln/>
        </p:spPr>
        <p:txBody>
          <a:bodyPr/>
          <a:lstStyle/>
          <a:p>
            <a:endParaRPr lang="en-BD"/>
          </a:p>
        </p:txBody>
      </p:sp>
      <p:sp>
        <p:nvSpPr>
          <p:cNvPr id="5" name="Text 2"/>
          <p:cNvSpPr/>
          <p:nvPr/>
        </p:nvSpPr>
        <p:spPr>
          <a:xfrm>
            <a:off x="822960" y="1892808"/>
            <a:ext cx="685800" cy="457200"/>
          </a:xfrm>
          <a:prstGeom prst="rect">
            <a:avLst/>
          </a:prstGeom>
          <a:noFill/>
          <a:ln/>
        </p:spPr>
        <p:txBody>
          <a:bodyPr wrap="square" lIns="0" tIns="0" rIns="0" bIns="0" rtlCol="0" anchor="ctr"/>
          <a:lstStyle/>
          <a:p>
            <a:pPr marL="0" indent="0">
              <a:buNone/>
            </a:pPr>
            <a:r>
              <a:rPr lang="en-US" sz="1700" dirty="0">
                <a:solidFill>
                  <a:srgbClr val="9A9384"/>
                </a:solidFill>
                <a:latin typeface="IBM Plex Mono" pitchFamily="34" charset="0"/>
                <a:ea typeface="IBM Plex Mono" pitchFamily="34" charset="-122"/>
                <a:cs typeface="IBM Plex Mono" pitchFamily="34" charset="-120"/>
              </a:rPr>
              <a:t>01</a:t>
            </a:r>
            <a:endParaRPr lang="en-US" sz="1700" dirty="0"/>
          </a:p>
        </p:txBody>
      </p:sp>
      <p:sp>
        <p:nvSpPr>
          <p:cNvPr id="6" name="Text 3">
            <a:extLst>
              <a:ext uri="{C183D7F6-B498-43B3-948B-1728B52AA6E4}">
                <adec:decorative xmlns:adec="http://schemas.microsoft.com/office/drawing/2017/decorative" val="0"/>
              </a:ext>
            </a:extLst>
          </p:cNvPr>
          <p:cNvSpPr/>
          <p:nvPr/>
        </p:nvSpPr>
        <p:spPr>
          <a:xfrm>
            <a:off x="1691640" y="1874520"/>
            <a:ext cx="9601200" cy="731520"/>
          </a:xfrm>
          <a:prstGeom prst="rect">
            <a:avLst/>
          </a:prstGeom>
          <a:noFill/>
          <a:ln/>
        </p:spPr>
        <p:txBody>
          <a:bodyPr wrap="square" lIns="0" tIns="0" rIns="0" bIns="0" rtlCol="0" anchor="ctr"/>
          <a:lstStyle/>
          <a:p>
            <a:pPr marL="0" indent="0">
              <a:lnSpc>
                <a:spcPct val="115000"/>
              </a:lnSpc>
              <a:buNone/>
            </a:pPr>
            <a:r>
              <a:rPr lang="en-US" sz="1900" dirty="0">
                <a:solidFill>
                  <a:srgbClr val="162034"/>
                </a:solidFill>
                <a:latin typeface="Inter" pitchFamily="34" charset="0"/>
                <a:ea typeface="Inter" pitchFamily="34" charset="-122"/>
                <a:cs typeface="Inter" pitchFamily="34" charset="-120"/>
              </a:rPr>
              <a:t>Every result is a simulation on invented data. Not a measurement of any factory.</a:t>
            </a:r>
            <a:endParaRPr lang="en-US" sz="1900" dirty="0"/>
          </a:p>
        </p:txBody>
      </p:sp>
      <p:sp>
        <p:nvSpPr>
          <p:cNvPr id="7" name="Text 4"/>
          <p:cNvSpPr/>
          <p:nvPr/>
        </p:nvSpPr>
        <p:spPr>
          <a:xfrm>
            <a:off x="822960" y="2807208"/>
            <a:ext cx="685800" cy="457200"/>
          </a:xfrm>
          <a:prstGeom prst="rect">
            <a:avLst/>
          </a:prstGeom>
          <a:noFill/>
          <a:ln/>
        </p:spPr>
        <p:txBody>
          <a:bodyPr wrap="square" lIns="0" tIns="0" rIns="0" bIns="0" rtlCol="0" anchor="ctr"/>
          <a:lstStyle/>
          <a:p>
            <a:pPr marL="0" indent="0">
              <a:buNone/>
            </a:pPr>
            <a:r>
              <a:rPr lang="en-US" sz="1700" dirty="0">
                <a:solidFill>
                  <a:srgbClr val="9A9384"/>
                </a:solidFill>
                <a:latin typeface="IBM Plex Mono" pitchFamily="34" charset="0"/>
                <a:ea typeface="IBM Plex Mono" pitchFamily="34" charset="-122"/>
                <a:cs typeface="IBM Plex Mono" pitchFamily="34" charset="-120"/>
              </a:rPr>
              <a:t>02</a:t>
            </a:r>
            <a:endParaRPr lang="en-US" sz="1700" dirty="0"/>
          </a:p>
        </p:txBody>
      </p:sp>
      <p:sp>
        <p:nvSpPr>
          <p:cNvPr id="8" name="Text 5"/>
          <p:cNvSpPr/>
          <p:nvPr/>
        </p:nvSpPr>
        <p:spPr>
          <a:xfrm>
            <a:off x="1691640" y="2788920"/>
            <a:ext cx="9601200" cy="731520"/>
          </a:xfrm>
          <a:prstGeom prst="rect">
            <a:avLst/>
          </a:prstGeom>
          <a:noFill/>
          <a:ln/>
        </p:spPr>
        <p:txBody>
          <a:bodyPr wrap="square" lIns="0" tIns="0" rIns="0" bIns="0" rtlCol="0" anchor="ctr"/>
          <a:lstStyle/>
          <a:p>
            <a:pPr marL="0" indent="0">
              <a:lnSpc>
                <a:spcPct val="115000"/>
              </a:lnSpc>
              <a:buNone/>
            </a:pPr>
            <a:r>
              <a:rPr lang="en-US" sz="1900" dirty="0">
                <a:solidFill>
                  <a:srgbClr val="162034"/>
                </a:solidFill>
                <a:latin typeface="Inter" pitchFamily="34" charset="0"/>
                <a:ea typeface="Inter" pitchFamily="34" charset="-122"/>
                <a:cs typeface="Inter" pitchFamily="34" charset="-120"/>
              </a:rPr>
              <a:t>Our own benchmark cannot validate the learning claim: summaries alone matched the full system.</a:t>
            </a:r>
            <a:endParaRPr lang="en-US" sz="1900" dirty="0"/>
          </a:p>
        </p:txBody>
      </p:sp>
      <p:sp>
        <p:nvSpPr>
          <p:cNvPr id="9" name="Text 6"/>
          <p:cNvSpPr/>
          <p:nvPr/>
        </p:nvSpPr>
        <p:spPr>
          <a:xfrm>
            <a:off x="822960" y="3721608"/>
            <a:ext cx="685800" cy="457200"/>
          </a:xfrm>
          <a:prstGeom prst="rect">
            <a:avLst/>
          </a:prstGeom>
          <a:noFill/>
          <a:ln/>
        </p:spPr>
        <p:txBody>
          <a:bodyPr wrap="square" lIns="0" tIns="0" rIns="0" bIns="0" rtlCol="0" anchor="ctr"/>
          <a:lstStyle/>
          <a:p>
            <a:pPr marL="0" indent="0">
              <a:buNone/>
            </a:pPr>
            <a:r>
              <a:rPr lang="en-US" sz="1700" dirty="0">
                <a:solidFill>
                  <a:srgbClr val="9A9384"/>
                </a:solidFill>
                <a:latin typeface="IBM Plex Mono" pitchFamily="34" charset="0"/>
                <a:ea typeface="IBM Plex Mono" pitchFamily="34" charset="-122"/>
                <a:cs typeface="IBM Plex Mono" pitchFamily="34" charset="-120"/>
              </a:rPr>
              <a:t>03</a:t>
            </a:r>
            <a:endParaRPr lang="en-US" sz="1700" dirty="0"/>
          </a:p>
        </p:txBody>
      </p:sp>
      <p:sp>
        <p:nvSpPr>
          <p:cNvPr id="10" name="Text 7"/>
          <p:cNvSpPr/>
          <p:nvPr/>
        </p:nvSpPr>
        <p:spPr>
          <a:xfrm>
            <a:off x="1691640" y="3703320"/>
            <a:ext cx="9601200" cy="731520"/>
          </a:xfrm>
          <a:prstGeom prst="rect">
            <a:avLst/>
          </a:prstGeom>
          <a:noFill/>
          <a:ln/>
        </p:spPr>
        <p:txBody>
          <a:bodyPr wrap="square" lIns="0" tIns="0" rIns="0" bIns="0" rtlCol="0" anchor="ctr"/>
          <a:lstStyle/>
          <a:p>
            <a:pPr marL="0" indent="0">
              <a:lnSpc>
                <a:spcPct val="115000"/>
              </a:lnSpc>
              <a:buNone/>
            </a:pPr>
            <a:r>
              <a:rPr lang="en-US" sz="1900" dirty="0">
                <a:solidFill>
                  <a:srgbClr val="162034"/>
                </a:solidFill>
                <a:latin typeface="Inter" pitchFamily="34" charset="0"/>
                <a:ea typeface="Inter" pitchFamily="34" charset="-122"/>
                <a:cs typeface="Inter" pitchFamily="34" charset="-120"/>
              </a:rPr>
              <a:t>Our added noise is not differential privacy. No sensitivity bound, no budget.</a:t>
            </a:r>
            <a:endParaRPr lang="en-US" sz="1900" dirty="0"/>
          </a:p>
        </p:txBody>
      </p:sp>
      <p:sp>
        <p:nvSpPr>
          <p:cNvPr id="11" name="Text 8"/>
          <p:cNvSpPr/>
          <p:nvPr/>
        </p:nvSpPr>
        <p:spPr>
          <a:xfrm>
            <a:off x="822960" y="4636008"/>
            <a:ext cx="685800" cy="457200"/>
          </a:xfrm>
          <a:prstGeom prst="rect">
            <a:avLst/>
          </a:prstGeom>
          <a:noFill/>
          <a:ln/>
        </p:spPr>
        <p:txBody>
          <a:bodyPr wrap="square" lIns="0" tIns="0" rIns="0" bIns="0" rtlCol="0" anchor="ctr"/>
          <a:lstStyle/>
          <a:p>
            <a:pPr marL="0" indent="0">
              <a:buNone/>
            </a:pPr>
            <a:r>
              <a:rPr lang="en-US" sz="1700" dirty="0">
                <a:solidFill>
                  <a:srgbClr val="9A9384"/>
                </a:solidFill>
                <a:latin typeface="IBM Plex Mono" pitchFamily="34" charset="0"/>
                <a:ea typeface="IBM Plex Mono" pitchFamily="34" charset="-122"/>
                <a:cs typeface="IBM Plex Mono" pitchFamily="34" charset="-120"/>
              </a:rPr>
              <a:t>04</a:t>
            </a:r>
            <a:endParaRPr lang="en-US" sz="1700" dirty="0"/>
          </a:p>
        </p:txBody>
      </p:sp>
      <p:sp>
        <p:nvSpPr>
          <p:cNvPr id="12" name="Text 9"/>
          <p:cNvSpPr/>
          <p:nvPr/>
        </p:nvSpPr>
        <p:spPr>
          <a:xfrm>
            <a:off x="1691640" y="4617720"/>
            <a:ext cx="9601200" cy="731520"/>
          </a:xfrm>
          <a:prstGeom prst="rect">
            <a:avLst/>
          </a:prstGeom>
          <a:noFill/>
          <a:ln/>
        </p:spPr>
        <p:txBody>
          <a:bodyPr wrap="square" lIns="0" tIns="0" rIns="0" bIns="0" rtlCol="0" anchor="ctr"/>
          <a:lstStyle/>
          <a:p>
            <a:pPr marL="0" indent="0">
              <a:lnSpc>
                <a:spcPct val="115000"/>
              </a:lnSpc>
              <a:buNone/>
            </a:pPr>
            <a:r>
              <a:rPr lang="en-US" sz="1900" dirty="0">
                <a:solidFill>
                  <a:srgbClr val="162034"/>
                </a:solidFill>
                <a:latin typeface="Inter" pitchFamily="34" charset="0"/>
                <a:ea typeface="Inter" pitchFamily="34" charset="-122"/>
                <a:cs typeface="Inter" pitchFamily="34" charset="-120"/>
              </a:rPr>
              <a:t>Secure aggregation, robust averaging and contribution scoring cannot all three hold. We gave up the first.</a:t>
            </a:r>
            <a:endParaRPr lang="en-US" sz="1900" dirty="0"/>
          </a:p>
        </p:txBody>
      </p:sp>
      <p:sp>
        <p:nvSpPr>
          <p:cNvPr id="13" name="Text 10"/>
          <p:cNvSpPr/>
          <p:nvPr/>
        </p:nvSpPr>
        <p:spPr>
          <a:xfrm>
            <a:off x="822960" y="5550408"/>
            <a:ext cx="685800" cy="457200"/>
          </a:xfrm>
          <a:prstGeom prst="rect">
            <a:avLst/>
          </a:prstGeom>
          <a:noFill/>
          <a:ln/>
        </p:spPr>
        <p:txBody>
          <a:bodyPr wrap="square" lIns="0" tIns="0" rIns="0" bIns="0" rtlCol="0" anchor="ctr"/>
          <a:lstStyle/>
          <a:p>
            <a:pPr marL="0" indent="0">
              <a:buNone/>
            </a:pPr>
            <a:r>
              <a:rPr lang="en-US" sz="1700" dirty="0">
                <a:solidFill>
                  <a:srgbClr val="9A9384"/>
                </a:solidFill>
                <a:latin typeface="IBM Plex Mono" pitchFamily="34" charset="0"/>
                <a:ea typeface="IBM Plex Mono" pitchFamily="34" charset="-122"/>
                <a:cs typeface="IBM Plex Mono" pitchFamily="34" charset="-120"/>
              </a:rPr>
              <a:t>05</a:t>
            </a:r>
            <a:endParaRPr lang="en-US" sz="1700" dirty="0"/>
          </a:p>
        </p:txBody>
      </p:sp>
      <p:sp>
        <p:nvSpPr>
          <p:cNvPr id="14" name="Text 11"/>
          <p:cNvSpPr/>
          <p:nvPr/>
        </p:nvSpPr>
        <p:spPr>
          <a:xfrm>
            <a:off x="1691640" y="5532120"/>
            <a:ext cx="9601200" cy="731520"/>
          </a:xfrm>
          <a:prstGeom prst="rect">
            <a:avLst/>
          </a:prstGeom>
          <a:noFill/>
          <a:ln/>
        </p:spPr>
        <p:txBody>
          <a:bodyPr wrap="square" lIns="0" tIns="0" rIns="0" bIns="0" rtlCol="0" anchor="ctr"/>
          <a:lstStyle/>
          <a:p>
            <a:pPr marL="0" indent="0">
              <a:lnSpc>
                <a:spcPct val="115000"/>
              </a:lnSpc>
              <a:buNone/>
            </a:pPr>
            <a:r>
              <a:rPr lang="en-US" sz="1900" dirty="0">
                <a:solidFill>
                  <a:srgbClr val="162034"/>
                </a:solidFill>
                <a:latin typeface="Inter" pitchFamily="34" charset="0"/>
                <a:ea typeface="Inter" pitchFamily="34" charset="-122"/>
                <a:cs typeface="Inter" pitchFamily="34" charset="-120"/>
              </a:rPr>
              <a:t>A signed record of a false statement is still a correct record of a lie. Mitigated, not solved.</a:t>
            </a:r>
            <a:endParaRPr lang="en-US" sz="1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AE0"/>
        </a:solidFill>
        <a:effectLst/>
      </p:bgPr>
    </p:bg>
    <p:spTree>
      <p:nvGrpSpPr>
        <p:cNvPr id="1" name=""/>
        <p:cNvGrpSpPr/>
        <p:nvPr/>
      </p:nvGrpSpPr>
      <p:grpSpPr>
        <a:xfrm>
          <a:off x="0" y="0"/>
          <a:ext cx="0" cy="0"/>
          <a:chOff x="0" y="0"/>
          <a:chExt cx="0" cy="0"/>
        </a:xfrm>
      </p:grpSpPr>
      <p:sp>
        <p:nvSpPr>
          <p:cNvPr id="3" name="Text 0"/>
          <p:cNvSpPr/>
          <p:nvPr/>
        </p:nvSpPr>
        <p:spPr>
          <a:xfrm>
            <a:off x="777240" y="548640"/>
            <a:ext cx="8778240" cy="1097280"/>
          </a:xfrm>
          <a:prstGeom prst="rect">
            <a:avLst/>
          </a:prstGeom>
          <a:noFill/>
          <a:ln/>
        </p:spPr>
        <p:txBody>
          <a:bodyPr wrap="square" lIns="0" tIns="0" rIns="0" bIns="0" rtlCol="0" anchor="t"/>
          <a:lstStyle/>
          <a:p>
            <a:pPr marL="0" indent="0" algn="l">
              <a:lnSpc>
                <a:spcPct val="105000"/>
              </a:lnSpc>
              <a:buNone/>
            </a:pPr>
            <a:r>
              <a:rPr lang="en-US" sz="3800" b="1" dirty="0">
                <a:solidFill>
                  <a:srgbClr val="162034"/>
                </a:solidFill>
                <a:latin typeface="Fraunces" pitchFamily="34" charset="0"/>
                <a:ea typeface="Fraunces" pitchFamily="34" charset="-122"/>
                <a:cs typeface="Fraunces" pitchFamily="34" charset="-120"/>
              </a:rPr>
              <a:t>A pilot turns every simulated number into a measured one.</a:t>
            </a:r>
            <a:endParaRPr lang="en-US" sz="3800" dirty="0"/>
          </a:p>
        </p:txBody>
      </p:sp>
      <p:sp>
        <p:nvSpPr>
          <p:cNvPr id="4" name="accent rule">
            <a:extLst>
              <a:ext uri="{C183D7F6-B498-43B3-948B-1728B52AA6E4}">
                <adec:decorative xmlns:adec="http://schemas.microsoft.com/office/drawing/2017/decorative" val="1"/>
              </a:ext>
            </a:extLst>
          </p:cNvPr>
          <p:cNvSpPr/>
          <p:nvPr/>
        </p:nvSpPr>
        <p:spPr>
          <a:xfrm>
            <a:off x="777240" y="292608"/>
            <a:ext cx="1005840" cy="50292"/>
          </a:xfrm>
          <a:prstGeom prst="rect">
            <a:avLst/>
          </a:prstGeom>
          <a:solidFill>
            <a:srgbClr val="B08A3E"/>
          </a:solidFill>
          <a:ln/>
        </p:spPr>
        <p:txBody>
          <a:bodyPr/>
          <a:lstStyle/>
          <a:p>
            <a:endParaRPr lang="en-BD"/>
          </a:p>
        </p:txBody>
      </p:sp>
      <p:sp>
        <p:nvSpPr>
          <p:cNvPr id="5" name="phase track">
            <a:extLst>
              <a:ext uri="{C183D7F6-B498-43B3-948B-1728B52AA6E4}">
                <adec:decorative xmlns:adec="http://schemas.microsoft.com/office/drawing/2017/decorative" val="1"/>
              </a:ext>
            </a:extLst>
          </p:cNvPr>
          <p:cNvSpPr/>
          <p:nvPr/>
        </p:nvSpPr>
        <p:spPr>
          <a:xfrm>
            <a:off x="822960" y="2880360"/>
            <a:ext cx="10515600" cy="27432"/>
          </a:xfrm>
          <a:prstGeom prst="rect">
            <a:avLst/>
          </a:prstGeom>
          <a:solidFill>
            <a:srgbClr val="C3BCAC"/>
          </a:solidFill>
          <a:ln/>
        </p:spPr>
        <p:txBody>
          <a:bodyPr/>
          <a:lstStyle/>
          <a:p>
            <a:endParaRPr lang="en-BD"/>
          </a:p>
        </p:txBody>
      </p:sp>
      <p:sp>
        <p:nvSpPr>
          <p:cNvPr id="6" name="phase node">
            <a:extLst>
              <a:ext uri="{C183D7F6-B498-43B3-948B-1728B52AA6E4}">
                <adec:decorative xmlns:adec="http://schemas.microsoft.com/office/drawing/2017/decorative" val="1"/>
              </a:ext>
            </a:extLst>
          </p:cNvPr>
          <p:cNvSpPr/>
          <p:nvPr/>
        </p:nvSpPr>
        <p:spPr>
          <a:xfrm>
            <a:off x="676656" y="2747772"/>
            <a:ext cx="292608" cy="292608"/>
          </a:xfrm>
          <a:prstGeom prst="ellipse">
            <a:avLst/>
          </a:prstGeom>
          <a:solidFill>
            <a:srgbClr val="B08A3E"/>
          </a:solidFill>
          <a:ln/>
        </p:spPr>
        <p:txBody>
          <a:bodyPr/>
          <a:lstStyle/>
          <a:p>
            <a:endParaRPr lang="en-BD"/>
          </a:p>
        </p:txBody>
      </p:sp>
      <p:sp>
        <p:nvSpPr>
          <p:cNvPr id="7" name="Text 4"/>
          <p:cNvSpPr/>
          <p:nvPr/>
        </p:nvSpPr>
        <p:spPr>
          <a:xfrm>
            <a:off x="822960" y="2011680"/>
            <a:ext cx="3337560" cy="365760"/>
          </a:xfrm>
          <a:prstGeom prst="rect">
            <a:avLst/>
          </a:prstGeom>
          <a:noFill/>
          <a:ln/>
        </p:spPr>
        <p:txBody>
          <a:bodyPr wrap="square" lIns="0" tIns="0" rIns="0" bIns="0" rtlCol="0" anchor="ctr"/>
          <a:lstStyle/>
          <a:p>
            <a:pPr marL="0" indent="0">
              <a:buNone/>
            </a:pPr>
            <a:r>
              <a:rPr lang="en-US" sz="1300" kern="0" spc="200" dirty="0">
                <a:solidFill>
                  <a:srgbClr val="5A6377"/>
                </a:solidFill>
                <a:latin typeface="IBM Plex Mono" pitchFamily="34" charset="0"/>
                <a:ea typeface="IBM Plex Mono" pitchFamily="34" charset="-122"/>
                <a:cs typeface="IBM Plex Mono" pitchFamily="34" charset="-120"/>
              </a:rPr>
              <a:t>PHASE 1</a:t>
            </a:r>
            <a:endParaRPr lang="en-US" sz="1300" dirty="0"/>
          </a:p>
        </p:txBody>
      </p:sp>
      <p:sp>
        <p:nvSpPr>
          <p:cNvPr id="8" name="Text 5"/>
          <p:cNvSpPr/>
          <p:nvPr/>
        </p:nvSpPr>
        <p:spPr>
          <a:xfrm>
            <a:off x="822960" y="3264408"/>
            <a:ext cx="3337560" cy="914400"/>
          </a:xfrm>
          <a:prstGeom prst="rect">
            <a:avLst/>
          </a:prstGeom>
          <a:noFill/>
          <a:ln/>
        </p:spPr>
        <p:txBody>
          <a:bodyPr wrap="square" lIns="0" tIns="0" rIns="0" bIns="0" rtlCol="0" anchor="ctr"/>
          <a:lstStyle/>
          <a:p>
            <a:pPr marL="0" indent="0">
              <a:lnSpc>
                <a:spcPct val="110000"/>
              </a:lnSpc>
              <a:buNone/>
            </a:pPr>
            <a:r>
              <a:rPr lang="en-US" sz="2200" b="1" dirty="0">
                <a:solidFill>
                  <a:srgbClr val="162034"/>
                </a:solidFill>
                <a:latin typeface="Fraunces" pitchFamily="34" charset="0"/>
                <a:ea typeface="Fraunces" pitchFamily="34" charset="-122"/>
                <a:cs typeface="Fraunces" pitchFamily="34" charset="-120"/>
              </a:rPr>
              <a:t>Pilot with one factory</a:t>
            </a:r>
            <a:endParaRPr lang="en-US" sz="2200" dirty="0"/>
          </a:p>
          <a:p>
            <a:pPr marL="0" indent="0">
              <a:lnSpc>
                <a:spcPct val="110000"/>
              </a:lnSpc>
              <a:buNone/>
            </a:pPr>
            <a:r>
              <a:rPr lang="en-US" sz="2200" b="1" dirty="0">
                <a:solidFill>
                  <a:srgbClr val="162034"/>
                </a:solidFill>
                <a:latin typeface="Fraunces" pitchFamily="34" charset="0"/>
                <a:ea typeface="Fraunces" pitchFamily="34" charset="-122"/>
                <a:cs typeface="Fraunces" pitchFamily="34" charset="-120"/>
              </a:rPr>
              <a:t>under NDA</a:t>
            </a:r>
            <a:endParaRPr lang="en-US" sz="2200" dirty="0"/>
          </a:p>
        </p:txBody>
      </p:sp>
      <p:sp>
        <p:nvSpPr>
          <p:cNvPr id="9" name="Text 6"/>
          <p:cNvSpPr/>
          <p:nvPr/>
        </p:nvSpPr>
        <p:spPr>
          <a:xfrm>
            <a:off x="822960" y="4251960"/>
            <a:ext cx="3337560" cy="822960"/>
          </a:xfrm>
          <a:prstGeom prst="rect">
            <a:avLst/>
          </a:prstGeom>
          <a:noFill/>
          <a:ln/>
        </p:spPr>
        <p:txBody>
          <a:bodyPr wrap="square" lIns="0" tIns="0" rIns="0" bIns="0" rtlCol="0" anchor="ctr"/>
          <a:lstStyle/>
          <a:p>
            <a:pPr marL="0" indent="0">
              <a:buNone/>
            </a:pPr>
            <a:r>
              <a:rPr lang="en-US" sz="1600" dirty="0">
                <a:solidFill>
                  <a:srgbClr val="5A6377"/>
                </a:solidFill>
                <a:latin typeface="Inter" pitchFamily="34" charset="0"/>
                <a:ea typeface="Inter" pitchFamily="34" charset="-122"/>
                <a:cs typeface="Inter" pitchFamily="34" charset="-120"/>
              </a:rPr>
              <a:t>Real registers, real proofs, one buyer watching.</a:t>
            </a:r>
            <a:endParaRPr lang="en-US" sz="1600" dirty="0"/>
          </a:p>
        </p:txBody>
      </p:sp>
      <p:sp>
        <p:nvSpPr>
          <p:cNvPr id="10" name="phase node">
            <a:extLst>
              <a:ext uri="{C183D7F6-B498-43B3-948B-1728B52AA6E4}">
                <adec:decorative xmlns:adec="http://schemas.microsoft.com/office/drawing/2017/decorative" val="1"/>
              </a:ext>
            </a:extLst>
          </p:cNvPr>
          <p:cNvSpPr/>
          <p:nvPr/>
        </p:nvSpPr>
        <p:spPr>
          <a:xfrm>
            <a:off x="4398264" y="2747772"/>
            <a:ext cx="292608" cy="292608"/>
          </a:xfrm>
          <a:prstGeom prst="ellipse">
            <a:avLst/>
          </a:prstGeom>
          <a:solidFill>
            <a:srgbClr val="1E2A44"/>
          </a:solidFill>
          <a:ln/>
        </p:spPr>
        <p:txBody>
          <a:bodyPr/>
          <a:lstStyle/>
          <a:p>
            <a:endParaRPr lang="en-BD"/>
          </a:p>
        </p:txBody>
      </p:sp>
      <p:sp>
        <p:nvSpPr>
          <p:cNvPr id="11" name="Text 8"/>
          <p:cNvSpPr/>
          <p:nvPr/>
        </p:nvSpPr>
        <p:spPr>
          <a:xfrm>
            <a:off x="4544568" y="2011680"/>
            <a:ext cx="3337560" cy="365760"/>
          </a:xfrm>
          <a:prstGeom prst="rect">
            <a:avLst/>
          </a:prstGeom>
          <a:noFill/>
          <a:ln/>
        </p:spPr>
        <p:txBody>
          <a:bodyPr wrap="square" lIns="0" tIns="0" rIns="0" bIns="0" rtlCol="0" anchor="ctr"/>
          <a:lstStyle/>
          <a:p>
            <a:pPr marL="0" indent="0">
              <a:buNone/>
            </a:pPr>
            <a:r>
              <a:rPr lang="en-US" sz="1300" kern="0" spc="200" dirty="0">
                <a:solidFill>
                  <a:srgbClr val="5A6377"/>
                </a:solidFill>
                <a:latin typeface="IBM Plex Mono" pitchFamily="34" charset="0"/>
                <a:ea typeface="IBM Plex Mono" pitchFamily="34" charset="-122"/>
                <a:cs typeface="IBM Plex Mono" pitchFamily="34" charset="-120"/>
              </a:rPr>
              <a:t>PHASE 2</a:t>
            </a:r>
            <a:endParaRPr lang="en-US" sz="1300" dirty="0"/>
          </a:p>
        </p:txBody>
      </p:sp>
      <p:sp>
        <p:nvSpPr>
          <p:cNvPr id="12" name="Text 9"/>
          <p:cNvSpPr/>
          <p:nvPr/>
        </p:nvSpPr>
        <p:spPr>
          <a:xfrm>
            <a:off x="4544568" y="3264408"/>
            <a:ext cx="3337560" cy="914400"/>
          </a:xfrm>
          <a:prstGeom prst="rect">
            <a:avLst/>
          </a:prstGeom>
          <a:noFill/>
          <a:ln/>
        </p:spPr>
        <p:txBody>
          <a:bodyPr wrap="square" lIns="0" tIns="0" rIns="0" bIns="0" rtlCol="0" anchor="ctr"/>
          <a:lstStyle/>
          <a:p>
            <a:pPr marL="0" indent="0">
              <a:lnSpc>
                <a:spcPct val="110000"/>
              </a:lnSpc>
              <a:buNone/>
            </a:pPr>
            <a:r>
              <a:rPr lang="en-US" sz="2200" b="1" dirty="0">
                <a:solidFill>
                  <a:srgbClr val="162034"/>
                </a:solidFill>
                <a:latin typeface="Fraunces" pitchFamily="34" charset="0"/>
                <a:ea typeface="Fraunces" pitchFamily="34" charset="-122"/>
                <a:cs typeface="Fraunces" pitchFamily="34" charset="-120"/>
              </a:rPr>
              <a:t>Extend to a buyer</a:t>
            </a:r>
            <a:endParaRPr lang="en-US" sz="2200" dirty="0"/>
          </a:p>
          <a:p>
            <a:pPr marL="0" indent="0">
              <a:lnSpc>
                <a:spcPct val="110000"/>
              </a:lnSpc>
              <a:buNone/>
            </a:pPr>
            <a:r>
              <a:rPr lang="en-US" sz="2200" b="1" dirty="0">
                <a:solidFill>
                  <a:srgbClr val="162034"/>
                </a:solidFill>
                <a:latin typeface="Fraunces" pitchFamily="34" charset="0"/>
                <a:ea typeface="Fraunces" pitchFamily="34" charset="-122"/>
                <a:cs typeface="Fraunces" pitchFamily="34" charset="-120"/>
              </a:rPr>
              <a:t>and an auditor</a:t>
            </a:r>
            <a:endParaRPr lang="en-US" sz="2200" dirty="0"/>
          </a:p>
        </p:txBody>
      </p:sp>
      <p:sp>
        <p:nvSpPr>
          <p:cNvPr id="13" name="Text 10"/>
          <p:cNvSpPr/>
          <p:nvPr/>
        </p:nvSpPr>
        <p:spPr>
          <a:xfrm>
            <a:off x="4544568" y="4251960"/>
            <a:ext cx="3337560" cy="822960"/>
          </a:xfrm>
          <a:prstGeom prst="rect">
            <a:avLst/>
          </a:prstGeom>
          <a:noFill/>
          <a:ln/>
        </p:spPr>
        <p:txBody>
          <a:bodyPr wrap="square" lIns="0" tIns="0" rIns="0" bIns="0" rtlCol="0" anchor="ctr"/>
          <a:lstStyle/>
          <a:p>
            <a:pPr marL="0" indent="0">
              <a:buNone/>
            </a:pPr>
            <a:r>
              <a:rPr lang="en-US" sz="1600" dirty="0">
                <a:solidFill>
                  <a:srgbClr val="5A6377"/>
                </a:solidFill>
                <a:latin typeface="Inter" pitchFamily="34" charset="0"/>
                <a:ea typeface="Inter" pitchFamily="34" charset="-122"/>
                <a:cs typeface="Inter" pitchFamily="34" charset="-120"/>
              </a:rPr>
              <a:t>Three organisations endorsing, not one.</a:t>
            </a:r>
            <a:endParaRPr lang="en-US" sz="1600" dirty="0"/>
          </a:p>
        </p:txBody>
      </p:sp>
      <p:sp>
        <p:nvSpPr>
          <p:cNvPr id="14" name="phase node">
            <a:extLst>
              <a:ext uri="{C183D7F6-B498-43B3-948B-1728B52AA6E4}">
                <adec:decorative xmlns:adec="http://schemas.microsoft.com/office/drawing/2017/decorative" val="1"/>
              </a:ext>
            </a:extLst>
          </p:cNvPr>
          <p:cNvSpPr/>
          <p:nvPr/>
        </p:nvSpPr>
        <p:spPr>
          <a:xfrm>
            <a:off x="8119872" y="2747772"/>
            <a:ext cx="292608" cy="292608"/>
          </a:xfrm>
          <a:prstGeom prst="ellipse">
            <a:avLst/>
          </a:prstGeom>
          <a:solidFill>
            <a:srgbClr val="1E2A44"/>
          </a:solidFill>
          <a:ln/>
        </p:spPr>
        <p:txBody>
          <a:bodyPr/>
          <a:lstStyle/>
          <a:p>
            <a:endParaRPr lang="en-BD"/>
          </a:p>
        </p:txBody>
      </p:sp>
      <p:sp>
        <p:nvSpPr>
          <p:cNvPr id="15" name="Text 12"/>
          <p:cNvSpPr/>
          <p:nvPr/>
        </p:nvSpPr>
        <p:spPr>
          <a:xfrm>
            <a:off x="8266176" y="2011680"/>
            <a:ext cx="3337560" cy="365760"/>
          </a:xfrm>
          <a:prstGeom prst="rect">
            <a:avLst/>
          </a:prstGeom>
          <a:noFill/>
          <a:ln/>
        </p:spPr>
        <p:txBody>
          <a:bodyPr wrap="square" lIns="0" tIns="0" rIns="0" bIns="0" rtlCol="0" anchor="ctr"/>
          <a:lstStyle/>
          <a:p>
            <a:pPr marL="0" indent="0">
              <a:buNone/>
            </a:pPr>
            <a:r>
              <a:rPr lang="en-US" sz="1300" kern="0" spc="200" dirty="0">
                <a:solidFill>
                  <a:srgbClr val="5A6377"/>
                </a:solidFill>
                <a:latin typeface="IBM Plex Mono" pitchFamily="34" charset="0"/>
                <a:ea typeface="IBM Plex Mono" pitchFamily="34" charset="-122"/>
                <a:cs typeface="IBM Plex Mono" pitchFamily="34" charset="-120"/>
              </a:rPr>
              <a:t>PHASE 3</a:t>
            </a:r>
            <a:endParaRPr lang="en-US" sz="1300" dirty="0"/>
          </a:p>
        </p:txBody>
      </p:sp>
      <p:sp>
        <p:nvSpPr>
          <p:cNvPr id="16" name="Text 13"/>
          <p:cNvSpPr/>
          <p:nvPr/>
        </p:nvSpPr>
        <p:spPr>
          <a:xfrm>
            <a:off x="8266176" y="3264408"/>
            <a:ext cx="3337560" cy="914400"/>
          </a:xfrm>
          <a:prstGeom prst="rect">
            <a:avLst/>
          </a:prstGeom>
          <a:noFill/>
          <a:ln/>
        </p:spPr>
        <p:txBody>
          <a:bodyPr wrap="square" lIns="0" tIns="0" rIns="0" bIns="0" rtlCol="0" anchor="ctr"/>
          <a:lstStyle/>
          <a:p>
            <a:pPr marL="0" indent="0">
              <a:lnSpc>
                <a:spcPct val="110000"/>
              </a:lnSpc>
              <a:buNone/>
            </a:pPr>
            <a:r>
              <a:rPr lang="en-US" sz="2200" b="1" dirty="0">
                <a:solidFill>
                  <a:srgbClr val="162034"/>
                </a:solidFill>
                <a:latin typeface="Fraunces" pitchFamily="34" charset="0"/>
                <a:ea typeface="Fraunces" pitchFamily="34" charset="-122"/>
                <a:cs typeface="Fraunces" pitchFamily="34" charset="-120"/>
              </a:rPr>
              <a:t>Consortium governance</a:t>
            </a:r>
            <a:endParaRPr lang="en-US" sz="2200" dirty="0"/>
          </a:p>
          <a:p>
            <a:pPr marL="0" indent="0">
              <a:lnSpc>
                <a:spcPct val="110000"/>
              </a:lnSpc>
              <a:buNone/>
            </a:pPr>
            <a:r>
              <a:rPr lang="en-US" sz="2200" b="1" dirty="0">
                <a:solidFill>
                  <a:srgbClr val="162034"/>
                </a:solidFill>
                <a:latin typeface="Fraunces" pitchFamily="34" charset="0"/>
                <a:ea typeface="Fraunces" pitchFamily="34" charset="-122"/>
                <a:cs typeface="Fraunces" pitchFamily="34" charset="-120"/>
              </a:rPr>
              <a:t>with BGMEA</a:t>
            </a:r>
            <a:endParaRPr lang="en-US" sz="2200" dirty="0"/>
          </a:p>
        </p:txBody>
      </p:sp>
      <p:sp>
        <p:nvSpPr>
          <p:cNvPr id="17" name="Text 14"/>
          <p:cNvSpPr/>
          <p:nvPr/>
        </p:nvSpPr>
        <p:spPr>
          <a:xfrm>
            <a:off x="8266176" y="4251960"/>
            <a:ext cx="3337560" cy="822960"/>
          </a:xfrm>
          <a:prstGeom prst="rect">
            <a:avLst/>
          </a:prstGeom>
          <a:noFill/>
          <a:ln/>
        </p:spPr>
        <p:txBody>
          <a:bodyPr wrap="square" lIns="0" tIns="0" rIns="0" bIns="0" rtlCol="0" anchor="ctr"/>
          <a:lstStyle/>
          <a:p>
            <a:pPr marL="0" indent="0">
              <a:buNone/>
            </a:pPr>
            <a:r>
              <a:rPr lang="en-US" sz="1600" dirty="0">
                <a:solidFill>
                  <a:srgbClr val="5A6377"/>
                </a:solidFill>
                <a:latin typeface="Inter" pitchFamily="34" charset="0"/>
                <a:ea typeface="Inter" pitchFamily="34" charset="-122"/>
                <a:cs typeface="Inter" pitchFamily="34" charset="-120"/>
              </a:rPr>
              <a:t>The gate becomes an industry rule.</a:t>
            </a:r>
            <a:endParaRPr lang="en-US" sz="1600" dirty="0"/>
          </a:p>
        </p:txBody>
      </p:sp>
      <p:sp>
        <p:nvSpPr>
          <p:cNvPr id="18" name="progress rule">
            <a:extLst>
              <a:ext uri="{C183D7F6-B498-43B3-948B-1728B52AA6E4}">
                <adec:decorative xmlns:adec="http://schemas.microsoft.com/office/drawing/2017/decorative" val="1"/>
              </a:ext>
            </a:extLst>
          </p:cNvPr>
          <p:cNvSpPr/>
          <p:nvPr/>
        </p:nvSpPr>
        <p:spPr>
          <a:xfrm>
            <a:off x="822960" y="3081528"/>
            <a:ext cx="3337560" cy="54864"/>
          </a:xfrm>
          <a:prstGeom prst="rect">
            <a:avLst/>
          </a:prstGeom>
          <a:solidFill>
            <a:srgbClr val="B08A3E"/>
          </a:solidFill>
          <a:ln/>
        </p:spPr>
        <p:txBody>
          <a:bodyPr/>
          <a:lstStyle/>
          <a:p>
            <a:endParaRPr lang="en-BD"/>
          </a:p>
        </p:txBody>
      </p:sp>
      <p:sp>
        <p:nvSpPr>
          <p:cNvPr id="19" name="Text 16"/>
          <p:cNvSpPr/>
          <p:nvPr/>
        </p:nvSpPr>
        <p:spPr>
          <a:xfrm>
            <a:off x="822960" y="5943600"/>
            <a:ext cx="10515600" cy="411480"/>
          </a:xfrm>
          <a:prstGeom prst="rect">
            <a:avLst/>
          </a:prstGeom>
          <a:noFill/>
          <a:ln/>
        </p:spPr>
        <p:txBody>
          <a:bodyPr wrap="square" lIns="0" tIns="0" rIns="0" bIns="0" rtlCol="0" anchor="ctr"/>
          <a:lstStyle/>
          <a:p>
            <a:pPr marL="0" indent="0">
              <a:buNone/>
            </a:pPr>
            <a:r>
              <a:rPr lang="en-US" sz="1600" dirty="0">
                <a:solidFill>
                  <a:srgbClr val="5A6377"/>
                </a:solidFill>
                <a:latin typeface="Inter" pitchFamily="34" charset="0"/>
                <a:ea typeface="Inter" pitchFamily="34" charset="-122"/>
                <a:cs typeface="Inter" pitchFamily="34" charset="-120"/>
              </a:rPr>
              <a:t>Costs are list prices, not measured operating costs.</a:t>
            </a:r>
            <a:endParaRPr lang="en-US" sz="16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A44"/>
        </a:solidFill>
        <a:effectLst/>
      </p:bgPr>
    </p:bg>
    <p:spTree>
      <p:nvGrpSpPr>
        <p:cNvPr id="1" name=""/>
        <p:cNvGrpSpPr/>
        <p:nvPr/>
      </p:nvGrpSpPr>
      <p:grpSpPr>
        <a:xfrm>
          <a:off x="0" y="0"/>
          <a:ext cx="0" cy="0"/>
          <a:chOff x="0" y="0"/>
          <a:chExt cx="0" cy="0"/>
        </a:xfrm>
      </p:grpSpPr>
      <p:pic>
        <p:nvPicPr>
          <p:cNvPr id="3" name="Image 0" descr="Macro of a brass character grid resolving back into woven textile threads"/>
          <p:cNvPicPr>
            <a:picLocks noChangeAspect="1"/>
          </p:cNvPicPr>
          <p:nvPr/>
        </p:nvPicPr>
        <p:blipFill>
          <a:blip r:embed="rId3"/>
          <a:srcRect t="25" b="25"/>
          <a:stretch/>
        </p:blipFill>
        <p:spPr>
          <a:xfrm>
            <a:off x="0" y="0"/>
            <a:ext cx="12191695" cy="6858000"/>
          </a:xfrm>
          <a:prstGeom prst="rect">
            <a:avLst/>
          </a:prstGeom>
        </p:spPr>
      </p:pic>
      <p:sp>
        <p:nvSpPr>
          <p:cNvPr id="4" name="scrim">
            <a:extLst>
              <a:ext uri="{C183D7F6-B498-43B3-948B-1728B52AA6E4}">
                <adec:decorative xmlns:adec="http://schemas.microsoft.com/office/drawing/2017/decorative" val="1"/>
              </a:ext>
            </a:extLst>
          </p:cNvPr>
          <p:cNvSpPr/>
          <p:nvPr/>
        </p:nvSpPr>
        <p:spPr>
          <a:xfrm>
            <a:off x="0" y="0"/>
            <a:ext cx="12191695" cy="6858000"/>
          </a:xfrm>
          <a:prstGeom prst="rect">
            <a:avLst/>
          </a:prstGeom>
          <a:solidFill>
            <a:srgbClr val="1E2A44">
              <a:alpha val="68000"/>
            </a:srgbClr>
          </a:solidFill>
          <a:ln/>
        </p:spPr>
        <p:txBody>
          <a:bodyPr/>
          <a:lstStyle/>
          <a:p>
            <a:endParaRPr lang="en-BD"/>
          </a:p>
        </p:txBody>
      </p:sp>
      <p:sp>
        <p:nvSpPr>
          <p:cNvPr id="5" name="Text 1"/>
          <p:cNvSpPr/>
          <p:nvPr/>
        </p:nvSpPr>
        <p:spPr>
          <a:xfrm>
            <a:off x="1097280" y="2651760"/>
            <a:ext cx="9966960" cy="1463040"/>
          </a:xfrm>
          <a:prstGeom prst="rect">
            <a:avLst/>
          </a:prstGeom>
          <a:noFill/>
          <a:ln/>
        </p:spPr>
        <p:txBody>
          <a:bodyPr wrap="square" lIns="0" tIns="0" rIns="0" bIns="0" rtlCol="0" anchor="ctr"/>
          <a:lstStyle/>
          <a:p>
            <a:pPr marL="0" indent="0" algn="ctr">
              <a:buNone/>
            </a:pPr>
            <a:r>
              <a:rPr lang="en-US" sz="4600" b="1" dirty="0">
                <a:solidFill>
                  <a:srgbClr val="EDEAE0"/>
                </a:solidFill>
                <a:latin typeface="Fraunces" pitchFamily="34" charset="0"/>
                <a:ea typeface="Fraunces" pitchFamily="34" charset="-122"/>
                <a:cs typeface="Fraunces" pitchFamily="34" charset="-120"/>
              </a:rPr>
              <a:t>Prove one line. Reveal nothing else.</a:t>
            </a:r>
            <a:endParaRPr lang="en-US" sz="4600" dirty="0"/>
          </a:p>
        </p:txBody>
      </p:sp>
      <p:sp>
        <p:nvSpPr>
          <p:cNvPr id="6" name="accent rule">
            <a:extLst>
              <a:ext uri="{C183D7F6-B498-43B3-948B-1728B52AA6E4}">
                <adec:decorative xmlns:adec="http://schemas.microsoft.com/office/drawing/2017/decorative" val="1"/>
              </a:ext>
            </a:extLst>
          </p:cNvPr>
          <p:cNvSpPr/>
          <p:nvPr/>
        </p:nvSpPr>
        <p:spPr>
          <a:xfrm>
            <a:off x="5815584" y="3977640"/>
            <a:ext cx="548640" cy="45720"/>
          </a:xfrm>
          <a:prstGeom prst="rect">
            <a:avLst/>
          </a:prstGeom>
          <a:solidFill>
            <a:srgbClr val="B08A3E"/>
          </a:solidFill>
          <a:ln/>
        </p:spPr>
        <p:txBody>
          <a:bodyPr/>
          <a:lstStyle/>
          <a:p>
            <a:endParaRPr lang="en-BD"/>
          </a:p>
        </p:txBody>
      </p:sp>
      <p:sp>
        <p:nvSpPr>
          <p:cNvPr id="7" name="Text 3"/>
          <p:cNvSpPr/>
          <p:nvPr/>
        </p:nvSpPr>
        <p:spPr>
          <a:xfrm>
            <a:off x="1097280" y="4434840"/>
            <a:ext cx="9966960" cy="457200"/>
          </a:xfrm>
          <a:prstGeom prst="rect">
            <a:avLst/>
          </a:prstGeom>
          <a:noFill/>
          <a:ln/>
        </p:spPr>
        <p:txBody>
          <a:bodyPr wrap="square" lIns="0" tIns="0" rIns="0" bIns="0" rtlCol="0" anchor="ctr"/>
          <a:lstStyle/>
          <a:p>
            <a:pPr marL="0" indent="0" algn="ctr">
              <a:buNone/>
            </a:pPr>
            <a:r>
              <a:rPr lang="en-US" sz="1800" dirty="0">
                <a:solidFill>
                  <a:srgbClr val="C6CCDA"/>
                </a:solidFill>
                <a:latin typeface="IBM Plex Mono" pitchFamily="34" charset="0"/>
                <a:ea typeface="IBM Plex Mono" pitchFamily="34" charset="-122"/>
                <a:cs typeface="IBM Plex Mono" pitchFamily="34" charset="-120"/>
              </a:rPr>
              <a:t>github.com/cookiemonsters/breadcrumbs  ·  Team CookieMonsters</a:t>
            </a:r>
            <a:endParaRPr lang="en-US" sz="18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2395</Words>
  <Application>Microsoft Macintosh PowerPoint</Application>
  <PresentationFormat>Widescreen</PresentationFormat>
  <Paragraphs>313</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Fraunces</vt:lpstr>
      <vt:lpstr>IBM Plex Mono</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Ahbab Hamid Khan</dc:creator>
  <cp:lastModifiedBy>Md Ahbab Hamid Khan</cp:lastModifiedBy>
  <cp:revision>2</cp:revision>
  <dcterms:created xsi:type="dcterms:W3CDTF">2026-08-31T01:21:47Z</dcterms:created>
  <dcterms:modified xsi:type="dcterms:W3CDTF">2026-08-31T02:59:13Z</dcterms:modified>
</cp:coreProperties>
</file>